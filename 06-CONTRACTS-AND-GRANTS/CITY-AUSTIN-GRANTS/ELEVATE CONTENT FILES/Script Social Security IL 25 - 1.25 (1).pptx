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5" r:id="rId4"/>
    <p:sldMasterId id="2147483794" r:id="rId5"/>
  </p:sldMasterIdLst>
  <p:notesMasterIdLst>
    <p:notesMasterId r:id="rId35"/>
  </p:notesMasterIdLst>
  <p:handoutMasterIdLst>
    <p:handoutMasterId r:id="rId36"/>
  </p:handoutMasterIdLst>
  <p:sldIdLst>
    <p:sldId id="603" r:id="rId6"/>
    <p:sldId id="597" r:id="rId7"/>
    <p:sldId id="602" r:id="rId8"/>
    <p:sldId id="539" r:id="rId9"/>
    <p:sldId id="559" r:id="rId10"/>
    <p:sldId id="562" r:id="rId11"/>
    <p:sldId id="565" r:id="rId12"/>
    <p:sldId id="612" r:id="rId13"/>
    <p:sldId id="542" r:id="rId14"/>
    <p:sldId id="572" r:id="rId15"/>
    <p:sldId id="638" r:id="rId16"/>
    <p:sldId id="633" r:id="rId17"/>
    <p:sldId id="648" r:id="rId18"/>
    <p:sldId id="635" r:id="rId19"/>
    <p:sldId id="618" r:id="rId20"/>
    <p:sldId id="620" r:id="rId21"/>
    <p:sldId id="649" r:id="rId22"/>
    <p:sldId id="650" r:id="rId23"/>
    <p:sldId id="624" r:id="rId24"/>
    <p:sldId id="625" r:id="rId25"/>
    <p:sldId id="639" r:id="rId26"/>
    <p:sldId id="636" r:id="rId27"/>
    <p:sldId id="640" r:id="rId28"/>
    <p:sldId id="652" r:id="rId29"/>
    <p:sldId id="627" r:id="rId30"/>
    <p:sldId id="651" r:id="rId31"/>
    <p:sldId id="549" r:id="rId32"/>
    <p:sldId id="653" r:id="rId33"/>
    <p:sldId id="654" r:id="rId34"/>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E38F1F-BF2F-1CD0-DEAA-20814E64CFCC}" name="Tayek, Douglas" initials="TD" userId="S::dtayek@aarp.org::5cbfac2a-ed40-46e3-9251-d842389232a6" providerId="AD"/>
  <p188:author id="{FFA2E6D4-DC1F-3F63-F474-0716D013C62E}" name="Tayek, Douglas" initials="DT" userId="S::DTayek@aarp.org::5cbfac2a-ed40-46e3-9251-d842389232a6" providerId="AD"/>
  <p188:author id="{502484D5-F4D8-6DE9-D64B-DD791B117087}" name="Washburn, Kyle" initials="WK" userId="S::kwashburn@aarp.org::b7f3ff9b-c7f3-4907-8ba5-40176dffc6bd" providerId="AD"/>
  <p188:author id="{33A579D7-49EB-F8F8-6EA6-E978B7FE4B52}" name="Kim van Brecht" initials="KB" userId="S::kimossi_gmail.com#ext#@aarpsharex.onmicrosoft.com::017d1f7e-f8ac-4fc4-a3de-993fc92934bd" providerId="AD"/>
  <p188:author id="{D04390DC-70E2-7387-C7D6-A7F357DFAA47}" name="Beth McCabe" initials="" userId="S::Beth.McCabe@flcc.edu::9e315467-0330-41b7-bb83-38c461fcfbcc" providerId="AD"/>
  <p188:author id="{BFB47AED-2637-C3E2-0D62-68856E0A1047}" name="Mary Katherine Snow" initials="MS" userId="S::msnow@golivetech.com::aa13347a-ee85-42b8-98f4-1b180a92dd2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underson-Palmer, Joan" initials="GJ" lastIdx="46" clrIdx="0">
    <p:extLst>
      <p:ext uri="{19B8F6BF-5375-455C-9EA6-DF929625EA0E}">
        <p15:presenceInfo xmlns:p15="http://schemas.microsoft.com/office/powerpoint/2012/main" userId="S-1-5-21-56041125-374418636-165574623-1723645" providerId="AD"/>
      </p:ext>
    </p:extLst>
  </p:cmAuthor>
  <p:cmAuthor id="2" name="Dyan Trent" initials="DT" lastIdx="16" clrIdx="1">
    <p:extLst>
      <p:ext uri="{19B8F6BF-5375-455C-9EA6-DF929625EA0E}">
        <p15:presenceInfo xmlns:p15="http://schemas.microsoft.com/office/powerpoint/2012/main" userId="fea48ceafd2c95a4" providerId="Windows Live"/>
      </p:ext>
    </p:extLst>
  </p:cmAuthor>
  <p:cmAuthor id="3" name="Stokes, Kathy" initials="SK" lastIdx="11" clrIdx="2">
    <p:extLst>
      <p:ext uri="{19B8F6BF-5375-455C-9EA6-DF929625EA0E}">
        <p15:presenceInfo xmlns:p15="http://schemas.microsoft.com/office/powerpoint/2012/main" userId="S::kstokes@aarp.org::e200d6d0-6eb6-421c-a4d4-2c3b21ccb815" providerId="AD"/>
      </p:ext>
    </p:extLst>
  </p:cmAuthor>
  <p:cmAuthor id="4" name="Gunderson-Palmer, Joan" initials="GPJ" lastIdx="7" clrIdx="3">
    <p:extLst>
      <p:ext uri="{19B8F6BF-5375-455C-9EA6-DF929625EA0E}">
        <p15:presenceInfo xmlns:p15="http://schemas.microsoft.com/office/powerpoint/2012/main" userId="S::jgunderson-palmer@aarp.org::abe204a5-810e-44ed-a9cc-3c82e15d11a9" providerId="AD"/>
      </p:ext>
    </p:extLst>
  </p:cmAuthor>
  <p:cmAuthor id="5" name="Carolina Filippi" initials="CF" lastIdx="46" clrIdx="4">
    <p:extLst>
      <p:ext uri="{19B8F6BF-5375-455C-9EA6-DF929625EA0E}">
        <p15:presenceInfo xmlns:p15="http://schemas.microsoft.com/office/powerpoint/2012/main" userId="S::cfilippi@liveteched.com::23b143ce-340e-48b5-9acb-23a40750d8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0000"/>
    <a:srgbClr val="DADADA"/>
    <a:srgbClr val="EC1300"/>
    <a:srgbClr val="F75D59"/>
    <a:srgbClr val="FFC5C0"/>
    <a:srgbClr val="D52B1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720E8-609E-47CD-9131-7412A276CA8F}" v="1" dt="2024-12-09T21:44:40.8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54422"/>
  </p:normalViewPr>
  <p:slideViewPr>
    <p:cSldViewPr snapToGrid="0">
      <p:cViewPr varScale="1">
        <p:scale>
          <a:sx n="45" d="100"/>
          <a:sy n="45" d="100"/>
        </p:scale>
        <p:origin x="1296" y="44"/>
      </p:cViewPr>
      <p:guideLst>
        <p:guide orient="horz" pos="1620"/>
        <p:guide pos="2880"/>
      </p:guideLst>
    </p:cSldViewPr>
  </p:slideViewPr>
  <p:notesTextViewPr>
    <p:cViewPr>
      <p:scale>
        <a:sx n="1" d="1"/>
        <a:sy n="1" d="1"/>
      </p:scale>
      <p:origin x="0" y="-388"/>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Monthly Benefit Amounts Differ Based on the Age You Decide to Start Receiving Benefits</c:v>
                </c:pt>
              </c:strCache>
            </c:strRef>
          </c:tx>
          <c:spPr>
            <a:effectLst>
              <a:outerShdw blurRad="101600" dist="571500" dir="10560000" sx="111000" sy="111000" algn="r" rotWithShape="0">
                <a:prstClr val="black">
                  <a:alpha val="27000"/>
                </a:prstClr>
              </a:outerShdw>
            </a:effectLst>
          </c:spPr>
          <c:invertIfNegative val="0"/>
          <c:dPt>
            <c:idx val="0"/>
            <c:invertIfNegative val="0"/>
            <c:bubble3D val="0"/>
            <c:spPr>
              <a:solidFill>
                <a:schemeClr val="accent3"/>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1-E278-7549-AA24-38BE9EC54C95}"/>
              </c:ext>
            </c:extLst>
          </c:dPt>
          <c:dPt>
            <c:idx val="1"/>
            <c:invertIfNegative val="0"/>
            <c:bubble3D val="0"/>
            <c:spPr>
              <a:solidFill>
                <a:schemeClr val="accent3"/>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3-E278-7549-AA24-38BE9EC54C95}"/>
              </c:ext>
            </c:extLst>
          </c:dPt>
          <c:dPt>
            <c:idx val="2"/>
            <c:invertIfNegative val="0"/>
            <c:bubble3D val="0"/>
            <c:spPr>
              <a:solidFill>
                <a:schemeClr val="accent3"/>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5-E278-7549-AA24-38BE9EC54C95}"/>
              </c:ext>
            </c:extLst>
          </c:dPt>
          <c:dPt>
            <c:idx val="3"/>
            <c:invertIfNegative val="0"/>
            <c:bubble3D val="0"/>
            <c:spPr>
              <a:solidFill>
                <a:schemeClr val="accent3"/>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7-E278-7549-AA24-38BE9EC54C95}"/>
              </c:ext>
            </c:extLst>
          </c:dPt>
          <c:dPt>
            <c:idx val="4"/>
            <c:invertIfNegative val="0"/>
            <c:bubble3D val="0"/>
            <c:spPr>
              <a:solidFill>
                <a:schemeClr val="accent1"/>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9-E278-7549-AA24-38BE9EC54C95}"/>
              </c:ext>
            </c:extLst>
          </c:dPt>
          <c:dPt>
            <c:idx val="5"/>
            <c:invertIfNegative val="0"/>
            <c:bubble3D val="0"/>
            <c:spPr>
              <a:solidFill>
                <a:schemeClr val="accent2"/>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B-E278-7549-AA24-38BE9EC54C95}"/>
              </c:ext>
            </c:extLst>
          </c:dPt>
          <c:dPt>
            <c:idx val="6"/>
            <c:invertIfNegative val="0"/>
            <c:bubble3D val="0"/>
            <c:spPr>
              <a:solidFill>
                <a:schemeClr val="accent2"/>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D-E278-7549-AA24-38BE9EC54C95}"/>
              </c:ext>
            </c:extLst>
          </c:dPt>
          <c:dPt>
            <c:idx val="7"/>
            <c:invertIfNegative val="0"/>
            <c:bubble3D val="0"/>
            <c:spPr>
              <a:solidFill>
                <a:schemeClr val="accent2"/>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0F-E278-7549-AA24-38BE9EC54C95}"/>
              </c:ext>
            </c:extLst>
          </c:dPt>
          <c:dPt>
            <c:idx val="8"/>
            <c:invertIfNegative val="0"/>
            <c:bubble3D val="0"/>
            <c:spPr>
              <a:solidFill>
                <a:schemeClr val="accent2"/>
              </a:solidFill>
              <a:effectLst>
                <a:outerShdw blurRad="101600" dist="571500" dir="10560000" sx="111000" sy="111000" algn="r" rotWithShape="0">
                  <a:prstClr val="black">
                    <a:alpha val="27000"/>
                  </a:prstClr>
                </a:outerShdw>
              </a:effectLst>
            </c:spPr>
            <c:extLst>
              <c:ext xmlns:c16="http://schemas.microsoft.com/office/drawing/2014/chart" uri="{C3380CC4-5D6E-409C-BE32-E72D297353CC}">
                <c16:uniqueId val="{00000011-E278-7549-AA24-38BE9EC54C95}"/>
              </c:ext>
            </c:extLst>
          </c:dPt>
          <c:dLbls>
            <c:dLbl>
              <c:idx val="0"/>
              <c:layout>
                <c:manualLayout>
                  <c:x val="3.0170050998076401E-3"/>
                  <c:y val="-1.637717185585160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$1,425</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278-7549-AA24-38BE9EC54C95}"/>
                </c:ext>
              </c:extLst>
            </c:dLbl>
            <c:dLbl>
              <c:idx val="1"/>
              <c:layout>
                <c:manualLayout>
                  <c:x val="6.0340101996153002E-3"/>
                  <c:y val="-2.1836229141135598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$1,520</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278-7549-AA24-38BE9EC54C95}"/>
                </c:ext>
              </c:extLst>
            </c:dLbl>
            <c:dLbl>
              <c:idx val="2"/>
              <c:layout>
                <c:manualLayout>
                  <c:x val="1.2371135049457719E-2"/>
                  <c:y val="-2.3487654408671187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$1,647</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278-7549-AA24-38BE9EC54C95}"/>
                </c:ext>
              </c:extLst>
            </c:dLbl>
            <c:dLbl>
              <c:idx val="3"/>
              <c:layout>
                <c:manualLayout>
                  <c:x val="7.7698512307700744E-3"/>
                  <c:y val="-1.692765064829111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$1,773</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278-7549-AA24-38BE9EC54C95}"/>
                </c:ext>
              </c:extLst>
            </c:dLbl>
            <c:dLbl>
              <c:idx val="4"/>
              <c:layout>
                <c:manualLayout>
                  <c:x val="9.0510152994229091E-3"/>
                  <c:y val="-2.183622914113550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$1,900</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E278-7549-AA24-38BE9EC54C95}"/>
                </c:ext>
              </c:extLst>
            </c:dLbl>
            <c:dLbl>
              <c:idx val="5"/>
              <c:layout>
                <c:manualLayout>
                  <c:x val="4.5255076497114502E-3"/>
                  <c:y val="-1.637717185585170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$2,052</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E278-7549-AA24-38BE9EC54C95}"/>
                </c:ext>
              </c:extLst>
            </c:dLbl>
            <c:dLbl>
              <c:idx val="6"/>
              <c:layout>
                <c:manualLayout>
                  <c:x val="7.5425127495190904E-3"/>
                  <c:y val="-1.910670049849360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$2,204</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E278-7549-AA24-38BE9EC54C95}"/>
                </c:ext>
              </c:extLst>
            </c:dLbl>
            <c:dLbl>
              <c:idx val="7"/>
              <c:layout>
                <c:manualLayout>
                  <c:x val="3.0170050998076401E-3"/>
                  <c:y val="-2.7295286426419402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$2,365</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E278-7549-AA24-38BE9EC54C95}"/>
                </c:ext>
              </c:extLst>
            </c:dLbl>
            <c:dLbl>
              <c:idx val="8"/>
              <c:layout>
                <c:manualLayout>
                  <c:x val="9.0510152994227999E-3"/>
                  <c:y val="-1.3647643213209701E-2"/>
                </c:manualLayout>
              </c:layout>
              <c:tx>
                <c:rich>
                  <a:bodyPr rot="0" anchor="ctr" anchorCtr="1"/>
                  <a:lstStyle/>
                  <a:p>
                    <a:pPr>
                      <a:defRPr sz="1600" b="0" i="0" spc="-50" baseline="0">
                        <a:solidFill>
                          <a:srgbClr val="000000"/>
                        </a:solidFill>
                        <a:latin typeface="Arial" panose="020B0604020202020204" pitchFamily="34" charset="0"/>
                        <a:cs typeface="Arial" panose="020B0604020202020204" pitchFamily="34" charset="0"/>
                      </a:defRPr>
                    </a:pPr>
                    <a:r>
                      <a:rPr lang="en-US" dirty="0"/>
                      <a:t>$2,508</a:t>
                    </a:r>
                  </a:p>
                </c:rich>
              </c:tx>
              <c:numFmt formatCode="&quot;$&quot;#,##0"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E278-7549-AA24-38BE9EC54C95}"/>
                </c:ext>
              </c:extLst>
            </c:dLbl>
            <c:numFmt formatCode="&quot;$&quot;#,##0" sourceLinked="0"/>
            <c:spPr>
              <a:noFill/>
              <a:ln>
                <a:noFill/>
              </a:ln>
              <a:effectLst/>
            </c:spPr>
            <c:txPr>
              <a:bodyPr rot="0" anchor="ctr" anchorCtr="1"/>
              <a:lstStyle/>
              <a:p>
                <a:pPr>
                  <a:defRPr b="0" i="0" spc="-50" baseline="0">
                    <a:solidFill>
                      <a:srgbClr val="000000"/>
                    </a:solidFill>
                    <a:latin typeface="Arial" panose="020B0604020202020204" pitchFamily="34" charset="0"/>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62</c:v>
                </c:pt>
                <c:pt idx="1">
                  <c:v>63</c:v>
                </c:pt>
                <c:pt idx="2">
                  <c:v>64</c:v>
                </c:pt>
                <c:pt idx="3">
                  <c:v>65</c:v>
                </c:pt>
                <c:pt idx="4">
                  <c:v>66</c:v>
                </c:pt>
                <c:pt idx="5">
                  <c:v>67</c:v>
                </c:pt>
                <c:pt idx="6">
                  <c:v>68</c:v>
                </c:pt>
                <c:pt idx="7">
                  <c:v>69</c:v>
                </c:pt>
                <c:pt idx="8">
                  <c:v>70</c:v>
                </c:pt>
              </c:numCache>
            </c:numRef>
          </c:cat>
          <c:val>
            <c:numRef>
              <c:f>Sheet1!$B$2:$B$10</c:f>
              <c:numCache>
                <c:formatCode>General</c:formatCode>
                <c:ptCount val="9"/>
                <c:pt idx="0">
                  <c:v>1425</c:v>
                </c:pt>
                <c:pt idx="1">
                  <c:v>1520</c:v>
                </c:pt>
                <c:pt idx="2">
                  <c:v>1647</c:v>
                </c:pt>
                <c:pt idx="3">
                  <c:v>1773</c:v>
                </c:pt>
                <c:pt idx="4">
                  <c:v>1900</c:v>
                </c:pt>
                <c:pt idx="5">
                  <c:v>2052</c:v>
                </c:pt>
                <c:pt idx="6">
                  <c:v>2204</c:v>
                </c:pt>
                <c:pt idx="7">
                  <c:v>2356</c:v>
                </c:pt>
                <c:pt idx="8">
                  <c:v>2508</c:v>
                </c:pt>
              </c:numCache>
            </c:numRef>
          </c:val>
          <c:extLst>
            <c:ext xmlns:c16="http://schemas.microsoft.com/office/drawing/2014/chart" uri="{C3380CC4-5D6E-409C-BE32-E72D297353CC}">
              <c16:uniqueId val="{00000012-E278-7549-AA24-38BE9EC54C95}"/>
            </c:ext>
          </c:extLst>
        </c:ser>
        <c:dLbls>
          <c:showLegendKey val="0"/>
          <c:showVal val="0"/>
          <c:showCatName val="0"/>
          <c:showSerName val="0"/>
          <c:showPercent val="0"/>
          <c:showBubbleSize val="0"/>
        </c:dLbls>
        <c:gapWidth val="78"/>
        <c:gapDepth val="421"/>
        <c:shape val="box"/>
        <c:axId val="157858432"/>
        <c:axId val="157860224"/>
        <c:axId val="0"/>
      </c:bar3DChart>
      <c:catAx>
        <c:axId val="157858432"/>
        <c:scaling>
          <c:orientation val="minMax"/>
        </c:scaling>
        <c:delete val="0"/>
        <c:axPos val="b"/>
        <c:numFmt formatCode="General" sourceLinked="1"/>
        <c:majorTickMark val="out"/>
        <c:minorTickMark val="none"/>
        <c:tickLblPos val="low"/>
        <c:txPr>
          <a:bodyPr rot="60000" vert="horz"/>
          <a:lstStyle/>
          <a:p>
            <a:pPr>
              <a:defRPr b="1" i="0">
                <a:solidFill>
                  <a:srgbClr val="000000"/>
                </a:solidFill>
                <a:latin typeface="Arial" panose="020B0604020202020204" pitchFamily="34" charset="0"/>
                <a:cs typeface="Arial" panose="020B0604020202020204" pitchFamily="34" charset="0"/>
              </a:defRPr>
            </a:pPr>
            <a:endParaRPr lang="en-US"/>
          </a:p>
        </c:txPr>
        <c:crossAx val="157860224"/>
        <c:crosses val="autoZero"/>
        <c:auto val="1"/>
        <c:lblAlgn val="ctr"/>
        <c:lblOffset val="100"/>
        <c:noMultiLvlLbl val="0"/>
      </c:catAx>
      <c:valAx>
        <c:axId val="157860224"/>
        <c:scaling>
          <c:orientation val="minMax"/>
        </c:scaling>
        <c:delete val="1"/>
        <c:axPos val="l"/>
        <c:numFmt formatCode="General" sourceLinked="1"/>
        <c:majorTickMark val="out"/>
        <c:minorTickMark val="none"/>
        <c:tickLblPos val="nextTo"/>
        <c:crossAx val="157858432"/>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1" tIns="48325" rIns="96651" bIns="48325"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1" tIns="48325" rIns="96651" bIns="48325" rtlCol="0"/>
          <a:lstStyle>
            <a:lvl1pPr algn="r">
              <a:defRPr sz="1200"/>
            </a:lvl1pPr>
          </a:lstStyle>
          <a:p>
            <a:fld id="{A4B536DE-D2D0-7D40-9323-62A6DA083997}" type="datetimeFigureOut">
              <a:rPr lang="en-US" smtClean="0"/>
              <a:t>5/13/2025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1" tIns="48325" rIns="96651" bIns="48325"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1" tIns="48325" rIns="96651" bIns="48325" rtlCol="0" anchor="b"/>
          <a:lstStyle>
            <a:lvl1pPr algn="r">
              <a:defRPr sz="1200"/>
            </a:lvl1pPr>
          </a:lstStyle>
          <a:p>
            <a:fld id="{6E06BA1F-72CD-9840-A219-807C7BEACDF7}" type="slidenum">
              <a:rPr lang="en-US" smtClean="0"/>
              <a:t>‹#›</a:t>
            </a:fld>
            <a:endParaRPr lang="en-US"/>
          </a:p>
        </p:txBody>
      </p:sp>
    </p:spTree>
    <p:extLst>
      <p:ext uri="{BB962C8B-B14F-4D97-AF65-F5344CB8AC3E}">
        <p14:creationId xmlns:p14="http://schemas.microsoft.com/office/powerpoint/2010/main" val="33652669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1" tIns="48325" rIns="96651" bIns="48325"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1" tIns="48325" rIns="96651" bIns="48325" rtlCol="0"/>
          <a:lstStyle>
            <a:lvl1pPr algn="r">
              <a:defRPr sz="1200"/>
            </a:lvl1pPr>
          </a:lstStyle>
          <a:p>
            <a:fld id="{8C9B2C54-5FBC-4CC0-B262-16A33783AC56}" type="datetimeFigureOut">
              <a:rPr lang="en-US" smtClean="0"/>
              <a:t>5/13/2025</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6651" tIns="48325" rIns="96651" bIns="48325"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5" rIns="96651" bIns="483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1" tIns="48325" rIns="96651" bIns="48325"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1" tIns="48325" rIns="96651" bIns="48325" rtlCol="0" anchor="b"/>
          <a:lstStyle>
            <a:lvl1pPr algn="r">
              <a:defRPr sz="1200"/>
            </a:lvl1pPr>
          </a:lstStyle>
          <a:p>
            <a:fld id="{2DFC2A19-6F07-4E52-B22B-BA4A6D1ED55C}" type="slidenum">
              <a:rPr lang="en-US" smtClean="0"/>
              <a:t>‹#›</a:t>
            </a:fld>
            <a:endParaRPr lang="en-US"/>
          </a:p>
        </p:txBody>
      </p:sp>
    </p:spTree>
    <p:extLst>
      <p:ext uri="{BB962C8B-B14F-4D97-AF65-F5344CB8AC3E}">
        <p14:creationId xmlns:p14="http://schemas.microsoft.com/office/powerpoint/2010/main" val="452525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ssa.gov/history/ratios.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aarp.org/protectsocialsecurity" TargetMode="External"/><Relationship Id="rId4" Type="http://schemas.openxmlformats.org/officeDocument/2006/relationships/hyperlink" Target="https://www.ssa.gov/policy/docs/chartbooks/fast_facts/2023/fast_facts23.html"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nam12.safelinks.protection.outlook.com/?url=https%3A%2F%2Fwww.actuary.org%2Fsocialsecurity&amp;data=05%7C02%7CDTayek%40aarp.org%7Ce5301406c41b4b26d3e408dcde45bbce%7Ca395e38b4b754e4493499a37de460a33%7C0%7C0%7C638629638290511663%7CUnknown%7CTWFpbGZsb3d8eyJWIjoiMC4wLjAwMDAiLCJQIjoiV2luMzIiLCJBTiI6Ik1haWwiLCJXVCI6Mn0%3D%7C0%7C%7C%7C&amp;sdata=FrWbhjaCu4eaJHgyX8bkNoOZoswA195zK69VQ77J70c%3D&amp;reserved=0"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b="1" i="1" dirty="0">
                <a:latin typeface="+mn-lt"/>
              </a:rPr>
              <a:t>[Facilitator Note: </a:t>
            </a:r>
            <a:r>
              <a:rPr lang="en-US" i="1" dirty="0">
                <a:latin typeface="+mn-lt"/>
              </a:rPr>
              <a:t>Hide this slide before presenting by right clicking the thumbnail and choosing “Hide Slide” from the list.]</a:t>
            </a:r>
          </a:p>
          <a:p>
            <a:endParaRPr lang="en-US" dirty="0">
              <a:latin typeface="+mn-lt"/>
            </a:endParaRPr>
          </a:p>
          <a:p>
            <a:endParaRPr lang="en-US" dirty="0">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a:t>
            </a:fld>
            <a:endParaRPr lang="en-US"/>
          </a:p>
        </p:txBody>
      </p:sp>
    </p:spTree>
    <p:extLst>
      <p:ext uri="{BB962C8B-B14F-4D97-AF65-F5344CB8AC3E}">
        <p14:creationId xmlns:p14="http://schemas.microsoft.com/office/powerpoint/2010/main" val="142329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1" dirty="0">
                <a:solidFill>
                  <a:schemeClr val="tx1"/>
                </a:solidFill>
                <a:latin typeface="+mn-lt"/>
              </a:rPr>
              <a:t>[Facilitator Note</a:t>
            </a:r>
            <a:r>
              <a:rPr lang="en-US" sz="1200" i="1" dirty="0">
                <a:solidFill>
                  <a:schemeClr val="tx1"/>
                </a:solidFill>
                <a:latin typeface="+mn-lt"/>
              </a:rPr>
              <a:t>: Hide this slide before presenting by right clicking the thumbnail and choosing “Hide Slide” from the list.]</a:t>
            </a:r>
          </a:p>
          <a:p>
            <a:endParaRPr lang="en-US" sz="1200" dirty="0">
              <a:solidFill>
                <a:schemeClr val="tx1"/>
              </a:solidFill>
              <a:latin typeface="+mn-lt"/>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a:t>
            </a:fld>
            <a:endParaRPr lang="en-US"/>
          </a:p>
        </p:txBody>
      </p:sp>
    </p:spTree>
    <p:extLst>
      <p:ext uri="{BB962C8B-B14F-4D97-AF65-F5344CB8AC3E}">
        <p14:creationId xmlns:p14="http://schemas.microsoft.com/office/powerpoint/2010/main" val="2146895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1" dirty="0">
                <a:solidFill>
                  <a:schemeClr val="tx1"/>
                </a:solidFill>
                <a:latin typeface="+mn-lt"/>
              </a:rPr>
              <a:t>[Facilitator Note: </a:t>
            </a:r>
            <a:r>
              <a:rPr lang="en-US" sz="1200" i="1" dirty="0">
                <a:solidFill>
                  <a:schemeClr val="tx1"/>
                </a:solidFill>
                <a:latin typeface="+mn-lt"/>
              </a:rPr>
              <a:t>Hide this slide before presenting by right clicking the thumbnail and choosing “Hide Slide” from the list.]</a:t>
            </a:r>
          </a:p>
          <a:p>
            <a:endParaRPr lang="en-US" sz="1200" dirty="0">
              <a:solidFill>
                <a:schemeClr val="tx1"/>
              </a:solidFill>
              <a:latin typeface="+mn-lt"/>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3</a:t>
            </a:fld>
            <a:endParaRPr lang="en-US"/>
          </a:p>
        </p:txBody>
      </p:sp>
    </p:spTree>
    <p:extLst>
      <p:ext uri="{BB962C8B-B14F-4D97-AF65-F5344CB8AC3E}">
        <p14:creationId xmlns:p14="http://schemas.microsoft.com/office/powerpoint/2010/main" val="3329571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1" dirty="0">
                <a:solidFill>
                  <a:schemeClr val="tx1"/>
                </a:solidFill>
                <a:latin typeface="+mn-lt"/>
              </a:rPr>
              <a:t>[Facilitator Note: </a:t>
            </a:r>
            <a:r>
              <a:rPr lang="en-US" sz="1200" i="1" dirty="0">
                <a:solidFill>
                  <a:schemeClr val="tx1"/>
                </a:solidFill>
                <a:latin typeface="+mn-lt"/>
              </a:rPr>
              <a:t>This</a:t>
            </a:r>
            <a:r>
              <a:rPr lang="en-US" sz="1200" i="1" baseline="0" dirty="0">
                <a:solidFill>
                  <a:schemeClr val="tx1"/>
                </a:solidFill>
                <a:latin typeface="+mn-lt"/>
              </a:rPr>
              <a:t> slide uses the AARP general logo. Use the following slide to use a state logo lockup.]</a:t>
            </a:r>
          </a:p>
          <a:p>
            <a:r>
              <a:rPr lang="en-US" sz="1200" b="1" i="0" dirty="0">
                <a:solidFill>
                  <a:schemeClr val="tx1"/>
                </a:solidFill>
                <a:latin typeface="+mn-lt"/>
              </a:rPr>
              <a:t>
Speaker Notes:</a:t>
            </a:r>
          </a:p>
          <a:p>
            <a:endParaRPr lang="en-US" sz="1200" i="0" dirty="0">
              <a:solidFill>
                <a:schemeClr val="tx1"/>
              </a:solidFill>
              <a:latin typeface="+mn-lt"/>
            </a:endParaRPr>
          </a:p>
          <a:p>
            <a:r>
              <a:rPr lang="en-US" sz="1200" i="0" dirty="0">
                <a:solidFill>
                  <a:schemeClr val="tx1"/>
                </a:solidFill>
                <a:latin typeface="+mn-lt"/>
              </a:rPr>
              <a:t>Hello and welcome! My name is _____________________________ and I’m a ________________________ with AARP.   ​</a:t>
            </a:r>
          </a:p>
          <a:p>
            <a:endParaRPr lang="en-US" sz="1200" i="1" dirty="0">
              <a:solidFill>
                <a:schemeClr val="tx1"/>
              </a:solidFill>
              <a:latin typeface="+mn-lt"/>
            </a:endParaRPr>
          </a:p>
          <a:p>
            <a:r>
              <a:rPr lang="en-US" sz="1200" i="0" dirty="0">
                <a:solidFill>
                  <a:schemeClr val="tx1"/>
                </a:solidFill>
                <a:latin typeface="+mn-lt"/>
              </a:rPr>
              <a:t>I look forward to facilitating today’s [tonight’s] conversation about </a:t>
            </a:r>
            <a:r>
              <a:rPr lang="en-US" sz="1200" dirty="0">
                <a:solidFill>
                  <a:schemeClr val="tx1"/>
                </a:solidFill>
                <a:latin typeface="+mn-lt"/>
              </a:rPr>
              <a:t>understanding your Social Security benefits</a:t>
            </a:r>
            <a:r>
              <a:rPr lang="en-US" sz="1200" i="0" dirty="0">
                <a:solidFill>
                  <a:schemeClr val="tx1"/>
                </a:solidFill>
                <a:latin typeface="+mn-lt"/>
              </a:rPr>
              <a:t>.​</a:t>
            </a:r>
          </a:p>
        </p:txBody>
      </p:sp>
      <p:sp>
        <p:nvSpPr>
          <p:cNvPr id="4" name="Slide Number Placeholder 3"/>
          <p:cNvSpPr>
            <a:spLocks noGrp="1"/>
          </p:cNvSpPr>
          <p:nvPr>
            <p:ph type="sldNum" sz="quarter" idx="5"/>
          </p:nvPr>
        </p:nvSpPr>
        <p:spPr/>
        <p:txBody>
          <a:bodyPr/>
          <a:lstStyle/>
          <a:p>
            <a:fld id="{2DFC2A19-6F07-4E52-B22B-BA4A6D1ED55C}" type="slidenum">
              <a:rPr lang="en-US" smtClean="0"/>
              <a:t>4</a:t>
            </a:fld>
            <a:endParaRPr lang="en-US"/>
          </a:p>
        </p:txBody>
      </p:sp>
    </p:spTree>
    <p:extLst>
      <p:ext uri="{BB962C8B-B14F-4D97-AF65-F5344CB8AC3E}">
        <p14:creationId xmlns:p14="http://schemas.microsoft.com/office/powerpoint/2010/main" val="2061291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dirty="0">
                <a:solidFill>
                  <a:schemeClr val="tx1"/>
                </a:solidFill>
                <a:latin typeface="+mn-lt"/>
              </a:rPr>
              <a:t>Speaker Notes:</a:t>
            </a:r>
            <a:br>
              <a:rPr lang="en-US" sz="1200" b="1" i="0" dirty="0">
                <a:solidFill>
                  <a:schemeClr val="tx1"/>
                </a:solidFill>
                <a:latin typeface="+mn-lt"/>
              </a:rPr>
            </a:br>
            <a:endParaRPr lang="en-US" sz="1200" dirty="0">
              <a:solidFill>
                <a:schemeClr val="tx1"/>
              </a:solidFill>
              <a:latin typeface="+mn-lt"/>
              <a:cs typeface="Arial" panose="020B0604020202020204" pitchFamily="34" charset="0"/>
            </a:endParaRPr>
          </a:p>
          <a:p>
            <a:pPr>
              <a:lnSpc>
                <a:spcPct val="100000"/>
              </a:lnSpc>
            </a:pPr>
            <a:r>
              <a:rPr lang="en-US" sz="1200" dirty="0">
                <a:solidFill>
                  <a:schemeClr val="tx1"/>
                </a:solidFill>
                <a:latin typeface="+mn-lt"/>
                <a:cs typeface="Arial" panose="020B0604020202020204" pitchFamily="34" charset="0"/>
              </a:rPr>
              <a:t>AARP created this workshop because we are committed to helping you understand your Social Security benefits.</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In this session, we’re going to cover a lot of ground. We’ll discuss:</a:t>
            </a:r>
          </a:p>
          <a:p>
            <a:pPr defTabSz="966506">
              <a:defRPr/>
            </a:pPr>
            <a:endParaRPr lang="en-US" sz="1200" dirty="0">
              <a:solidFill>
                <a:schemeClr val="tx1"/>
              </a:solidFill>
              <a:latin typeface="+mn-lt"/>
              <a:cs typeface="Arial" panose="020B0604020202020204" pitchFamily="34" charset="0"/>
            </a:endParaRPr>
          </a:p>
          <a:p>
            <a:pPr marL="181220" indent="-181220">
              <a:buFont typeface="Arial" panose="020B0604020202020204" pitchFamily="34" charset="0"/>
              <a:buChar char="•"/>
            </a:pPr>
            <a:r>
              <a:rPr lang="en-US" sz="1200" dirty="0">
                <a:solidFill>
                  <a:schemeClr val="tx1"/>
                </a:solidFill>
                <a:latin typeface="+mn-lt"/>
                <a:cs typeface="Arial" panose="020B0604020202020204" pitchFamily="34" charset="0"/>
              </a:rPr>
              <a:t>What is Social Security?</a:t>
            </a:r>
          </a:p>
          <a:p>
            <a:pPr marL="181220" indent="-181220">
              <a:buFont typeface="Arial" panose="020B0604020202020204" pitchFamily="34" charset="0"/>
              <a:buChar char="•"/>
            </a:pPr>
            <a:r>
              <a:rPr lang="en-US" sz="1200" dirty="0">
                <a:solidFill>
                  <a:schemeClr val="tx1"/>
                </a:solidFill>
                <a:latin typeface="+mn-lt"/>
                <a:cs typeface="Arial" panose="020B0604020202020204" pitchFamily="34" charset="0"/>
              </a:rPr>
              <a:t>Full, early and delayed retirement benefits</a:t>
            </a:r>
          </a:p>
          <a:p>
            <a:pPr marL="181220" indent="-181220">
              <a:buFont typeface="Arial" panose="020B0604020202020204" pitchFamily="34" charset="0"/>
              <a:buChar char="•"/>
            </a:pPr>
            <a:r>
              <a:rPr lang="en-US" sz="1200" dirty="0">
                <a:solidFill>
                  <a:schemeClr val="tx1"/>
                </a:solidFill>
                <a:latin typeface="+mn-lt"/>
                <a:cs typeface="Arial" panose="020B0604020202020204" pitchFamily="34" charset="0"/>
              </a:rPr>
              <a:t>Social Security and work</a:t>
            </a:r>
          </a:p>
          <a:p>
            <a:pPr marL="181220" indent="-181220">
              <a:buFont typeface="Arial" panose="020B0604020202020204" pitchFamily="34" charset="0"/>
              <a:buChar char="•"/>
            </a:pPr>
            <a:r>
              <a:rPr lang="en-US" sz="1200" baseline="0" dirty="0">
                <a:solidFill>
                  <a:schemeClr val="tx1"/>
                </a:solidFill>
                <a:latin typeface="+mn-lt"/>
                <a:cs typeface="Arial" panose="020B0604020202020204" pitchFamily="34" charset="0"/>
              </a:rPr>
              <a:t>Family benefits</a:t>
            </a:r>
          </a:p>
          <a:p>
            <a:pPr marL="181220" indent="-181220">
              <a:buFont typeface="Arial" panose="020B0604020202020204" pitchFamily="34" charset="0"/>
              <a:buChar char="•"/>
            </a:pPr>
            <a:r>
              <a:rPr lang="en-US" sz="1200" baseline="0" dirty="0">
                <a:solidFill>
                  <a:schemeClr val="tx1"/>
                </a:solidFill>
                <a:latin typeface="+mn-lt"/>
                <a:cs typeface="Arial" panose="020B0604020202020204" pitchFamily="34" charset="0"/>
              </a:rPr>
              <a:t>How to apply</a:t>
            </a:r>
          </a:p>
          <a:p>
            <a:pPr marL="181220" indent="-181220">
              <a:buFont typeface="Arial" panose="020B0604020202020204" pitchFamily="34" charset="0"/>
              <a:buChar char="•"/>
            </a:pPr>
            <a:r>
              <a:rPr lang="en-US" sz="1200" baseline="0" dirty="0">
                <a:solidFill>
                  <a:schemeClr val="tx1"/>
                </a:solidFill>
                <a:latin typeface="+mn-lt"/>
                <a:cs typeface="Arial" panose="020B0604020202020204" pitchFamily="34" charset="0"/>
              </a:rPr>
              <a:t>Resources</a:t>
            </a:r>
          </a:p>
          <a:p>
            <a:pPr marL="181220" indent="-181220">
              <a:buFont typeface="Arial" panose="020B0604020202020204" pitchFamily="34" charset="0"/>
              <a:buChar char="•"/>
            </a:pPr>
            <a:r>
              <a:rPr lang="en-US" sz="1200" baseline="0" dirty="0">
                <a:solidFill>
                  <a:schemeClr val="tx1"/>
                </a:solidFill>
                <a:latin typeface="+mn-lt"/>
                <a:cs typeface="Arial" panose="020B0604020202020204" pitchFamily="34" charset="0"/>
              </a:rPr>
              <a:t>The future of Social Security</a:t>
            </a:r>
          </a:p>
          <a:p>
            <a:pPr marL="181220" indent="-181220">
              <a:buFont typeface="Arial" panose="020B0604020202020204" pitchFamily="34" charset="0"/>
              <a:buChar char="•"/>
            </a:pPr>
            <a:endParaRPr lang="en-US" sz="1200" baseline="0" dirty="0">
              <a:solidFill>
                <a:schemeClr val="tx1"/>
              </a:solidFill>
              <a:latin typeface="+mn-lt"/>
              <a:cs typeface="Arial" panose="020B0604020202020204" pitchFamily="34" charset="0"/>
            </a:endParaRPr>
          </a:p>
          <a:p>
            <a:r>
              <a:rPr lang="en-US" sz="1200" b="0" i="0" dirty="0">
                <a:solidFill>
                  <a:schemeClr val="tx1"/>
                </a:solidFill>
                <a:effectLst/>
                <a:latin typeface="+mn-lt"/>
              </a:rPr>
              <a:t>Al</a:t>
            </a:r>
            <a:r>
              <a:rPr lang="en-US" sz="1200" dirty="0">
                <a:solidFill>
                  <a:schemeClr val="tx1"/>
                </a:solidFill>
                <a:effectLst/>
                <a:latin typeface="+mn-lt"/>
              </a:rPr>
              <a:t>though I may not be able to answer your questions now, you can get them answered later. There’s an AARP tool called “Your Questions Answered,” where you can search for the answer to your Social Security questions or ask a question and receive a personal answer within a few days. We’ll talk more about it at the end of the presentation.</a:t>
            </a:r>
          </a:p>
          <a:p>
            <a:endParaRPr lang="en-US" sz="1200" dirty="0">
              <a:solidFill>
                <a:schemeClr val="tx1"/>
              </a:solidFill>
              <a:effectLst/>
              <a:latin typeface="+mn-lt"/>
            </a:endParaRPr>
          </a:p>
          <a:p>
            <a:pPr defTabSz="966506">
              <a:defRPr/>
            </a:pPr>
            <a:r>
              <a:rPr lang="en-US" sz="1200" b="0" i="0" dirty="0">
                <a:solidFill>
                  <a:schemeClr val="tx1"/>
                </a:solidFill>
                <a:effectLst/>
                <a:latin typeface="+mn-lt"/>
              </a:rPr>
              <a:t>That being said, this is meant to be an interactive experience where you can share your questions with us. Since this is a public forum, please don't share your personally identifying or sensitive information.  And remember to consult your financial advisor for advice regarding your own personal situation.</a:t>
            </a:r>
            <a:endParaRPr lang="en-US" sz="1200" baseline="0" dirty="0">
              <a:solidFill>
                <a:schemeClr val="tx1"/>
              </a:solidFill>
              <a:latin typeface="+mn-lt"/>
              <a:cs typeface="Arial" panose="020B0604020202020204" pitchFamily="34" charset="0"/>
            </a:endParaRPr>
          </a:p>
          <a:p>
            <a:pPr marL="181220" indent="-181220">
              <a:buFont typeface="Arial" panose="020B0604020202020204" pitchFamily="34" charset="0"/>
              <a:buChar char="•"/>
            </a:pPr>
            <a:endParaRPr lang="en-US" sz="1200" baseline="0" dirty="0">
              <a:solidFill>
                <a:schemeClr val="tx1"/>
              </a:solidFill>
              <a:latin typeface="+mn-lt"/>
              <a:cs typeface="Arial" panose="020B0604020202020204" pitchFamily="34" charset="0"/>
            </a:endParaRPr>
          </a:p>
          <a:p>
            <a:pPr defTabSz="966506">
              <a:defRPr/>
            </a:pPr>
            <a:r>
              <a:rPr lang="en-US" sz="1200" b="1" i="1" dirty="0">
                <a:solidFill>
                  <a:schemeClr val="tx1"/>
                </a:solidFill>
                <a:latin typeface="+mn-lt"/>
              </a:rPr>
              <a:t>[Facilitator Note: </a:t>
            </a:r>
            <a:r>
              <a:rPr lang="en-US" sz="1200" b="0" i="1" dirty="0">
                <a:solidFill>
                  <a:schemeClr val="tx1"/>
                </a:solidFill>
                <a:latin typeface="+mn-lt"/>
              </a:rPr>
              <a:t>You may want to review the materials you are sharing with participants, such as handouts you brought or shared in advance. Additionally, you may want to review housekeeping items such as information about the facility you are in (or virtual platform you are using) as well as how and when participants can ask questions (or use the chat feature for virtual presentations).</a:t>
            </a:r>
            <a:r>
              <a:rPr lang="en-US" sz="1200" i="1" baseline="0" dirty="0">
                <a:solidFill>
                  <a:schemeClr val="tx1"/>
                </a:solidFill>
                <a:latin typeface="+mn-lt"/>
              </a:rPr>
              <a:t>]</a:t>
            </a:r>
          </a:p>
          <a:p>
            <a:pPr>
              <a:lnSpc>
                <a:spcPct val="100000"/>
              </a:lnSpc>
            </a:pPr>
            <a:endParaRPr lang="en-US" sz="1200" baseline="0" dirty="0">
              <a:solidFill>
                <a:schemeClr val="tx1"/>
              </a:solidFill>
              <a:latin typeface="+mn-lt"/>
              <a:cs typeface="Arial" panose="020B0604020202020204" pitchFamily="34" charset="0"/>
            </a:endParaRPr>
          </a:p>
          <a:p>
            <a:pPr rtl="0" fontAlgn="base"/>
            <a:r>
              <a:rPr lang="en-US" sz="1200" b="1" i="1" dirty="0">
                <a:solidFill>
                  <a:schemeClr val="tx1"/>
                </a:solidFill>
                <a:latin typeface="+mn-lt"/>
              </a:rPr>
              <a:t>[Facilitator Notes: </a:t>
            </a:r>
            <a:r>
              <a:rPr lang="en-US" sz="1200" i="1" dirty="0">
                <a:solidFill>
                  <a:schemeClr val="tx1"/>
                </a:solidFill>
                <a:latin typeface="+mn-lt"/>
              </a:rPr>
              <a:t>You may also want to review </a:t>
            </a:r>
            <a:r>
              <a:rPr lang="en-US" sz="1200" b="0" i="1" dirty="0">
                <a:solidFill>
                  <a:schemeClr val="tx1"/>
                </a:solidFill>
                <a:effectLst/>
                <a:latin typeface="+mn-lt"/>
              </a:rPr>
              <a:t>ground rules suited to your event</a:t>
            </a:r>
            <a:r>
              <a:rPr lang="en-US" sz="1200" i="1" dirty="0">
                <a:solidFill>
                  <a:schemeClr val="tx1"/>
                </a:solidFill>
                <a:latin typeface="+mn-lt"/>
              </a:rPr>
              <a:t>. Suggestions are below.</a:t>
            </a:r>
            <a:r>
              <a:rPr lang="en-US" sz="1200" dirty="0">
                <a:solidFill>
                  <a:schemeClr val="tx1"/>
                </a:solidFill>
                <a:latin typeface="+mn-lt"/>
              </a:rPr>
              <a:t>​</a:t>
            </a:r>
          </a:p>
          <a:p>
            <a:pPr rtl="0" fontAlgn="base"/>
            <a:r>
              <a:rPr lang="en-US" sz="1200" dirty="0">
                <a:solidFill>
                  <a:schemeClr val="tx1"/>
                </a:solidFill>
                <a:latin typeface="+mn-lt"/>
              </a:rPr>
              <a:t>​</a:t>
            </a:r>
          </a:p>
          <a:p>
            <a:pPr rtl="0" fontAlgn="base"/>
            <a:r>
              <a:rPr lang="en-US" sz="1200" i="1" dirty="0">
                <a:solidFill>
                  <a:schemeClr val="tx1"/>
                </a:solidFill>
                <a:latin typeface="+mn-lt"/>
              </a:rPr>
              <a:t>Before we begin, we have a few ground rules:​</a:t>
            </a:r>
            <a:r>
              <a:rPr lang="en-US" sz="1200" dirty="0">
                <a:solidFill>
                  <a:schemeClr val="tx1"/>
                </a:solidFill>
                <a:latin typeface="+mn-lt"/>
              </a:rPr>
              <a:t>​</a:t>
            </a:r>
          </a:p>
          <a:p>
            <a:pPr rtl="0" fontAlgn="base"/>
            <a:r>
              <a:rPr lang="en-US" sz="1200" dirty="0">
                <a:solidFill>
                  <a:schemeClr val="tx1"/>
                </a:solidFill>
                <a:latin typeface="+mn-lt"/>
              </a:rPr>
              <a:t>​</a:t>
            </a:r>
          </a:p>
          <a:p>
            <a:pPr rtl="0" fontAlgn="base"/>
            <a:r>
              <a:rPr lang="en-US" sz="1200" i="1" dirty="0">
                <a:solidFill>
                  <a:schemeClr val="tx1"/>
                </a:solidFill>
                <a:latin typeface="+mn-lt"/>
              </a:rPr>
              <a:t>First, let’s share the floor so everyone gets an opportunity to talk, and we can learn from each other.​</a:t>
            </a:r>
            <a:r>
              <a:rPr lang="en-US" sz="1200" dirty="0">
                <a:solidFill>
                  <a:schemeClr val="tx1"/>
                </a:solidFill>
                <a:latin typeface="+mn-lt"/>
              </a:rPr>
              <a:t>​ </a:t>
            </a:r>
            <a:r>
              <a:rPr lang="en-US" sz="1200" i="1" dirty="0">
                <a:solidFill>
                  <a:schemeClr val="tx1"/>
                </a:solidFill>
                <a:latin typeface="+mn-lt"/>
              </a:rPr>
              <a:t>This is a judgment-free zone.​</a:t>
            </a:r>
            <a:r>
              <a:rPr lang="en-US" sz="1200" dirty="0">
                <a:solidFill>
                  <a:schemeClr val="tx1"/>
                </a:solidFill>
                <a:latin typeface="+mn-lt"/>
              </a:rPr>
              <a:t>​ </a:t>
            </a:r>
            <a:r>
              <a:rPr lang="en-US" sz="1200" i="1" dirty="0">
                <a:solidFill>
                  <a:schemeClr val="tx1"/>
                </a:solidFill>
                <a:latin typeface="+mn-lt"/>
              </a:rPr>
              <a:t>And please silence your cell phones/mute yourself unless speaking.]</a:t>
            </a:r>
            <a:r>
              <a:rPr lang="en-US" sz="1200" dirty="0">
                <a:solidFill>
                  <a:schemeClr val="tx1"/>
                </a:solidFill>
                <a:latin typeface="+mn-lt"/>
              </a:rPr>
              <a:t>​</a:t>
            </a:r>
          </a:p>
          <a:p>
            <a:pPr rtl="0" fontAlgn="base"/>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5</a:t>
            </a:fld>
            <a:endParaRPr lang="en-US"/>
          </a:p>
        </p:txBody>
      </p:sp>
    </p:spTree>
    <p:extLst>
      <p:ext uri="{BB962C8B-B14F-4D97-AF65-F5344CB8AC3E}">
        <p14:creationId xmlns:p14="http://schemas.microsoft.com/office/powerpoint/2010/main" val="3858422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spcBef>
                <a:spcPct val="0"/>
              </a:spcBef>
              <a:defRPr/>
            </a:pPr>
            <a:r>
              <a:rPr lang="en-US" sz="1200" b="1" dirty="0">
                <a:solidFill>
                  <a:schemeClr val="tx1"/>
                </a:solidFill>
                <a:latin typeface="+mn-lt"/>
              </a:rPr>
              <a:t>Speaker Notes: </a:t>
            </a:r>
            <a:br>
              <a:rPr lang="en-US" sz="1200" b="1" dirty="0">
                <a:solidFill>
                  <a:schemeClr val="tx1"/>
                </a:solidFill>
                <a:latin typeface="+mn-lt"/>
              </a:rPr>
            </a:br>
            <a:endParaRPr lang="en-US" sz="1200" i="0" dirty="0">
              <a:solidFill>
                <a:schemeClr val="tx1"/>
              </a:solidFill>
              <a:latin typeface="+mn-lt"/>
              <a:cs typeface="Arial" panose="020B0604020202020204" pitchFamily="34" charset="0"/>
            </a:endParaRPr>
          </a:p>
          <a:p>
            <a:pPr defTabSz="966506">
              <a:spcBef>
                <a:spcPct val="0"/>
              </a:spcBef>
              <a:defRPr/>
            </a:pPr>
            <a:r>
              <a:rPr lang="en-US" sz="1200" dirty="0">
                <a:solidFill>
                  <a:schemeClr val="tx1"/>
                </a:solidFill>
                <a:latin typeface="+mn-lt"/>
                <a:cs typeface="Arial" panose="020B0604020202020204" pitchFamily="34" charset="0"/>
              </a:rPr>
              <a:t>Social Security was created in 1935 in</a:t>
            </a:r>
            <a:r>
              <a:rPr lang="en-US" sz="1200" baseline="0" dirty="0">
                <a:solidFill>
                  <a:schemeClr val="tx1"/>
                </a:solidFill>
                <a:latin typeface="+mn-lt"/>
                <a:cs typeface="Arial" panose="020B0604020202020204" pitchFamily="34" charset="0"/>
              </a:rPr>
              <a:t> the aftermath of </a:t>
            </a:r>
            <a:r>
              <a:rPr lang="en-US" sz="1200" dirty="0">
                <a:solidFill>
                  <a:schemeClr val="tx1"/>
                </a:solidFill>
                <a:latin typeface="+mn-lt"/>
                <a:cs typeface="Arial" panose="020B0604020202020204" pitchFamily="34" charset="0"/>
              </a:rPr>
              <a:t>the 1929 stock market crash and the Great Depression.</a:t>
            </a:r>
          </a:p>
          <a:p>
            <a:pPr eaLnBrk="1" hangingPunct="1">
              <a:spcBef>
                <a:spcPct val="0"/>
              </a:spcBef>
            </a:pPr>
            <a:endParaRPr lang="en-US" sz="1200" dirty="0">
              <a:solidFill>
                <a:schemeClr val="tx1"/>
              </a:solidFill>
              <a:latin typeface="+mn-lt"/>
              <a:cs typeface="Arial" panose="020B0604020202020204" pitchFamily="34" charset="0"/>
            </a:endParaRPr>
          </a:p>
          <a:p>
            <a:pPr eaLnBrk="1" hangingPunct="1">
              <a:spcBef>
                <a:spcPct val="0"/>
              </a:spcBef>
            </a:pPr>
            <a:r>
              <a:rPr lang="en-US" sz="1200" dirty="0">
                <a:solidFill>
                  <a:schemeClr val="tx1"/>
                </a:solidFill>
                <a:latin typeface="+mn-lt"/>
                <a:cs typeface="Arial" panose="020B0604020202020204" pitchFamily="34" charset="0"/>
              </a:rPr>
              <a:t>It is</a:t>
            </a:r>
            <a:r>
              <a:rPr lang="en-US" sz="1200" baseline="0" dirty="0">
                <a:solidFill>
                  <a:schemeClr val="tx1"/>
                </a:solidFill>
                <a:latin typeface="+mn-lt"/>
                <a:cs typeface="Arial" panose="020B0604020202020204" pitchFamily="34" charset="0"/>
              </a:rPr>
              <a:t> </a:t>
            </a:r>
            <a:r>
              <a:rPr lang="en-US" sz="1200" dirty="0">
                <a:solidFill>
                  <a:schemeClr val="tx1"/>
                </a:solidFill>
                <a:latin typeface="+mn-lt"/>
                <a:cs typeface="Arial" panose="020B0604020202020204" pitchFamily="34" charset="0"/>
              </a:rPr>
              <a:t>based on the concept of social insurance, which means that all workers </a:t>
            </a:r>
            <a:r>
              <a:rPr lang="en-US" sz="1200" dirty="0">
                <a:solidFill>
                  <a:schemeClr val="tx1"/>
                </a:solidFill>
                <a:latin typeface="+mn-lt"/>
              </a:rPr>
              <a:t>contribute to a central trust fund managed by the government.</a:t>
            </a:r>
          </a:p>
          <a:p>
            <a:pPr defTabSz="966506">
              <a:spcBef>
                <a:spcPct val="0"/>
              </a:spcBef>
              <a:defRPr/>
            </a:pPr>
            <a:endParaRPr lang="en-US" sz="1200" dirty="0">
              <a:solidFill>
                <a:schemeClr val="tx1"/>
              </a:solidFill>
              <a:latin typeface="+mn-lt"/>
              <a:cs typeface="Arial" panose="020B0604020202020204" pitchFamily="34" charset="0"/>
            </a:endParaRPr>
          </a:p>
          <a:p>
            <a:pPr defTabSz="966506">
              <a:spcBef>
                <a:spcPct val="0"/>
              </a:spcBef>
              <a:defRPr/>
            </a:pPr>
            <a:r>
              <a:rPr lang="en-US" sz="1200" dirty="0">
                <a:solidFill>
                  <a:schemeClr val="tx1"/>
                </a:solidFill>
                <a:latin typeface="+mn-lt"/>
                <a:cs typeface="Calibri"/>
              </a:rPr>
              <a:t>Almost everyone contributes to the Social Security trust fund. Social Security taxes are called “FICA,” which stands for Federal Insurance Contribution</a:t>
            </a:r>
            <a:r>
              <a:rPr lang="en-US" sz="1200" baseline="0" dirty="0">
                <a:solidFill>
                  <a:schemeClr val="tx1"/>
                </a:solidFill>
                <a:latin typeface="+mn-lt"/>
                <a:cs typeface="Calibri"/>
              </a:rPr>
              <a:t>s Act. It’s a tax paid by employees and employers that funds Social Security and Medicare. </a:t>
            </a:r>
            <a:r>
              <a:rPr lang="en-US" sz="1200" b="0" i="0" dirty="0">
                <a:solidFill>
                  <a:schemeClr val="tx1"/>
                </a:solidFill>
                <a:effectLst/>
                <a:latin typeface="+mn-lt"/>
                <a:ea typeface="Roboto"/>
                <a:cs typeface="Roboto"/>
              </a:rPr>
              <a:t>The current tax rate for Social Security is 6.2% for the employer and 6.2% for the employee, for a total of 12.4%.</a:t>
            </a:r>
            <a:endParaRPr lang="en-US" sz="1200" baseline="0" dirty="0">
              <a:solidFill>
                <a:schemeClr val="tx1"/>
              </a:solidFill>
              <a:latin typeface="+mn-lt"/>
              <a:ea typeface="Roboto"/>
              <a:cs typeface="Roboto"/>
            </a:endParaRPr>
          </a:p>
          <a:p>
            <a:pPr defTabSz="966506">
              <a:spcBef>
                <a:spcPct val="0"/>
              </a:spcBef>
              <a:defRPr/>
            </a:pPr>
            <a:endParaRPr lang="en-US" sz="1200" baseline="0" dirty="0">
              <a:solidFill>
                <a:schemeClr val="tx1"/>
              </a:solidFill>
              <a:latin typeface="+mn-lt"/>
              <a:cs typeface="Arial" panose="020B0604020202020204" pitchFamily="34" charset="0"/>
            </a:endParaRPr>
          </a:p>
          <a:p>
            <a:pPr defTabSz="966506">
              <a:spcBef>
                <a:spcPct val="0"/>
              </a:spcBef>
              <a:defRPr/>
            </a:pPr>
            <a:r>
              <a:rPr lang="en-US" sz="1200" dirty="0">
                <a:solidFill>
                  <a:schemeClr val="tx1"/>
                </a:solidFill>
                <a:latin typeface="+mn-lt"/>
                <a:cs typeface="Arial" panose="020B0604020202020204" pitchFamily="34" charset="0"/>
              </a:rPr>
              <a:t>To be eligible to collect retirement benefits, a worker must have worked for at least 10 years (or have earned 40 credits) and paid Social Security taxes. </a:t>
            </a:r>
            <a:endParaRPr lang="en-US" sz="1200" baseline="0" dirty="0">
              <a:solidFill>
                <a:schemeClr val="tx1"/>
              </a:solidFill>
              <a:latin typeface="+mn-lt"/>
              <a:cs typeface="Arial" panose="020B0604020202020204" pitchFamily="34" charset="0"/>
            </a:endParaRPr>
          </a:p>
          <a:p>
            <a:pPr eaLnBrk="1" hangingPunct="1">
              <a:spcBef>
                <a:spcPct val="0"/>
              </a:spcBef>
            </a:pPr>
            <a:endParaRPr lang="en-US" sz="1200" dirty="0">
              <a:solidFill>
                <a:schemeClr val="tx1"/>
              </a:solidFill>
              <a:latin typeface="+mn-lt"/>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sz="1200" dirty="0">
                <a:solidFill>
                  <a:schemeClr val="tx1"/>
                </a:solidFill>
                <a:latin typeface="+mn-lt"/>
              </a:rPr>
              <a:t>The Social Security trust fund is used to provide benefits to individuals who are retired, disabled or are a survivor of a deceased worker. </a:t>
            </a:r>
            <a:r>
              <a:rPr lang="en-US" sz="1200" dirty="0">
                <a:solidFill>
                  <a:schemeClr val="tx1"/>
                </a:solidFill>
                <a:latin typeface="+mn-lt"/>
                <a:cs typeface="Arial" panose="020B0604020202020204" pitchFamily="34" charset="0"/>
              </a:rPr>
              <a:t>Social</a:t>
            </a:r>
            <a:r>
              <a:rPr lang="en-US" sz="1200" baseline="0" dirty="0">
                <a:solidFill>
                  <a:schemeClr val="tx1"/>
                </a:solidFill>
                <a:latin typeface="+mn-lt"/>
                <a:cs typeface="Arial" panose="020B0604020202020204" pitchFamily="34" charset="0"/>
              </a:rPr>
              <a:t> Security was ALWAYS i</a:t>
            </a:r>
            <a:r>
              <a:rPr lang="en-US" sz="1200" dirty="0">
                <a:solidFill>
                  <a:schemeClr val="tx1"/>
                </a:solidFill>
                <a:latin typeface="+mn-lt"/>
                <a:cs typeface="Arial" panose="020B0604020202020204" pitchFamily="34" charset="0"/>
              </a:rPr>
              <a:t>ntended to be a safety net to provide some income. It was never intended to be</a:t>
            </a:r>
            <a:r>
              <a:rPr lang="en-US" sz="1200" baseline="0" dirty="0">
                <a:solidFill>
                  <a:schemeClr val="tx1"/>
                </a:solidFill>
                <a:latin typeface="+mn-lt"/>
                <a:cs typeface="Arial" panose="020B0604020202020204" pitchFamily="34" charset="0"/>
              </a:rPr>
              <a:t> the only source of income. Despite this,</a:t>
            </a:r>
            <a:r>
              <a:rPr lang="en-US" sz="1200" dirty="0">
                <a:solidFill>
                  <a:schemeClr val="tx1"/>
                </a:solidFill>
                <a:latin typeface="+mn-lt"/>
                <a:cs typeface="Arial" panose="020B0604020202020204" pitchFamily="34" charset="0"/>
              </a:rPr>
              <a:t> many recipients are using it for</a:t>
            </a:r>
            <a:r>
              <a:rPr lang="en-US" sz="1200" baseline="0" dirty="0">
                <a:solidFill>
                  <a:schemeClr val="tx1"/>
                </a:solidFill>
                <a:latin typeface="+mn-lt"/>
                <a:cs typeface="Arial" panose="020B0604020202020204" pitchFamily="34" charset="0"/>
              </a:rPr>
              <a:t> most or all of their income.  </a:t>
            </a:r>
          </a:p>
          <a:p>
            <a:pPr eaLnBrk="1" hangingPunct="1">
              <a:spcBef>
                <a:spcPct val="0"/>
              </a:spcBef>
            </a:pPr>
            <a:endParaRPr lang="en-US" sz="1200" dirty="0">
              <a:solidFill>
                <a:schemeClr val="tx1"/>
              </a:solidFill>
              <a:latin typeface="+mn-lt"/>
            </a:endParaRPr>
          </a:p>
          <a:p>
            <a:pPr eaLnBrk="1" hangingPunct="1">
              <a:spcBef>
                <a:spcPct val="0"/>
              </a:spcBef>
            </a:pPr>
            <a:endParaRPr lang="en-US" sz="1200" b="1" dirty="0">
              <a:solidFill>
                <a:schemeClr val="tx1"/>
              </a:solidFill>
              <a:latin typeface="+mn-lt"/>
            </a:endParaRPr>
          </a:p>
          <a:p>
            <a:pPr eaLnBrk="1" hangingPunct="1">
              <a:spcBef>
                <a:spcPct val="0"/>
              </a:spcBef>
            </a:pPr>
            <a:r>
              <a:rPr lang="en-US" sz="1200" b="1" dirty="0">
                <a:solidFill>
                  <a:schemeClr val="tx1"/>
                </a:solidFill>
                <a:latin typeface="+mn-lt"/>
              </a:rPr>
              <a:t>Source:</a:t>
            </a:r>
          </a:p>
          <a:p>
            <a:pPr eaLnBrk="1" hangingPunct="1">
              <a:spcBef>
                <a:spcPct val="0"/>
              </a:spcBef>
            </a:pPr>
            <a:r>
              <a:rPr lang="en-US" sz="1200" dirty="0">
                <a:solidFill>
                  <a:schemeClr val="tx1"/>
                </a:solidFill>
                <a:latin typeface="+mn-lt"/>
              </a:rPr>
              <a:t>https://</a:t>
            </a:r>
            <a:r>
              <a:rPr lang="en-US" sz="1200" dirty="0" err="1">
                <a:solidFill>
                  <a:schemeClr val="tx1"/>
                </a:solidFill>
                <a:latin typeface="+mn-lt"/>
              </a:rPr>
              <a:t>www.irs.gov</a:t>
            </a:r>
            <a:r>
              <a:rPr lang="en-US" sz="1200" dirty="0">
                <a:solidFill>
                  <a:schemeClr val="tx1"/>
                </a:solidFill>
                <a:latin typeface="+mn-lt"/>
              </a:rPr>
              <a:t>/</a:t>
            </a:r>
            <a:r>
              <a:rPr lang="en-US" sz="1200" dirty="0" err="1">
                <a:solidFill>
                  <a:schemeClr val="tx1"/>
                </a:solidFill>
                <a:latin typeface="+mn-lt"/>
              </a:rPr>
              <a:t>taxtopics</a:t>
            </a:r>
            <a:r>
              <a:rPr lang="en-US" sz="1200" dirty="0">
                <a:solidFill>
                  <a:schemeClr val="tx1"/>
                </a:solidFill>
                <a:latin typeface="+mn-lt"/>
              </a:rPr>
              <a:t>/tc751</a:t>
            </a:r>
          </a:p>
          <a:p>
            <a:pPr eaLnBrk="1" hangingPunct="1">
              <a:spcBef>
                <a:spcPct val="0"/>
              </a:spcBef>
            </a:pPr>
            <a:endParaRPr lang="en-US" sz="1200" dirty="0">
              <a:solidFill>
                <a:schemeClr val="tx1"/>
              </a:solidFill>
              <a:latin typeface="+mn-lt"/>
            </a:endParaRPr>
          </a:p>
          <a:p>
            <a:pPr eaLnBrk="1" hangingPunct="1">
              <a:spcBef>
                <a:spcPct val="0"/>
              </a:spcBef>
            </a:pPr>
            <a:endParaRPr lang="en-US" sz="1200" dirty="0">
              <a:solidFill>
                <a:schemeClr val="tx1"/>
              </a:solidFill>
              <a:latin typeface="+mn-lt"/>
            </a:endParaRPr>
          </a:p>
          <a:p>
            <a:pPr eaLnBrk="1" hangingPunct="1">
              <a:spcBef>
                <a:spcPct val="0"/>
              </a:spcBef>
            </a:pPr>
            <a:endParaRPr lang="en-US" sz="1200" dirty="0">
              <a:solidFill>
                <a:schemeClr val="tx1"/>
              </a:solidFill>
              <a:latin typeface="+mn-lt"/>
            </a:endParaRPr>
          </a:p>
          <a:p>
            <a:pPr eaLnBrk="1" hangingPunct="1">
              <a:spcBef>
                <a:spcPct val="0"/>
              </a:spcBef>
            </a:pPr>
            <a:endParaRPr lang="en-US" sz="1200" dirty="0">
              <a:solidFill>
                <a:schemeClr val="tx1"/>
              </a:solidFill>
              <a:latin typeface="+mn-lt"/>
            </a:endParaRPr>
          </a:p>
          <a:p>
            <a:pPr defTabSz="483253">
              <a:spcBef>
                <a:spcPct val="0"/>
              </a:spcBef>
              <a:defRPr/>
            </a:pPr>
            <a:endParaRPr lang="en-US" sz="1200" dirty="0">
              <a:solidFill>
                <a:schemeClr val="tx1"/>
              </a:solidFill>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6</a:t>
            </a:fld>
            <a:endParaRPr lang="en-US"/>
          </a:p>
        </p:txBody>
      </p:sp>
    </p:spTree>
    <p:extLst>
      <p:ext uri="{BB962C8B-B14F-4D97-AF65-F5344CB8AC3E}">
        <p14:creationId xmlns:p14="http://schemas.microsoft.com/office/powerpoint/2010/main" val="106727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253">
              <a:spcBef>
                <a:spcPct val="0"/>
              </a:spcBef>
              <a:defRPr/>
            </a:pPr>
            <a:r>
              <a:rPr lang="en-US" sz="1200" b="1" i="1" dirty="0">
                <a:solidFill>
                  <a:schemeClr val="tx1"/>
                </a:solidFill>
                <a:latin typeface="+mn-lt"/>
              </a:rPr>
              <a:t>[Facilitator Notes: </a:t>
            </a:r>
            <a:r>
              <a:rPr lang="en-US" sz="1200" i="1" dirty="0">
                <a:solidFill>
                  <a:schemeClr val="tx1"/>
                </a:solidFill>
                <a:latin typeface="+mn-lt"/>
              </a:rPr>
              <a:t>Do not use this slide if doing a 30-minute presentation. Hide this slide before presenting by right clicking the thumbnail and choosing “Hide Slide” from the list.]</a:t>
            </a:r>
            <a:endParaRPr lang="en-US" sz="1200" dirty="0">
              <a:solidFill>
                <a:schemeClr val="tx1"/>
              </a:solidFill>
              <a:latin typeface="+mn-lt"/>
              <a:cs typeface="Arial" panose="020B0604020202020204" pitchFamily="34" charset="0"/>
            </a:endParaRPr>
          </a:p>
          <a:p>
            <a:pPr defTabSz="483253">
              <a:spcBef>
                <a:spcPct val="0"/>
              </a:spcBef>
              <a:defRPr/>
            </a:pPr>
            <a:endParaRPr lang="en-US" sz="1200" b="1" i="0" dirty="0">
              <a:solidFill>
                <a:schemeClr val="tx1"/>
              </a:solidFill>
              <a:latin typeface="+mn-lt"/>
            </a:endParaRPr>
          </a:p>
          <a:p>
            <a:pPr defTabSz="483253">
              <a:spcBef>
                <a:spcPct val="0"/>
              </a:spcBef>
              <a:defRPr/>
            </a:pPr>
            <a:r>
              <a:rPr lang="en-US" sz="1200" b="1" i="0" dirty="0">
                <a:solidFill>
                  <a:schemeClr val="tx1"/>
                </a:solidFill>
                <a:latin typeface="+mn-lt"/>
              </a:rPr>
              <a:t>Speaker Notes:</a:t>
            </a:r>
            <a:br>
              <a:rPr lang="en-US" sz="1200" b="1" i="0" dirty="0">
                <a:solidFill>
                  <a:schemeClr val="tx1"/>
                </a:solidFill>
                <a:latin typeface="+mn-lt"/>
              </a:rPr>
            </a:br>
            <a:endParaRPr lang="en-US" sz="1200" b="1" i="0" dirty="0">
              <a:solidFill>
                <a:schemeClr val="tx1"/>
              </a:solidFill>
              <a:latin typeface="+mn-lt"/>
            </a:endParaRPr>
          </a:p>
          <a:p>
            <a:pPr marL="0" marR="0" lvl="0" indent="0" algn="l" defTabSz="483253" rtl="0" eaLnBrk="1" fontAlgn="auto" latinLnBrk="0" hangingPunct="1">
              <a:lnSpc>
                <a:spcPct val="100000"/>
              </a:lnSpc>
              <a:spcBef>
                <a:spcPct val="0"/>
              </a:spcBef>
              <a:spcAft>
                <a:spcPts val="0"/>
              </a:spcAft>
              <a:buClrTx/>
              <a:buSzTx/>
              <a:buFontTx/>
              <a:buNone/>
              <a:tabLst/>
              <a:defRPr/>
            </a:pPr>
            <a:r>
              <a:rPr lang="en-US" sz="1200" dirty="0">
                <a:solidFill>
                  <a:schemeClr val="tx1"/>
                </a:solidFill>
                <a:latin typeface="+mn-lt"/>
                <a:cs typeface="Arial" panose="020B0604020202020204" pitchFamily="34" charset="0"/>
              </a:rPr>
              <a:t>So, if someone is using Social Security as their only source of income, how much are they getting? Is it enough to cover basic expenses? Let’s take a quick quiz</a:t>
            </a:r>
            <a:r>
              <a:rPr lang="en-US" sz="1200" baseline="0" dirty="0">
                <a:solidFill>
                  <a:schemeClr val="tx1"/>
                </a:solidFill>
                <a:latin typeface="+mn-lt"/>
                <a:cs typeface="Arial" panose="020B0604020202020204" pitchFamily="34" charset="0"/>
              </a:rPr>
              <a:t>. What is the amount of the average Social Security benefit</a:t>
            </a:r>
            <a:r>
              <a:rPr lang="en-US" sz="1200" dirty="0">
                <a:solidFill>
                  <a:schemeClr val="tx1"/>
                </a:solidFill>
                <a:effectLst/>
                <a:latin typeface="+mn-lt"/>
              </a:rPr>
              <a:t>?</a:t>
            </a:r>
          </a:p>
          <a:p>
            <a:pPr marL="0" marR="0" lvl="0" indent="0" algn="l" defTabSz="483253" rtl="0" eaLnBrk="1" fontAlgn="auto" latinLnBrk="0" hangingPunct="1">
              <a:lnSpc>
                <a:spcPct val="100000"/>
              </a:lnSpc>
              <a:spcBef>
                <a:spcPct val="0"/>
              </a:spcBef>
              <a:spcAft>
                <a:spcPts val="0"/>
              </a:spcAft>
              <a:buClrTx/>
              <a:buSzTx/>
              <a:buFontTx/>
              <a:buNone/>
              <a:tabLst/>
              <a:defRPr/>
            </a:pPr>
            <a:endParaRPr lang="en-US" sz="1200" baseline="0" dirty="0">
              <a:solidFill>
                <a:schemeClr val="tx1"/>
              </a:solidFill>
              <a:effectLst/>
              <a:latin typeface="+mn-lt"/>
              <a:cs typeface="Arial" panose="020B0604020202020204" pitchFamily="34" charset="0"/>
            </a:endParaRPr>
          </a:p>
          <a:p>
            <a:pPr marL="0" marR="0" lvl="0" indent="0" algn="l" defTabSz="483253" rtl="0" eaLnBrk="1" fontAlgn="auto" latinLnBrk="0" hangingPunct="1">
              <a:lnSpc>
                <a:spcPct val="100000"/>
              </a:lnSpc>
              <a:spcBef>
                <a:spcPct val="0"/>
              </a:spcBef>
              <a:spcAft>
                <a:spcPts val="0"/>
              </a:spcAft>
              <a:buClrTx/>
              <a:buSzTx/>
              <a:buFontTx/>
              <a:buNone/>
              <a:tabLst/>
              <a:defRPr/>
            </a:pPr>
            <a:r>
              <a:rPr lang="en-US" sz="1200" b="1" i="1" dirty="0">
                <a:solidFill>
                  <a:schemeClr val="tx1"/>
                </a:solidFill>
                <a:latin typeface="+mn-lt"/>
              </a:rPr>
              <a:t>[Facilitator Notes: </a:t>
            </a:r>
            <a:r>
              <a:rPr lang="en-US" sz="1200" b="0" i="1" baseline="0" dirty="0">
                <a:solidFill>
                  <a:schemeClr val="tx1"/>
                </a:solidFill>
                <a:latin typeface="+mn-lt"/>
                <a:cs typeface="Arial" panose="020B0604020202020204" pitchFamily="34" charset="0"/>
              </a:rPr>
              <a:t>Give participants a moment to choose their answer and raise their hand.]</a:t>
            </a:r>
            <a:endParaRPr lang="en-US" sz="1200" baseline="0" dirty="0">
              <a:solidFill>
                <a:schemeClr val="tx1"/>
              </a:solidFill>
              <a:latin typeface="+mn-lt"/>
              <a:cs typeface="Arial" panose="020B0604020202020204" pitchFamily="34" charset="0"/>
            </a:endParaRPr>
          </a:p>
          <a:p>
            <a:pPr defTabSz="483253">
              <a:spcBef>
                <a:spcPct val="0"/>
              </a:spcBef>
              <a:defRPr/>
            </a:pPr>
            <a:endParaRPr lang="en-US" sz="1200" baseline="0" dirty="0">
              <a:solidFill>
                <a:schemeClr val="tx1"/>
              </a:solidFill>
              <a:latin typeface="+mn-lt"/>
              <a:cs typeface="Arial" panose="020B0604020202020204" pitchFamily="34" charset="0"/>
            </a:endParaRPr>
          </a:p>
          <a:p>
            <a:pPr defTabSz="483253">
              <a:spcBef>
                <a:spcPct val="0"/>
              </a:spcBef>
              <a:defRPr/>
            </a:pPr>
            <a:r>
              <a:rPr lang="en-US" sz="1200" baseline="0" dirty="0">
                <a:solidFill>
                  <a:schemeClr val="tx1"/>
                </a:solidFill>
                <a:latin typeface="+mn-lt"/>
                <a:cs typeface="Arial" panose="020B0604020202020204" pitchFamily="34" charset="0"/>
              </a:rPr>
              <a:t>Raise your hand if you think it’s A: $995. How about B: $1,304? How many think it’s C: $1,976?</a:t>
            </a:r>
          </a:p>
          <a:p>
            <a:pPr defTabSz="483253">
              <a:spcBef>
                <a:spcPct val="0"/>
              </a:spcBef>
              <a:defRPr/>
            </a:pPr>
            <a:endParaRPr lang="en-US" sz="1200" baseline="0" dirty="0">
              <a:solidFill>
                <a:schemeClr val="tx1"/>
              </a:solidFill>
              <a:latin typeface="+mn-lt"/>
              <a:cs typeface="Arial" panose="020B0604020202020204" pitchFamily="34" charset="0"/>
            </a:endParaRPr>
          </a:p>
          <a:p>
            <a:pPr defTabSz="483253">
              <a:spcBef>
                <a:spcPct val="0"/>
              </a:spcBef>
              <a:defRPr/>
            </a:pPr>
            <a:r>
              <a:rPr lang="en-US" sz="1200" baseline="0" dirty="0">
                <a:solidFill>
                  <a:schemeClr val="tx1"/>
                </a:solidFill>
                <a:latin typeface="+mn-lt"/>
                <a:cs typeface="Arial"/>
              </a:rPr>
              <a:t>It looks like a lot of you chose option </a:t>
            </a:r>
            <a:r>
              <a:rPr lang="en-US" sz="1200" b="1" baseline="0" dirty="0">
                <a:solidFill>
                  <a:schemeClr val="tx1"/>
                </a:solidFill>
                <a:latin typeface="+mn-lt"/>
                <a:cs typeface="Arial"/>
              </a:rPr>
              <a:t>[say letter]. </a:t>
            </a:r>
            <a:r>
              <a:rPr lang="en-US" sz="1200" b="0" baseline="0" dirty="0">
                <a:solidFill>
                  <a:schemeClr val="tx1"/>
                </a:solidFill>
                <a:latin typeface="+mn-lt"/>
                <a:cs typeface="Arial"/>
              </a:rPr>
              <a:t>The correct answer for 2025 is Option C: $1,976. Remember that’s the average for all types of Social Security benefits: individual, spousal, survivor and disability. Your own benefit might differ considerably based on your situation, what type of benefit you’re collecting and (for retirement benefits) how much you paid into Social Security. </a:t>
            </a:r>
          </a:p>
          <a:p>
            <a:pPr defTabSz="483253">
              <a:spcBef>
                <a:spcPct val="0"/>
              </a:spcBef>
              <a:defRPr/>
            </a:pPr>
            <a:endParaRPr lang="en-US" sz="1200" b="0" baseline="0" dirty="0">
              <a:solidFill>
                <a:schemeClr val="tx1"/>
              </a:solidFill>
              <a:latin typeface="+mn-lt"/>
              <a:cs typeface="Arial"/>
            </a:endParaRPr>
          </a:p>
          <a:p>
            <a:pPr defTabSz="483253">
              <a:spcBef>
                <a:spcPct val="0"/>
              </a:spcBef>
              <a:defRPr/>
            </a:pPr>
            <a:r>
              <a:rPr lang="en-US" sz="1200" b="0" baseline="0" dirty="0">
                <a:solidFill>
                  <a:schemeClr val="tx1"/>
                </a:solidFill>
                <a:latin typeface="+mn-lt"/>
                <a:cs typeface="Arial"/>
              </a:rPr>
              <a:t>You will need to make the right Social Security decision for your individual situation, and we’re here to help! Let’s look at some factors that will affect the amount of the benefit you will receive.</a:t>
            </a:r>
          </a:p>
          <a:p>
            <a:endParaRPr lang="en-US" sz="1200" i="0" dirty="0">
              <a:solidFill>
                <a:schemeClr val="tx1"/>
              </a:solidFill>
              <a:latin typeface="+mn-lt"/>
            </a:endParaRPr>
          </a:p>
          <a:p>
            <a:pPr defTabSz="966506" fontAlgn="base">
              <a:defRPr/>
            </a:pPr>
            <a:r>
              <a:rPr lang="en-US" sz="1200" b="1" i="1" dirty="0">
                <a:solidFill>
                  <a:schemeClr val="tx1"/>
                </a:solidFill>
                <a:latin typeface="+mn-lt"/>
              </a:rPr>
              <a:t>[Alternate Options for Virtual Delivery: </a:t>
            </a:r>
            <a:r>
              <a:rPr lang="en-US" sz="1200" i="0" dirty="0">
                <a:solidFill>
                  <a:schemeClr val="tx1"/>
                </a:solidFill>
                <a:latin typeface="+mn-lt"/>
              </a:rPr>
              <a:t>Turn this into a poll question using the virtual delivery method of your choice. ​</a:t>
            </a:r>
          </a:p>
          <a:p>
            <a:pPr fontAlgn="base"/>
            <a:r>
              <a:rPr lang="en-US" sz="1200" i="0" dirty="0">
                <a:solidFill>
                  <a:schemeClr val="tx1"/>
                </a:solidFill>
                <a:latin typeface="+mn-lt"/>
              </a:rPr>
              <a:t>​</a:t>
            </a:r>
          </a:p>
          <a:p>
            <a:pPr fontAlgn="base"/>
            <a:r>
              <a:rPr lang="en-US" sz="1200" i="0" dirty="0">
                <a:solidFill>
                  <a:schemeClr val="tx1"/>
                </a:solidFill>
                <a:latin typeface="+mn-lt"/>
              </a:rPr>
              <a:t>What is the average </a:t>
            </a:r>
            <a:r>
              <a:rPr lang="en-US" sz="1200" i="0" baseline="0" dirty="0">
                <a:solidFill>
                  <a:schemeClr val="tx1"/>
                </a:solidFill>
                <a:latin typeface="+mn-lt"/>
                <a:cs typeface="Arial"/>
              </a:rPr>
              <a:t>Social Security retirement benefit</a:t>
            </a:r>
            <a:r>
              <a:rPr lang="en-US" sz="1200" i="0" dirty="0">
                <a:solidFill>
                  <a:schemeClr val="tx1"/>
                </a:solidFill>
                <a:latin typeface="+mn-lt"/>
              </a:rPr>
              <a:t>? ​</a:t>
            </a:r>
          </a:p>
          <a:p>
            <a:pPr fontAlgn="base"/>
            <a:endParaRPr lang="en-US" sz="1200" i="0" dirty="0">
              <a:solidFill>
                <a:schemeClr val="tx1"/>
              </a:solidFill>
              <a:latin typeface="+mn-lt"/>
              <a:cs typeface="Calibri"/>
            </a:endParaRPr>
          </a:p>
          <a:p>
            <a:pPr fontAlgn="base"/>
            <a:r>
              <a:rPr lang="en-US" sz="1200" i="0" dirty="0">
                <a:solidFill>
                  <a:schemeClr val="tx1"/>
                </a:solidFill>
                <a:latin typeface="+mn-lt"/>
              </a:rPr>
              <a:t>A.     $995</a:t>
            </a:r>
          </a:p>
          <a:p>
            <a:pPr fontAlgn="base"/>
            <a:r>
              <a:rPr lang="en-US" sz="1200" i="0" dirty="0">
                <a:solidFill>
                  <a:schemeClr val="tx1"/>
                </a:solidFill>
                <a:latin typeface="+mn-lt"/>
              </a:rPr>
              <a:t>B.     $1,304</a:t>
            </a:r>
          </a:p>
          <a:p>
            <a:pPr fontAlgn="base"/>
            <a:r>
              <a:rPr lang="en-US" sz="1200" i="0" dirty="0">
                <a:solidFill>
                  <a:schemeClr val="tx1"/>
                </a:solidFill>
                <a:latin typeface="+mn-lt"/>
              </a:rPr>
              <a:t>C.     $1,976</a:t>
            </a:r>
          </a:p>
          <a:p>
            <a:pPr fontAlgn="base"/>
            <a:r>
              <a:rPr lang="en-US" sz="1200" i="0" dirty="0">
                <a:solidFill>
                  <a:schemeClr val="tx1"/>
                </a:solidFill>
                <a:latin typeface="+mn-lt"/>
              </a:rPr>
              <a:t>​</a:t>
            </a:r>
          </a:p>
          <a:p>
            <a:pPr defTabSz="483253">
              <a:spcBef>
                <a:spcPct val="0"/>
              </a:spcBef>
              <a:defRPr/>
            </a:pPr>
            <a:r>
              <a:rPr lang="en-US" sz="1200" baseline="0" dirty="0">
                <a:solidFill>
                  <a:schemeClr val="tx1"/>
                </a:solidFill>
                <a:latin typeface="+mn-lt"/>
                <a:cs typeface="Arial"/>
              </a:rPr>
              <a:t>It looks like a lot of you chose option </a:t>
            </a:r>
            <a:r>
              <a:rPr lang="en-US" sz="1200" b="1" baseline="0" dirty="0">
                <a:solidFill>
                  <a:schemeClr val="tx1"/>
                </a:solidFill>
                <a:latin typeface="+mn-lt"/>
                <a:cs typeface="Arial"/>
              </a:rPr>
              <a:t>[say letter]. </a:t>
            </a:r>
            <a:r>
              <a:rPr lang="en-US" sz="1200" b="0" baseline="0" dirty="0">
                <a:solidFill>
                  <a:schemeClr val="tx1"/>
                </a:solidFill>
                <a:latin typeface="+mn-lt"/>
                <a:cs typeface="Arial"/>
              </a:rPr>
              <a:t>The correct answer for 2025 is Option C: $1,976. Do remember that’s the average for all types of Social Security benefits: individual, spousal, survivor and disability. Your own benefit might differ considerably based on your situation, what type of benefit you’re collecting and (for retirement benefits) how much you paid into Social Security. </a:t>
            </a:r>
          </a:p>
          <a:p>
            <a:pPr defTabSz="483253">
              <a:spcBef>
                <a:spcPct val="0"/>
              </a:spcBef>
              <a:defRPr/>
            </a:pPr>
            <a:endParaRPr lang="en-US" sz="1200" b="0" baseline="0" dirty="0">
              <a:solidFill>
                <a:schemeClr val="tx1"/>
              </a:solidFill>
              <a:latin typeface="+mn-lt"/>
              <a:cs typeface="Arial"/>
            </a:endParaRPr>
          </a:p>
          <a:p>
            <a:pPr defTabSz="483253">
              <a:spcBef>
                <a:spcPct val="0"/>
              </a:spcBef>
              <a:defRPr/>
            </a:pPr>
            <a:r>
              <a:rPr lang="en-US" sz="1200" b="0" baseline="0" dirty="0">
                <a:solidFill>
                  <a:schemeClr val="tx1"/>
                </a:solidFill>
                <a:latin typeface="+mn-lt"/>
                <a:cs typeface="Arial"/>
              </a:rPr>
              <a:t>You will need to make the right Social Security decision for your individual situation, and we’re here to help! Let’s look at some factors that will affect the amount of the benefit you will receive.]</a:t>
            </a:r>
          </a:p>
          <a:p>
            <a:pPr fontAlgn="base"/>
            <a:endParaRPr lang="en-US" sz="1200" i="1" baseline="0" dirty="0">
              <a:solidFill>
                <a:schemeClr val="tx1"/>
              </a:solidFill>
              <a:latin typeface="+mn-lt"/>
              <a:cs typeface="Arial" panose="020B0604020202020204" pitchFamily="34" charset="0"/>
            </a:endParaRPr>
          </a:p>
          <a:p>
            <a:pPr fontAlgn="base"/>
            <a:r>
              <a:rPr lang="en-US" sz="1200" i="1" baseline="0" dirty="0">
                <a:solidFill>
                  <a:schemeClr val="tx1"/>
                </a:solidFill>
                <a:latin typeface="+mn-lt"/>
                <a:cs typeface="Arial" panose="020B0604020202020204" pitchFamily="34" charset="0"/>
              </a:rPr>
              <a:t>Source:</a:t>
            </a:r>
          </a:p>
          <a:p>
            <a:pPr fontAlgn="base"/>
            <a:r>
              <a:rPr lang="en-US" sz="1200" i="1" baseline="0" dirty="0">
                <a:solidFill>
                  <a:schemeClr val="tx1"/>
                </a:solidFill>
                <a:latin typeface="+mn-lt"/>
                <a:cs typeface="Arial"/>
              </a:rPr>
              <a:t>https://</a:t>
            </a:r>
            <a:r>
              <a:rPr lang="en-US" sz="1200" i="1" baseline="0" dirty="0" err="1">
                <a:solidFill>
                  <a:schemeClr val="tx1"/>
                </a:solidFill>
                <a:latin typeface="+mn-lt"/>
                <a:cs typeface="Arial"/>
              </a:rPr>
              <a:t>www.aarp.org</a:t>
            </a:r>
            <a:r>
              <a:rPr lang="en-US" sz="1200" i="1" baseline="0" dirty="0">
                <a:solidFill>
                  <a:schemeClr val="tx1"/>
                </a:solidFill>
                <a:latin typeface="+mn-lt"/>
                <a:cs typeface="Arial"/>
              </a:rPr>
              <a:t>/retirement/social-security/info-2023/cola-benefits-and-</a:t>
            </a:r>
            <a:r>
              <a:rPr lang="en-US" sz="1200" i="1" baseline="0" dirty="0" err="1">
                <a:solidFill>
                  <a:schemeClr val="tx1"/>
                </a:solidFill>
                <a:latin typeface="+mn-lt"/>
                <a:cs typeface="Arial"/>
              </a:rPr>
              <a:t>medicare</a:t>
            </a:r>
            <a:r>
              <a:rPr lang="en-US" sz="1200" i="1" baseline="0" dirty="0">
                <a:solidFill>
                  <a:schemeClr val="tx1"/>
                </a:solidFill>
                <a:latin typeface="+mn-lt"/>
                <a:cs typeface="Arial"/>
              </a:rPr>
              <a:t>-premiums-</a:t>
            </a:r>
            <a:r>
              <a:rPr lang="en-US" sz="1200" i="1" baseline="0" dirty="0" err="1">
                <a:solidFill>
                  <a:schemeClr val="tx1"/>
                </a:solidFill>
                <a:latin typeface="+mn-lt"/>
                <a:cs typeface="Arial"/>
              </a:rPr>
              <a:t>rise.html</a:t>
            </a:r>
            <a:endParaRPr lang="en-US" sz="1200" i="1" baseline="0" dirty="0">
              <a:solidFill>
                <a:schemeClr val="tx1"/>
              </a:solidFill>
              <a:latin typeface="+mn-lt"/>
              <a:cs typeface="Arial"/>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7</a:t>
            </a:fld>
            <a:endParaRPr lang="en-US"/>
          </a:p>
        </p:txBody>
      </p:sp>
    </p:spTree>
    <p:extLst>
      <p:ext uri="{BB962C8B-B14F-4D97-AF65-F5344CB8AC3E}">
        <p14:creationId xmlns:p14="http://schemas.microsoft.com/office/powerpoint/2010/main" val="1077388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dirty="0">
                <a:solidFill>
                  <a:schemeClr val="tx1"/>
                </a:solidFill>
                <a:latin typeface="+mn-lt"/>
              </a:rPr>
              <a:t>Speaker Notes:</a:t>
            </a:r>
          </a:p>
          <a:p>
            <a:pPr eaLnBrk="1" hangingPunct="1"/>
            <a:endParaRPr lang="en-US" sz="1200" baseline="0" dirty="0">
              <a:solidFill>
                <a:schemeClr val="tx1"/>
              </a:solidFill>
              <a:latin typeface="+mn-lt"/>
              <a:cs typeface="Arial" panose="020B0604020202020204" pitchFamily="34" charset="0"/>
            </a:endParaRPr>
          </a:p>
          <a:p>
            <a:pPr defTabSz="966506">
              <a:defRPr/>
            </a:pPr>
            <a:r>
              <a:rPr lang="en-US" sz="1200" baseline="0" dirty="0">
                <a:solidFill>
                  <a:schemeClr val="tx1"/>
                </a:solidFill>
                <a:latin typeface="+mn-lt"/>
                <a:cs typeface="Arial" panose="020B0604020202020204" pitchFamily="34" charset="0"/>
              </a:rPr>
              <a:t>You can choose to receive your benefit as early as age 62, but your monthly benefit amount will be reduced by as much as</a:t>
            </a:r>
            <a:r>
              <a:rPr lang="en-US" sz="1200" dirty="0">
                <a:solidFill>
                  <a:schemeClr val="tx1"/>
                </a:solidFill>
                <a:latin typeface="+mn-lt"/>
                <a:cs typeface="Arial" panose="020B0604020202020204" pitchFamily="34" charset="0"/>
              </a:rPr>
              <a:t> 30%. This reduction is permanent. This includes any survivor benefits your family may be eligible for, so it’s important to consider how this decision will impact anyone who might collect on your record as well. </a:t>
            </a:r>
          </a:p>
          <a:p>
            <a:pPr defTabSz="966506">
              <a:defRPr/>
            </a:pPr>
            <a:endParaRPr lang="en-US" sz="1200" baseline="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You</a:t>
            </a:r>
            <a:r>
              <a:rPr lang="en-US" sz="1200" baseline="0" dirty="0">
                <a:solidFill>
                  <a:schemeClr val="tx1"/>
                </a:solidFill>
                <a:latin typeface="+mn-lt"/>
                <a:cs typeface="Arial" panose="020B0604020202020204" pitchFamily="34" charset="0"/>
              </a:rPr>
              <a:t> can receive your Full Retirement Amount at your “normal” or “full” retirement age, which is somewhere between 66 and 67, depending on your birth year. You get 100% of your benefit if you claim at your Full Retirement Age.</a:t>
            </a:r>
          </a:p>
          <a:p>
            <a:pPr eaLnBrk="1" hangingPunct="1"/>
            <a:endParaRPr lang="en-US" sz="1200" baseline="0" dirty="0">
              <a:solidFill>
                <a:schemeClr val="tx1"/>
              </a:solidFill>
              <a:latin typeface="+mn-lt"/>
              <a:cs typeface="Arial" panose="020B0604020202020204" pitchFamily="34" charset="0"/>
            </a:endParaRPr>
          </a:p>
          <a:p>
            <a:pPr eaLnBrk="1" hangingPunct="1"/>
            <a:r>
              <a:rPr lang="en-US" sz="1200" baseline="0" dirty="0">
                <a:solidFill>
                  <a:schemeClr val="tx1"/>
                </a:solidFill>
                <a:latin typeface="+mn-lt"/>
                <a:cs typeface="Arial" panose="020B0604020202020204" pitchFamily="34" charset="0"/>
              </a:rPr>
              <a:t>You also can delay your benefit beyond Full Retirement Age. This increases your benefit amount by 8% a year, up to age 70. It can pay to wait!</a:t>
            </a:r>
            <a:endParaRPr lang="en-US" sz="1200" i="1"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8</a:t>
            </a:fld>
            <a:endParaRPr lang="en-US"/>
          </a:p>
        </p:txBody>
      </p:sp>
    </p:spTree>
    <p:extLst>
      <p:ext uri="{BB962C8B-B14F-4D97-AF65-F5344CB8AC3E}">
        <p14:creationId xmlns:p14="http://schemas.microsoft.com/office/powerpoint/2010/main" val="1880914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b="1" i="0" dirty="0">
                <a:solidFill>
                  <a:schemeClr val="tx1"/>
                </a:solidFill>
                <a:latin typeface="+mn-lt"/>
              </a:rPr>
              <a:t>Speaker Notes: </a:t>
            </a:r>
          </a:p>
          <a:p>
            <a:pPr eaLnBrk="1" hangingPunct="1"/>
            <a:endParaRPr lang="en-US" sz="1200" b="1" i="0" dirty="0">
              <a:solidFill>
                <a:schemeClr val="tx1"/>
              </a:solidFill>
              <a:latin typeface="+mn-lt"/>
            </a:endParaRPr>
          </a:p>
          <a:p>
            <a:pPr eaLnBrk="1" hangingPunct="1"/>
            <a:r>
              <a:rPr lang="en-US" sz="1200" dirty="0">
                <a:solidFill>
                  <a:schemeClr val="tx1"/>
                </a:solidFill>
                <a:latin typeface="+mn-lt"/>
                <a:cs typeface="Arial" panose="020B0604020202020204" pitchFamily="34" charset="0"/>
              </a:rPr>
              <a:t>So, when exactly is your Full Retirement Age? This is an important date because it is the age at which you’ll receive your full benefits. </a:t>
            </a:r>
          </a:p>
          <a:p>
            <a:pPr eaLnBrk="1" hangingPunct="1"/>
            <a:endParaRPr lang="en-US" sz="1200" dirty="0">
              <a:solidFill>
                <a:schemeClr val="tx1"/>
              </a:solidFill>
              <a:latin typeface="+mn-lt"/>
              <a:cs typeface="Arial" panose="020B0604020202020204" pitchFamily="34" charset="0"/>
            </a:endParaRPr>
          </a:p>
          <a:p>
            <a:pPr eaLnBrk="1" hangingPunct="1"/>
            <a:r>
              <a:rPr lang="en-US" sz="1200" dirty="0">
                <a:solidFill>
                  <a:schemeClr val="tx1"/>
                </a:solidFill>
                <a:latin typeface="+mn-lt"/>
                <a:cs typeface="Arial" panose="020B0604020202020204" pitchFamily="34" charset="0"/>
              </a:rPr>
              <a:t>Full Retirement Age is gradually increasing to 67 based on when you were born. You can check your year of birth in the left column and then match it to the corresponding Full Retirement Age in the right column. For example, if you were born in 1956, your Full Retirement Age is 66 and four months.</a:t>
            </a: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9</a:t>
            </a:fld>
            <a:endParaRPr lang="en-US"/>
          </a:p>
        </p:txBody>
      </p:sp>
    </p:spTree>
    <p:extLst>
      <p:ext uri="{BB962C8B-B14F-4D97-AF65-F5344CB8AC3E}">
        <p14:creationId xmlns:p14="http://schemas.microsoft.com/office/powerpoint/2010/main" val="30178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dirty="0">
                <a:solidFill>
                  <a:schemeClr val="tx1"/>
                </a:solidFill>
                <a:latin typeface="+mn-lt"/>
              </a:rPr>
              <a:t>Speaker Notes:</a:t>
            </a:r>
          </a:p>
          <a:p>
            <a:endParaRPr lang="en-US" sz="1200" b="1" i="0" dirty="0">
              <a:solidFill>
                <a:schemeClr val="tx1"/>
              </a:solidFill>
              <a:latin typeface="+mn-lt"/>
            </a:endParaRPr>
          </a:p>
          <a:p>
            <a:pPr eaLnBrk="1" hangingPunct="1"/>
            <a:r>
              <a:rPr lang="en-US" sz="1200" dirty="0">
                <a:solidFill>
                  <a:schemeClr val="tx1"/>
                </a:solidFill>
                <a:latin typeface="+mn-lt"/>
                <a:cs typeface="Arial" panose="020B0604020202020204" pitchFamily="34" charset="0"/>
              </a:rPr>
              <a:t>Now let’s look at how claiming age can affect your monthly benefit amount.</a:t>
            </a:r>
            <a:endParaRPr lang="en-US" sz="1200" baseline="0" dirty="0">
              <a:solidFill>
                <a:schemeClr val="tx1"/>
              </a:solidFill>
              <a:latin typeface="+mn-lt"/>
              <a:cs typeface="Arial" panose="020B0604020202020204" pitchFamily="34" charset="0"/>
            </a:endParaRPr>
          </a:p>
          <a:p>
            <a:pPr eaLnBrk="1" hangingPunct="1"/>
            <a:endParaRPr lang="en-US" sz="1200" baseline="0" dirty="0">
              <a:solidFill>
                <a:schemeClr val="tx1"/>
              </a:solidFill>
              <a:latin typeface="+mn-lt"/>
              <a:cs typeface="Arial" panose="020B0604020202020204" pitchFamily="34" charset="0"/>
            </a:endParaRPr>
          </a:p>
          <a:p>
            <a:pPr eaLnBrk="1" hangingPunct="1"/>
            <a:r>
              <a:rPr lang="en-US" sz="1200" baseline="0" dirty="0">
                <a:solidFill>
                  <a:schemeClr val="tx1"/>
                </a:solidFill>
                <a:latin typeface="+mn-lt"/>
                <a:cs typeface="Arial" panose="020B0604020202020204" pitchFamily="34" charset="0"/>
              </a:rPr>
              <a:t>In this example, let’s assume that this individual claimed at their Full Retirement Age, which for them was 66. Their full benefit amount is $1,900 per month. </a:t>
            </a:r>
          </a:p>
          <a:p>
            <a:pPr eaLnBrk="1" hangingPunct="1"/>
            <a:endParaRPr lang="en-US" sz="1200" baseline="0" dirty="0">
              <a:solidFill>
                <a:schemeClr val="tx1"/>
              </a:solidFill>
              <a:latin typeface="+mn-lt"/>
              <a:cs typeface="Arial" panose="020B0604020202020204" pitchFamily="34" charset="0"/>
            </a:endParaRPr>
          </a:p>
          <a:p>
            <a:pPr defTabSz="483253">
              <a:defRPr/>
            </a:pPr>
            <a:r>
              <a:rPr lang="en-US" sz="1200" baseline="0" dirty="0">
                <a:solidFill>
                  <a:schemeClr val="tx1"/>
                </a:solidFill>
                <a:latin typeface="+mn-lt"/>
                <a:cs typeface="Arial" panose="020B0604020202020204" pitchFamily="34" charset="0"/>
              </a:rPr>
              <a:t>If this person had decided to collect benefits at age 62, their monthly benefit would have been $1,425. But if they waited until age 70, their monthly benefit would be over $2,508.</a:t>
            </a:r>
            <a:r>
              <a:rPr lang="en-US" sz="1200" dirty="0">
                <a:solidFill>
                  <a:schemeClr val="tx1"/>
                </a:solidFill>
                <a:latin typeface="+mn-lt"/>
                <a:cs typeface="Arial" panose="020B0604020202020204" pitchFamily="34" charset="0"/>
              </a:rPr>
              <a:t> </a:t>
            </a:r>
          </a:p>
          <a:p>
            <a:pPr defTabSz="483253">
              <a:defRPr/>
            </a:pPr>
            <a:endParaRPr lang="en-US" sz="1200" baseline="0" dirty="0">
              <a:solidFill>
                <a:schemeClr val="tx1"/>
              </a:solidFill>
              <a:latin typeface="+mn-lt"/>
              <a:cs typeface="Arial" panose="020B0604020202020204" pitchFamily="34" charset="0"/>
            </a:endParaRPr>
          </a:p>
          <a:p>
            <a:pPr defTabSz="966506">
              <a:defRPr/>
            </a:pPr>
            <a:r>
              <a:rPr lang="en-US" sz="1200" baseline="0" dirty="0">
                <a:solidFill>
                  <a:schemeClr val="tx1"/>
                </a:solidFill>
                <a:latin typeface="+mn-lt"/>
                <a:cs typeface="Arial" panose="020B0604020202020204" pitchFamily="34" charset="0"/>
              </a:rPr>
              <a:t>Deciding when to claim is a personal decision that only you can make. </a:t>
            </a:r>
            <a:r>
              <a:rPr lang="en-US" sz="1200" dirty="0">
                <a:solidFill>
                  <a:schemeClr val="tx1"/>
                </a:solidFill>
                <a:latin typeface="+mn-lt"/>
                <a:cs typeface="Arial" panose="020B0604020202020204" pitchFamily="34" charset="0"/>
              </a:rPr>
              <a:t>You will need to consider factors such as your health, savings, expenses and how the</a:t>
            </a:r>
            <a:r>
              <a:rPr lang="en-US" sz="1200" baseline="0" dirty="0">
                <a:solidFill>
                  <a:schemeClr val="tx1"/>
                </a:solidFill>
                <a:latin typeface="+mn-lt"/>
                <a:cs typeface="Arial" panose="020B0604020202020204" pitchFamily="34" charset="0"/>
              </a:rPr>
              <a:t> decision </a:t>
            </a:r>
            <a:r>
              <a:rPr lang="en-US" sz="1200" dirty="0">
                <a:solidFill>
                  <a:schemeClr val="tx1"/>
                </a:solidFill>
                <a:latin typeface="+mn-lt"/>
                <a:cs typeface="Arial" panose="020B0604020202020204" pitchFamily="34" charset="0"/>
              </a:rPr>
              <a:t>can impact your family.</a:t>
            </a:r>
          </a:p>
          <a:p>
            <a:pPr defTabSz="966506">
              <a:defRPr/>
            </a:pPr>
            <a:endParaRPr lang="en-US" sz="1200" dirty="0">
              <a:solidFill>
                <a:schemeClr val="tx1"/>
              </a:solidFill>
              <a:latin typeface="+mn-lt"/>
              <a:cs typeface="Arial" panose="020B0604020202020204" pitchFamily="34" charset="0"/>
            </a:endParaRPr>
          </a:p>
          <a:p>
            <a:pPr defTabSz="483253">
              <a:defRPr/>
            </a:pPr>
            <a:r>
              <a:rPr lang="en-US" sz="1200" baseline="0" dirty="0">
                <a:solidFill>
                  <a:schemeClr val="tx1"/>
                </a:solidFill>
                <a:latin typeface="+mn-lt"/>
                <a:cs typeface="Arial" panose="020B0604020202020204" pitchFamily="34" charset="0"/>
              </a:rPr>
              <a:t>Remember, though, the impact of your claiming age isn’t just on your own retirement benefit. It also affects the survivor benefits your family members might receive if they outlive you</a:t>
            </a:r>
            <a:r>
              <a:rPr lang="en-US" sz="1200" dirty="0">
                <a:solidFill>
                  <a:schemeClr val="tx1"/>
                </a:solidFill>
                <a:latin typeface="+mn-lt"/>
                <a:cs typeface="Arial" panose="020B0604020202020204" pitchFamily="34" charset="0"/>
              </a:rPr>
              <a:t>.</a:t>
            </a:r>
            <a:endParaRPr lang="en-US" sz="1200" i="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10</a:t>
            </a:fld>
            <a:endParaRPr lang="en-US"/>
          </a:p>
        </p:txBody>
      </p:sp>
    </p:spTree>
    <p:extLst>
      <p:ext uri="{BB962C8B-B14F-4D97-AF65-F5344CB8AC3E}">
        <p14:creationId xmlns:p14="http://schemas.microsoft.com/office/powerpoint/2010/main" val="3397319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b="1" i="1" dirty="0">
                <a:solidFill>
                  <a:schemeClr val="tx1"/>
                </a:solidFill>
                <a:latin typeface="+mn-lt"/>
              </a:rPr>
              <a:t>[Facilitator Notes: </a:t>
            </a:r>
            <a:r>
              <a:rPr lang="en-US" i="1" dirty="0">
                <a:solidFill>
                  <a:schemeClr val="tx1"/>
                </a:solidFill>
                <a:latin typeface="+mn-lt"/>
              </a:rPr>
              <a:t>Do not use this slide if doing a 30-minute presentation. Hide this slide before presenting by right clicking the thumbnail and choosing “Hide Slide” from the list.]</a:t>
            </a:r>
            <a:endParaRPr lang="en-US" dirty="0">
              <a:solidFill>
                <a:schemeClr val="tx1"/>
              </a:solidFill>
              <a:latin typeface="+mn-lt"/>
              <a:cs typeface="Arial" panose="020B0604020202020204" pitchFamily="34" charset="0"/>
            </a:endParaRPr>
          </a:p>
          <a:p>
            <a:endParaRPr lang="en-US" b="1" i="1" dirty="0">
              <a:solidFill>
                <a:schemeClr val="tx1"/>
              </a:solidFill>
              <a:latin typeface="+mn-lt"/>
              <a:cs typeface="Arial" panose="020B0604020202020204" pitchFamily="34" charset="0"/>
            </a:endParaRPr>
          </a:p>
          <a:p>
            <a:r>
              <a:rPr lang="en-US" b="1" i="1" dirty="0">
                <a:solidFill>
                  <a:schemeClr val="tx1"/>
                </a:solidFill>
                <a:latin typeface="+mn-lt"/>
                <a:cs typeface="Arial" panose="020B0604020202020204" pitchFamily="34" charset="0"/>
              </a:rPr>
              <a:t>[Facilitator Notes: </a:t>
            </a:r>
            <a:r>
              <a:rPr lang="en-US" i="1" dirty="0">
                <a:solidFill>
                  <a:schemeClr val="tx1"/>
                </a:solidFill>
                <a:latin typeface="+mn-lt"/>
                <a:cs typeface="Arial" panose="020B0604020202020204" pitchFamily="34" charset="0"/>
              </a:rPr>
              <a:t>Share the prompts below and give the audience a few minutes to discuss with each other the choices that go into deciding when to retire. If the groups are slow to respond to the first question, move to the next until the discussion begins. Once it has, take a few responses from the group, then move onto the next slide.]</a:t>
            </a:r>
          </a:p>
          <a:p>
            <a:endParaRPr lang="en-US" dirty="0">
              <a:solidFill>
                <a:schemeClr val="tx1"/>
              </a:solidFill>
              <a:latin typeface="+mn-lt"/>
              <a:cs typeface="Arial" panose="020B0604020202020204" pitchFamily="34" charset="0"/>
            </a:endParaRPr>
          </a:p>
          <a:p>
            <a:r>
              <a:rPr lang="en-US" b="1" dirty="0">
                <a:solidFill>
                  <a:schemeClr val="tx1"/>
                </a:solidFill>
                <a:latin typeface="+mn-lt"/>
                <a:cs typeface="Arial" panose="020B0604020202020204" pitchFamily="34" charset="0"/>
              </a:rPr>
              <a:t>Speaker Notes:</a:t>
            </a:r>
            <a:endParaRPr lang="en-US" b="1" i="1" dirty="0">
              <a:solidFill>
                <a:schemeClr val="tx1"/>
              </a:solidFill>
              <a:latin typeface="+mn-lt"/>
              <a:cs typeface="Arial" panose="020B0604020202020204" pitchFamily="34" charset="0"/>
            </a:endParaRPr>
          </a:p>
          <a:p>
            <a:endParaRPr lang="en-US" dirty="0">
              <a:solidFill>
                <a:schemeClr val="tx1"/>
              </a:solidFill>
              <a:latin typeface="+mn-lt"/>
              <a:cs typeface="Arial" panose="020B0604020202020204" pitchFamily="34" charset="0"/>
            </a:endParaRPr>
          </a:p>
          <a:p>
            <a:pPr marL="181220" indent="-181220">
              <a:buFont typeface="Arial" panose="020B0604020202020204" pitchFamily="34" charset="0"/>
              <a:buChar char="•"/>
            </a:pPr>
            <a:r>
              <a:rPr lang="en-US" dirty="0">
                <a:solidFill>
                  <a:schemeClr val="tx1"/>
                </a:solidFill>
                <a:latin typeface="+mn-lt"/>
                <a:cs typeface="Arial" panose="020B0604020202020204" pitchFamily="34" charset="0"/>
              </a:rPr>
              <a:t>What should you consider when making the decision on when to file for Social Security?</a:t>
            </a:r>
          </a:p>
          <a:p>
            <a:pPr marL="628650" lvl="1" indent="-171450">
              <a:buFont typeface="Arial" panose="020B0604020202020204" pitchFamily="34" charset="0"/>
              <a:buChar char="•"/>
            </a:pPr>
            <a:r>
              <a:rPr lang="en-US" b="0" i="0" dirty="0">
                <a:solidFill>
                  <a:schemeClr val="tx1"/>
                </a:solidFill>
                <a:effectLst/>
                <a:latin typeface="+mn-lt"/>
              </a:rPr>
              <a:t>Can someone who never paid into Social Security still collect benefits?</a:t>
            </a:r>
          </a:p>
          <a:p>
            <a:pPr marL="628650" lvl="1" indent="-171450">
              <a:buFont typeface="Arial" panose="020B0604020202020204" pitchFamily="34" charset="0"/>
              <a:buChar char="•"/>
            </a:pPr>
            <a:r>
              <a:rPr lang="en-US" b="0" i="0" dirty="0">
                <a:solidFill>
                  <a:schemeClr val="tx1"/>
                </a:solidFill>
                <a:effectLst/>
                <a:latin typeface="+mn-lt"/>
              </a:rPr>
              <a:t>When should I file for Social Security retirement benefits?</a:t>
            </a:r>
          </a:p>
          <a:p>
            <a:pPr marL="628650" lvl="1" indent="-171450">
              <a:buFont typeface="Arial" panose="020B0604020202020204" pitchFamily="34" charset="0"/>
              <a:buChar char="•"/>
            </a:pPr>
            <a:r>
              <a:rPr lang="en-US" b="0" i="0" dirty="0">
                <a:solidFill>
                  <a:schemeClr val="tx1"/>
                </a:solidFill>
                <a:effectLst/>
                <a:latin typeface="+mn-lt"/>
              </a:rPr>
              <a:t>Can I work and collect Social Security at the same time?</a:t>
            </a:r>
            <a:endParaRPr lang="en-US" dirty="0">
              <a:solidFill>
                <a:schemeClr val="tx1"/>
              </a:solidFill>
              <a:latin typeface="+mn-lt"/>
              <a:cs typeface="Arial" panose="020B0604020202020204" pitchFamily="34" charset="0"/>
            </a:endParaRPr>
          </a:p>
          <a:p>
            <a:endParaRPr lang="en-US" dirty="0">
              <a:solidFill>
                <a:schemeClr val="tx1"/>
              </a:solidFill>
              <a:latin typeface="+mn-lt"/>
              <a:cs typeface="Arial" panose="020B0604020202020204" pitchFamily="34" charset="0"/>
            </a:endParaRPr>
          </a:p>
          <a:p>
            <a:pPr marL="181220" indent="-181220">
              <a:buFont typeface="Arial" panose="020B0604020202020204" pitchFamily="34" charset="0"/>
              <a:buChar char="•"/>
            </a:pPr>
            <a:r>
              <a:rPr lang="en-US" dirty="0">
                <a:solidFill>
                  <a:schemeClr val="tx1"/>
                </a:solidFill>
                <a:latin typeface="+mn-lt"/>
                <a:cs typeface="Arial" panose="020B0604020202020204" pitchFamily="34" charset="0"/>
              </a:rPr>
              <a:t>Do any of you have suggestions for other considerations?</a:t>
            </a:r>
          </a:p>
          <a:p>
            <a:pPr marL="181220" indent="-181220">
              <a:buFont typeface="Arial" panose="020B0604020202020204" pitchFamily="34" charset="0"/>
              <a:buChar char="•"/>
            </a:pPr>
            <a:endParaRPr lang="en-US"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i="0" dirty="0">
                <a:solidFill>
                  <a:schemeClr val="tx1"/>
                </a:solidFill>
                <a:latin typeface="+mn-lt"/>
              </a:rPr>
              <a:t>[Facilitator Notes: </a:t>
            </a:r>
            <a:r>
              <a:rPr lang="en-US" i="0" dirty="0">
                <a:solidFill>
                  <a:schemeClr val="tx1"/>
                </a:solidFill>
                <a:latin typeface="+mn-lt"/>
              </a:rPr>
              <a:t>Use the information from this presentation to facilitate this discussion. The goal is to get the attendees thinking about the various factors that go into a Social Security claiming decision and what they might need to think about to make their own decision. Here is a general guide to the answers for the questions: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i="0" dirty="0">
              <a:solidFill>
                <a:schemeClr val="tx1"/>
              </a:solidFill>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latin typeface="+mn-lt"/>
              </a:rPr>
              <a:t>Q1: you can confirm the participant’s responses or say something like “I’m not so sure about that one, but we will learn about others in this presentation.”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latin typeface="+mn-lt"/>
              </a:rPr>
              <a:t>Q2: The answer is yes: spouses, ex-spouses, children, dependent parents and others can collect benefits even if they never paid into Social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latin typeface="+mn-lt"/>
              </a:rPr>
              <a:t>Q3: There are a lot of factors that go into deciding when to file for Social Security. Individuals should consider their personal financial situation, other assets, lifespan,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latin typeface="+mn-lt"/>
              </a:rPr>
              <a:t>Q4: Yes, you can work and collect Social Security at the same time, but your benefits will be reduced before you reach Full Retirement Age. After that, there is no limit to what you can earn.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latin typeface="+mn-lt"/>
              </a:rPr>
              <a:t>Q5: You can confirm the participant’s responses or say something like “I’m not so sure about that one, but we will learn about others in this presentation.”]</a:t>
            </a:r>
            <a:endParaRPr lang="en-US" i="0" dirty="0">
              <a:solidFill>
                <a:schemeClr val="tx1"/>
              </a:solidFill>
              <a:latin typeface="+mn-lt"/>
              <a:cs typeface="Arial" panose="020B0604020202020204" pitchFamily="34" charset="0"/>
            </a:endParaRPr>
          </a:p>
          <a:p>
            <a:pPr marL="181220" indent="-181220">
              <a:buFont typeface="Arial" panose="020B0604020202020204" pitchFamily="34" charset="0"/>
              <a:buChar char="•"/>
            </a:pPr>
            <a:endParaRPr lang="en-US" dirty="0">
              <a:solidFill>
                <a:schemeClr val="tx1"/>
              </a:solidFill>
              <a:latin typeface="+mn-lt"/>
            </a:endParaRPr>
          </a:p>
          <a:p>
            <a:pPr fontAlgn="base"/>
            <a:r>
              <a:rPr lang="en-US" b="1" i="1" dirty="0">
                <a:solidFill>
                  <a:schemeClr val="tx1"/>
                </a:solidFill>
                <a:latin typeface="+mn-lt"/>
              </a:rPr>
              <a:t>[Alternate Options for Virtual Delivery: </a:t>
            </a:r>
            <a:r>
              <a:rPr lang="en-US" i="0" dirty="0">
                <a:solidFill>
                  <a:schemeClr val="tx1"/>
                </a:solidFill>
                <a:latin typeface="+mn-lt"/>
              </a:rPr>
              <a:t>Depending on the size of your group, you can open the lines up for discussion, solicit responses in chat or skip this slide. Use the same prompts as above.] ​</a:t>
            </a:r>
          </a:p>
          <a:p>
            <a:pPr fontAlgn="base"/>
            <a:r>
              <a:rPr lang="en-US" dirty="0">
                <a:solidFill>
                  <a:schemeClr val="tx1"/>
                </a:solidFill>
                <a:latin typeface="+mn-lt"/>
              </a:rPr>
              <a:t>​</a:t>
            </a:r>
          </a:p>
          <a:p>
            <a:endParaRPr lang="en-US" dirty="0">
              <a:solidFill>
                <a:schemeClr val="tx1"/>
              </a:solidFill>
              <a:latin typeface="+mn-lt"/>
            </a:endParaRPr>
          </a:p>
          <a:p>
            <a:endParaRPr lang="en-US"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11</a:t>
            </a:fld>
            <a:endParaRPr lang="en-US"/>
          </a:p>
        </p:txBody>
      </p:sp>
    </p:spTree>
    <p:extLst>
      <p:ext uri="{BB962C8B-B14F-4D97-AF65-F5344CB8AC3E}">
        <p14:creationId xmlns:p14="http://schemas.microsoft.com/office/powerpoint/2010/main" val="1276669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0" dirty="0">
                <a:latin typeface="+mn-lt"/>
                <a:cs typeface="Arial" panose="020B0604020202020204" pitchFamily="34" charset="0"/>
              </a:rPr>
              <a:t>Speaker Notes:</a:t>
            </a:r>
          </a:p>
          <a:p>
            <a:pPr defTabSz="966506">
              <a:defRPr/>
            </a:pPr>
            <a:endParaRPr lang="en-US" sz="1200" b="1" i="0" dirty="0">
              <a:latin typeface="+mn-lt"/>
              <a:cs typeface="Arial" panose="020B0604020202020204" pitchFamily="34" charset="0"/>
            </a:endParaRPr>
          </a:p>
          <a:p>
            <a:pPr eaLnBrk="1" hangingPunct="1"/>
            <a:r>
              <a:rPr lang="en-US" sz="1200" dirty="0">
                <a:latin typeface="+mn-lt"/>
                <a:cs typeface="Arial" panose="020B0604020202020204" pitchFamily="34" charset="0"/>
              </a:rPr>
              <a:t>Now, the exact amount of your</a:t>
            </a:r>
            <a:r>
              <a:rPr lang="en-US" sz="1200" baseline="0" dirty="0">
                <a:latin typeface="+mn-lt"/>
                <a:cs typeface="Arial" panose="020B0604020202020204" pitchFamily="34" charset="0"/>
              </a:rPr>
              <a:t> monthly </a:t>
            </a:r>
            <a:r>
              <a:rPr lang="en-US" sz="1200" dirty="0">
                <a:latin typeface="+mn-lt"/>
                <a:cs typeface="Arial" panose="020B0604020202020204" pitchFamily="34" charset="0"/>
              </a:rPr>
              <a:t>benefit is based on what you earned during your lifetime. The Social Security Administration will look at your highest 35 years of earnings.</a:t>
            </a:r>
          </a:p>
          <a:p>
            <a:pPr eaLnBrk="1" hangingPunct="1"/>
            <a:endParaRPr lang="en-US" sz="1200" dirty="0">
              <a:latin typeface="+mn-lt"/>
              <a:cs typeface="Arial" panose="020B0604020202020204" pitchFamily="34" charset="0"/>
            </a:endParaRPr>
          </a:p>
          <a:p>
            <a:pPr eaLnBrk="1" hangingPunct="1"/>
            <a:r>
              <a:rPr lang="en-US" sz="1200" dirty="0">
                <a:latin typeface="+mn-lt"/>
                <a:cs typeface="Arial" panose="020B0604020202020204" pitchFamily="34" charset="0"/>
              </a:rPr>
              <a:t>If you’d like to estimate your benefit amount, there are four ways to do that:</a:t>
            </a:r>
          </a:p>
          <a:p>
            <a:pPr defTabSz="483253">
              <a:defRPr/>
            </a:pPr>
            <a:endParaRPr lang="en-US" sz="1200" b="0" dirty="0">
              <a:latin typeface="+mn-lt"/>
              <a:cs typeface="Arial" panose="020B0604020202020204" pitchFamily="34" charset="0"/>
            </a:endParaRPr>
          </a:p>
          <a:p>
            <a:pPr marL="241626" indent="-241626" defTabSz="483253">
              <a:buFont typeface="Arial" panose="020B0604020202020204" pitchFamily="34" charset="0"/>
              <a:buChar char="•"/>
              <a:defRPr/>
            </a:pPr>
            <a:r>
              <a:rPr lang="en-US" sz="1200" b="0" dirty="0">
                <a:latin typeface="+mn-lt"/>
                <a:cs typeface="Arial"/>
              </a:rPr>
              <a:t>Set </a:t>
            </a:r>
            <a:r>
              <a:rPr lang="en-US" sz="1200" b="0" baseline="0" dirty="0">
                <a:latin typeface="+mn-lt"/>
                <a:cs typeface="Arial"/>
              </a:rPr>
              <a:t>up a </a:t>
            </a:r>
            <a:r>
              <a:rPr lang="en-US" sz="1200" b="0" i="1" baseline="0" dirty="0">
                <a:latin typeface="+mn-lt"/>
                <a:cs typeface="Arial"/>
              </a:rPr>
              <a:t>my</a:t>
            </a:r>
            <a:r>
              <a:rPr lang="en-US" sz="1200" b="0" baseline="0" dirty="0">
                <a:latin typeface="+mn-lt"/>
                <a:cs typeface="Arial"/>
              </a:rPr>
              <a:t> Social Security Account or </a:t>
            </a:r>
            <a:r>
              <a:rPr lang="en-US" sz="1200" b="0" i="1" baseline="0" dirty="0" err="1">
                <a:latin typeface="+mn-lt"/>
                <a:cs typeface="Arial"/>
              </a:rPr>
              <a:t>my</a:t>
            </a:r>
            <a:r>
              <a:rPr lang="en-US" sz="1200" b="0" baseline="0" dirty="0" err="1">
                <a:latin typeface="+mn-lt"/>
                <a:cs typeface="Arial"/>
              </a:rPr>
              <a:t>SSA</a:t>
            </a:r>
            <a:r>
              <a:rPr lang="en-US" sz="1200" b="0" baseline="0" dirty="0">
                <a:latin typeface="+mn-lt"/>
                <a:cs typeface="Arial"/>
              </a:rPr>
              <a:t> at </a:t>
            </a:r>
            <a:r>
              <a:rPr lang="en-US" sz="1200" b="0" baseline="0" dirty="0" err="1">
                <a:latin typeface="+mn-lt"/>
                <a:cs typeface="Arial"/>
              </a:rPr>
              <a:t>login.gov</a:t>
            </a:r>
            <a:r>
              <a:rPr lang="en-US" sz="1200" b="0" baseline="0" dirty="0">
                <a:latin typeface="+mn-lt"/>
                <a:cs typeface="Arial"/>
              </a:rPr>
              <a:t>. T</a:t>
            </a:r>
            <a:r>
              <a:rPr lang="en-US" sz="1200" baseline="0" dirty="0">
                <a:latin typeface="+mn-lt"/>
                <a:cs typeface="Arial"/>
              </a:rPr>
              <a:t>his is a great resource – you can see your estimated benefits at various ages, order a new card and review your earnings record.</a:t>
            </a:r>
          </a:p>
          <a:p>
            <a:pPr defTabSz="483253">
              <a:defRPr/>
            </a:pPr>
            <a:endParaRPr lang="en-US" sz="1200" baseline="0" dirty="0">
              <a:latin typeface="+mn-lt"/>
              <a:cs typeface="Arial" panose="020B0604020202020204" pitchFamily="34" charset="0"/>
            </a:endParaRPr>
          </a:p>
          <a:p>
            <a:pPr marL="241626" indent="-241626" defTabSz="483253">
              <a:buFont typeface="Arial" panose="020B0604020202020204" pitchFamily="34" charset="0"/>
              <a:buChar char="•"/>
              <a:defRPr/>
            </a:pPr>
            <a:r>
              <a:rPr lang="en-US" sz="1200" baseline="0" dirty="0">
                <a:latin typeface="+mn-lt"/>
                <a:cs typeface="Arial"/>
              </a:rPr>
              <a:t>Go to </a:t>
            </a:r>
            <a:r>
              <a:rPr lang="en-US" sz="1200" baseline="0" dirty="0" err="1">
                <a:latin typeface="+mn-lt"/>
                <a:cs typeface="Arial"/>
              </a:rPr>
              <a:t>ssa.gov</a:t>
            </a:r>
            <a:r>
              <a:rPr lang="en-US" sz="1200" baseline="0" dirty="0">
                <a:latin typeface="+mn-lt"/>
                <a:cs typeface="Arial"/>
              </a:rPr>
              <a:t> online to print and complete Form 7004 and mail it to the Social Security Administration.</a:t>
            </a:r>
          </a:p>
          <a:p>
            <a:pPr marL="241626" indent="-241626" defTabSz="483253">
              <a:buFont typeface="+mj-lt"/>
              <a:buAutoNum type="arabicPeriod"/>
              <a:defRPr/>
            </a:pPr>
            <a:endParaRPr lang="en-US" sz="1200" dirty="0">
              <a:latin typeface="+mn-lt"/>
              <a:cs typeface="Arial" panose="020B0604020202020204" pitchFamily="34" charset="0"/>
            </a:endParaRPr>
          </a:p>
          <a:p>
            <a:pPr marL="241626" indent="-241626" defTabSz="483253">
              <a:buFont typeface="Arial" panose="020B0604020202020204" pitchFamily="34" charset="0"/>
              <a:buChar char="•"/>
              <a:defRPr/>
            </a:pPr>
            <a:r>
              <a:rPr lang="en-US" sz="1200" dirty="0">
                <a:latin typeface="+mn-lt"/>
                <a:cs typeface="Arial"/>
              </a:rPr>
              <a:t>Call </a:t>
            </a:r>
            <a:r>
              <a:rPr lang="en-US" sz="1200" baseline="0" dirty="0">
                <a:latin typeface="+mn-lt"/>
                <a:cs typeface="Arial"/>
              </a:rPr>
              <a:t>the Social Security Administration at</a:t>
            </a:r>
            <a:r>
              <a:rPr lang="en-US" sz="1200" dirty="0">
                <a:latin typeface="+mn-lt"/>
                <a:cs typeface="Arial"/>
              </a:rPr>
              <a:t> (800) 772-1213</a:t>
            </a:r>
            <a:r>
              <a:rPr lang="en-US" sz="1200" baseline="0" dirty="0">
                <a:latin typeface="+mn-lt"/>
                <a:cs typeface="Arial"/>
              </a:rPr>
              <a:t>.</a:t>
            </a:r>
            <a:r>
              <a:rPr lang="en-US" sz="1200" dirty="0">
                <a:latin typeface="+mn-lt"/>
                <a:cs typeface="Arial"/>
              </a:rPr>
              <a:t> </a:t>
            </a:r>
            <a:endParaRPr lang="en-US" sz="1200" baseline="0" dirty="0">
              <a:latin typeface="+mn-lt"/>
              <a:cs typeface="Arial" panose="020B0604020202020204" pitchFamily="34" charset="0"/>
            </a:endParaRPr>
          </a:p>
          <a:p>
            <a:pPr marL="241626" indent="-241626">
              <a:buFont typeface="+mj-lt"/>
              <a:buAutoNum type="arabicPeriod"/>
            </a:pPr>
            <a:endParaRPr lang="en-US" sz="1200" baseline="0" dirty="0">
              <a:latin typeface="+mn-lt"/>
              <a:cs typeface="Arial" panose="020B0604020202020204" pitchFamily="34" charset="0"/>
            </a:endParaRPr>
          </a:p>
          <a:p>
            <a:pPr marL="241626" indent="-241626">
              <a:buFont typeface="Arial" panose="020B0604020202020204" pitchFamily="34" charset="0"/>
              <a:buChar char="•"/>
            </a:pPr>
            <a:r>
              <a:rPr lang="en-US" sz="1200" dirty="0">
                <a:latin typeface="+mn-lt"/>
                <a:cs typeface="Arial"/>
              </a:rPr>
              <a:t>Once you turn 60, assuming you have not </a:t>
            </a:r>
            <a:r>
              <a:rPr lang="en-US" sz="1200" baseline="0" dirty="0">
                <a:latin typeface="+mn-lt"/>
                <a:cs typeface="Arial"/>
              </a:rPr>
              <a:t>claimed Social Security benefits and haven’t set up a </a:t>
            </a:r>
            <a:r>
              <a:rPr lang="en-US" sz="1200" i="1" baseline="0" dirty="0" err="1">
                <a:latin typeface="+mn-lt"/>
                <a:cs typeface="Arial"/>
              </a:rPr>
              <a:t>my</a:t>
            </a:r>
            <a:r>
              <a:rPr lang="en-US" sz="1200" baseline="0" dirty="0" err="1">
                <a:latin typeface="+mn-lt"/>
                <a:cs typeface="Arial"/>
              </a:rPr>
              <a:t>SSA</a:t>
            </a:r>
            <a:r>
              <a:rPr lang="en-US" sz="1200" baseline="0" dirty="0">
                <a:latin typeface="+mn-lt"/>
                <a:cs typeface="Arial"/>
              </a:rPr>
              <a:t> online, you </a:t>
            </a:r>
            <a:r>
              <a:rPr lang="en-US" sz="1200" dirty="0">
                <a:latin typeface="+mn-lt"/>
                <a:cs typeface="Arial"/>
              </a:rPr>
              <a:t>automatically</a:t>
            </a:r>
            <a:r>
              <a:rPr lang="en-US" sz="1200" baseline="0" dirty="0">
                <a:latin typeface="+mn-lt"/>
                <a:cs typeface="Arial"/>
              </a:rPr>
              <a:t> will receive </a:t>
            </a:r>
            <a:r>
              <a:rPr lang="en-US" sz="1200" dirty="0">
                <a:latin typeface="+mn-lt"/>
                <a:cs typeface="Arial"/>
              </a:rPr>
              <a:t>an annual Social Security statement in the mail. It will come three months before your birthday each year.</a:t>
            </a:r>
          </a:p>
        </p:txBody>
      </p:sp>
      <p:sp>
        <p:nvSpPr>
          <p:cNvPr id="4" name="Slide Number Placeholder 3"/>
          <p:cNvSpPr>
            <a:spLocks noGrp="1"/>
          </p:cNvSpPr>
          <p:nvPr>
            <p:ph type="sldNum" sz="quarter" idx="5"/>
          </p:nvPr>
        </p:nvSpPr>
        <p:spPr/>
        <p:txBody>
          <a:bodyPr/>
          <a:lstStyle/>
          <a:p>
            <a:fld id="{2DFC2A19-6F07-4E52-B22B-BA4A6D1ED55C}" type="slidenum">
              <a:rPr lang="en-US" smtClean="0"/>
              <a:t>12</a:t>
            </a:fld>
            <a:endParaRPr lang="en-US"/>
          </a:p>
        </p:txBody>
      </p:sp>
    </p:spTree>
    <p:extLst>
      <p:ext uri="{BB962C8B-B14F-4D97-AF65-F5344CB8AC3E}">
        <p14:creationId xmlns:p14="http://schemas.microsoft.com/office/powerpoint/2010/main" val="1002094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dirty="0">
                <a:solidFill>
                  <a:schemeClr val="tx1"/>
                </a:solidFill>
                <a:latin typeface="+mn-lt"/>
              </a:rPr>
              <a:t>[Facilitator Notes: </a:t>
            </a:r>
            <a:r>
              <a:rPr lang="en-US" sz="1200" i="1" dirty="0">
                <a:solidFill>
                  <a:schemeClr val="tx1"/>
                </a:solidFill>
                <a:latin typeface="+mn-lt"/>
              </a:rPr>
              <a:t>Do not use this slide if doing a 30-minute presentation. Hide this slide before presenting by right clicking the thumbnail and choosing “Hide Slide” from the list.]</a:t>
            </a:r>
            <a:endParaRPr lang="en-US" sz="1200" dirty="0">
              <a:solidFill>
                <a:schemeClr val="tx1"/>
              </a:solidFill>
              <a:latin typeface="+mn-lt"/>
              <a:cs typeface="Arial" panose="020B0604020202020204" pitchFamily="34" charset="0"/>
            </a:endParaRPr>
          </a:p>
          <a:p>
            <a:endParaRPr lang="en-US" sz="1200" b="1" dirty="0">
              <a:solidFill>
                <a:schemeClr val="tx1"/>
              </a:solidFill>
              <a:latin typeface="+mn-lt"/>
            </a:endParaRPr>
          </a:p>
          <a:p>
            <a:r>
              <a:rPr lang="en-US" sz="1200" b="1" dirty="0">
                <a:solidFill>
                  <a:schemeClr val="tx1"/>
                </a:solidFill>
                <a:latin typeface="+mn-lt"/>
              </a:rPr>
              <a:t>Speaker Notes:</a:t>
            </a:r>
          </a:p>
          <a:p>
            <a:endParaRPr lang="en-US" sz="1200" b="1"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rPr>
              <a:t>One thing to keep in mind when you’re estimating the amount you’ll receive from Social Security is the cost-of-living-adjustment (or COLA). Each year the amount you receive from Social Security will be adjusted to account for inflation.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rPr>
              <a:t>The 2025 Cost of Living Adjustment (COLA) is 2.5%. That works out to about a $50 monthly raise for the average Social Security retirement benefit.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chemeClr val="tx1"/>
              </a:solidFill>
              <a:effectLst/>
              <a:latin typeface="+mn-lt"/>
            </a:endParaRPr>
          </a:p>
          <a:p>
            <a:pPr algn="l"/>
            <a:r>
              <a:rPr lang="en-US" sz="1200" b="0" i="0" dirty="0">
                <a:solidFill>
                  <a:schemeClr val="tx1"/>
                </a:solidFill>
                <a:effectLst/>
                <a:latin typeface="+mn-lt"/>
              </a:rPr>
              <a:t>Additionally, it’s important to consider that currently, there’s a wage cap on taxed earnings. In 2025, that means that workers only pay FICA taxes on the first </a:t>
            </a:r>
            <a:r>
              <a:rPr lang="en-US" sz="1200" spc="-20" dirty="0">
                <a:solidFill>
                  <a:schemeClr val="tx1"/>
                </a:solidFill>
                <a:latin typeface="+mn-lt"/>
                <a:cs typeface="Arial" panose="020B0604020202020204" pitchFamily="34" charset="0"/>
              </a:rPr>
              <a:t>$176,100 </a:t>
            </a:r>
            <a:r>
              <a:rPr lang="en-US" sz="1200" b="0" i="0" dirty="0">
                <a:solidFill>
                  <a:schemeClr val="tx1"/>
                </a:solidFill>
                <a:effectLst/>
                <a:latin typeface="+mn-lt"/>
              </a:rPr>
              <a:t>of their income. If you have more than one job, your employers are required to withhold FICA taxes, so you’ll have to request a refund of any taxes paid on income above the wage cap when you file your taxes.</a:t>
            </a:r>
          </a:p>
          <a:p>
            <a:pPr algn="l"/>
            <a:endParaRPr lang="en-US" sz="1200" dirty="0">
              <a:solidFill>
                <a:schemeClr val="tx1"/>
              </a:solidFill>
              <a:latin typeface="+mn-lt"/>
            </a:endParaRPr>
          </a:p>
          <a:p>
            <a:pPr algn="l"/>
            <a:r>
              <a:rPr lang="en-US" sz="1200" b="1" dirty="0">
                <a:solidFill>
                  <a:schemeClr val="tx1"/>
                </a:solidFill>
                <a:latin typeface="+mn-lt"/>
              </a:rPr>
              <a:t>Sources:</a:t>
            </a:r>
          </a:p>
          <a:p>
            <a:pPr algn="l"/>
            <a:r>
              <a:rPr lang="en-US" sz="1200" dirty="0">
                <a:solidFill>
                  <a:schemeClr val="tx1"/>
                </a:solidFill>
                <a:latin typeface="+mn-lt"/>
              </a:rPr>
              <a:t>https://</a:t>
            </a:r>
            <a:r>
              <a:rPr lang="en-US" sz="1200" dirty="0" err="1">
                <a:solidFill>
                  <a:schemeClr val="tx1"/>
                </a:solidFill>
                <a:latin typeface="+mn-lt"/>
              </a:rPr>
              <a:t>press.aarp.org</a:t>
            </a:r>
            <a:r>
              <a:rPr lang="en-US" sz="1200" dirty="0">
                <a:solidFill>
                  <a:schemeClr val="tx1"/>
                </a:solidFill>
                <a:latin typeface="+mn-lt"/>
              </a:rPr>
              <a:t>/2024-10-10-AARP-Statement-Social-Security-2025-COLA-Announcement</a:t>
            </a:r>
          </a:p>
          <a:p>
            <a:pPr algn="l"/>
            <a:r>
              <a:rPr lang="en-US" sz="1200" dirty="0">
                <a:solidFill>
                  <a:schemeClr val="tx1"/>
                </a:solidFill>
                <a:latin typeface="+mn-lt"/>
              </a:rPr>
              <a:t>https://</a:t>
            </a:r>
            <a:r>
              <a:rPr lang="en-US" sz="1200" dirty="0" err="1">
                <a:solidFill>
                  <a:schemeClr val="tx1"/>
                </a:solidFill>
                <a:latin typeface="+mn-lt"/>
              </a:rPr>
              <a:t>www.aarp.org</a:t>
            </a:r>
            <a:r>
              <a:rPr lang="en-US" sz="1200" dirty="0">
                <a:solidFill>
                  <a:schemeClr val="tx1"/>
                </a:solidFill>
                <a:latin typeface="+mn-lt"/>
              </a:rPr>
              <a:t>/retirement/social-security/info-2024/cola-set-for-2025.html</a:t>
            </a:r>
          </a:p>
          <a:p>
            <a:pPr algn="l"/>
            <a:br>
              <a:rPr lang="en-US" sz="1200" dirty="0">
                <a:solidFill>
                  <a:schemeClr val="tx1"/>
                </a:solidFill>
                <a:latin typeface="+mn-lt"/>
              </a:rPr>
            </a:br>
            <a:r>
              <a:rPr lang="en-US" sz="1200" b="0" i="0" dirty="0">
                <a:solidFill>
                  <a:schemeClr val="tx1"/>
                </a:solidFill>
                <a:effectLst/>
                <a:latin typeface="+mn-lt"/>
              </a:rPr>
              <a:t> </a:t>
            </a:r>
            <a:endParaRPr lang="en-US" sz="1200" b="0" dirty="0">
              <a:solidFill>
                <a:schemeClr val="tx1"/>
              </a:solidFill>
              <a:highlight>
                <a:srgbClr val="FFFF00"/>
              </a:highlight>
              <a:latin typeface="+mn-lt"/>
            </a:endParaRPr>
          </a:p>
          <a:p>
            <a:endParaRPr lang="en-US" sz="1200" b="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13</a:t>
            </a:fld>
            <a:endParaRPr lang="en-US"/>
          </a:p>
        </p:txBody>
      </p:sp>
    </p:spTree>
    <p:extLst>
      <p:ext uri="{BB962C8B-B14F-4D97-AF65-F5344CB8AC3E}">
        <p14:creationId xmlns:p14="http://schemas.microsoft.com/office/powerpoint/2010/main" val="232770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0" dirty="0">
                <a:solidFill>
                  <a:schemeClr val="tx1"/>
                </a:solidFill>
                <a:latin typeface="+mn-lt"/>
                <a:cs typeface="Arial" panose="020B0604020202020204" pitchFamily="34" charset="0"/>
              </a:rPr>
              <a:t>Speaker Notes:</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Before</a:t>
            </a:r>
            <a:r>
              <a:rPr lang="en-US" sz="1200" baseline="0" dirty="0">
                <a:solidFill>
                  <a:schemeClr val="tx1"/>
                </a:solidFill>
                <a:latin typeface="+mn-lt"/>
                <a:cs typeface="Arial" panose="020B0604020202020204" pitchFamily="34" charset="0"/>
              </a:rPr>
              <a:t> you claim your Social Security benefits before your Full Retirement Age, you should know that if you claim early and continue to work, you may be subject to what’s known as the Social Security earnings limit. </a:t>
            </a:r>
            <a:r>
              <a:rPr lang="en-US" sz="1200" dirty="0">
                <a:solidFill>
                  <a:schemeClr val="tx1"/>
                </a:solidFill>
                <a:latin typeface="+mn-lt"/>
                <a:cs typeface="Arial" panose="020B0604020202020204" pitchFamily="34" charset="0"/>
              </a:rPr>
              <a:t>In this scenario, your benefits will be</a:t>
            </a:r>
            <a:r>
              <a:rPr lang="en-US" sz="1200" baseline="0" dirty="0">
                <a:solidFill>
                  <a:schemeClr val="tx1"/>
                </a:solidFill>
                <a:latin typeface="+mn-lt"/>
                <a:cs typeface="Arial" panose="020B0604020202020204" pitchFamily="34" charset="0"/>
              </a:rPr>
              <a:t> reduced by $1</a:t>
            </a:r>
            <a:r>
              <a:rPr lang="en-US" sz="1200" dirty="0">
                <a:solidFill>
                  <a:schemeClr val="tx1"/>
                </a:solidFill>
                <a:latin typeface="+mn-lt"/>
                <a:cs typeface="Arial" panose="020B0604020202020204" pitchFamily="34" charset="0"/>
              </a:rPr>
              <a:t> for every $2 you earn above the earnings limit.</a:t>
            </a:r>
          </a:p>
          <a:p>
            <a:pPr defTabSz="966506">
              <a:defRPr/>
            </a:pPr>
            <a:endParaRPr lang="en-US" sz="1200" dirty="0">
              <a:solidFill>
                <a:schemeClr val="tx1"/>
              </a:solidFill>
              <a:latin typeface="+mn-lt"/>
              <a:cs typeface="Arial" panose="020B0604020202020204" pitchFamily="34" charset="0"/>
            </a:endParaRPr>
          </a:p>
          <a:p>
            <a:pPr eaLnBrk="1" hangingPunct="1"/>
            <a:r>
              <a:rPr lang="en-US" sz="1200" dirty="0">
                <a:solidFill>
                  <a:schemeClr val="tx1"/>
                </a:solidFill>
                <a:latin typeface="+mn-lt"/>
                <a:cs typeface="Arial" panose="020B0604020202020204" pitchFamily="34" charset="0"/>
              </a:rPr>
              <a:t>This increases in the months prior to reaching your Full Retirement Age. Your benefits are reduced by</a:t>
            </a:r>
            <a:r>
              <a:rPr lang="en-US" sz="1200" baseline="0" dirty="0">
                <a:solidFill>
                  <a:schemeClr val="tx1"/>
                </a:solidFill>
                <a:latin typeface="+mn-lt"/>
                <a:cs typeface="Arial" panose="020B0604020202020204" pitchFamily="34" charset="0"/>
              </a:rPr>
              <a:t> $1 </a:t>
            </a:r>
            <a:r>
              <a:rPr lang="en-US" sz="1200" dirty="0">
                <a:solidFill>
                  <a:schemeClr val="tx1"/>
                </a:solidFill>
                <a:latin typeface="+mn-lt"/>
                <a:cs typeface="Arial" panose="020B0604020202020204" pitchFamily="34" charset="0"/>
              </a:rPr>
              <a:t>for every $3 you earn above that limit.</a:t>
            </a:r>
            <a:r>
              <a:rPr lang="en-US" sz="1200" baseline="0" dirty="0">
                <a:solidFill>
                  <a:schemeClr val="tx1"/>
                </a:solidFill>
                <a:latin typeface="+mn-lt"/>
                <a:cs typeface="Arial" panose="020B0604020202020204" pitchFamily="34" charset="0"/>
              </a:rPr>
              <a:t> Note that these limits adjust with inflation yearly.</a:t>
            </a:r>
          </a:p>
          <a:p>
            <a:pPr eaLnBrk="1" hangingPunct="1"/>
            <a:endParaRPr lang="en-US" sz="1200" baseline="0"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chemeClr val="tx1"/>
                </a:solidFill>
                <a:effectLst/>
                <a:latin typeface="+mn-lt"/>
              </a:rPr>
              <a:t>In 2025, the Social Security earnings limit is $23,400 for people who have not reached Full Retirement Age, and $62,160 for people who will reach Full Retirement Age during the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effectLst/>
                <a:latin typeface="+mn-lt"/>
              </a:rPr>
              <a:t> </a:t>
            </a:r>
            <a:endParaRPr lang="en-US" sz="1200" baseline="0" dirty="0">
              <a:solidFill>
                <a:schemeClr val="tx1"/>
              </a:solidFill>
              <a:latin typeface="+mn-lt"/>
              <a:cs typeface="Arial" panose="020B0604020202020204" pitchFamily="34" charset="0"/>
            </a:endParaRPr>
          </a:p>
          <a:p>
            <a:pPr eaLnBrk="1" hangingPunct="1"/>
            <a:r>
              <a:rPr lang="en-US" sz="1200" dirty="0">
                <a:solidFill>
                  <a:schemeClr val="tx1"/>
                </a:solidFill>
                <a:latin typeface="+mn-lt"/>
                <a:cs typeface="Arial" panose="020B0604020202020204" pitchFamily="34" charset="0"/>
              </a:rPr>
              <a:t>However, if you claim your Social Security retirement benefit before your Full Retirement Age and keep working</a:t>
            </a:r>
            <a:r>
              <a:rPr lang="en-US" sz="1200" baseline="0" dirty="0">
                <a:solidFill>
                  <a:schemeClr val="tx1"/>
                </a:solidFill>
                <a:latin typeface="+mn-lt"/>
                <a:cs typeface="Arial" panose="020B0604020202020204" pitchFamily="34" charset="0"/>
              </a:rPr>
              <a:t>,</a:t>
            </a:r>
            <a:r>
              <a:rPr lang="en-US" sz="1200" dirty="0">
                <a:solidFill>
                  <a:schemeClr val="tx1"/>
                </a:solidFill>
                <a:latin typeface="+mn-lt"/>
                <a:cs typeface="Arial" panose="020B0604020202020204" pitchFamily="34" charset="0"/>
              </a:rPr>
              <a:t> some of the benefit reduction will</a:t>
            </a:r>
            <a:r>
              <a:rPr lang="en-US" sz="1200" baseline="0" dirty="0">
                <a:solidFill>
                  <a:schemeClr val="tx1"/>
                </a:solidFill>
                <a:latin typeface="+mn-lt"/>
                <a:cs typeface="Arial" panose="020B0604020202020204" pitchFamily="34" charset="0"/>
              </a:rPr>
              <a:t> be</a:t>
            </a:r>
            <a:r>
              <a:rPr lang="en-US" sz="1200" dirty="0">
                <a:solidFill>
                  <a:schemeClr val="tx1"/>
                </a:solidFill>
                <a:latin typeface="+mn-lt"/>
                <a:cs typeface="Arial" panose="020B0604020202020204" pitchFamily="34" charset="0"/>
              </a:rPr>
              <a:t> returned to you in the form of higher monthly payments after you reach Full Retirement Age.  </a:t>
            </a:r>
          </a:p>
          <a:p>
            <a:pPr eaLnBrk="1" hangingPunct="1"/>
            <a:endParaRPr lang="en-US" sz="1200" dirty="0">
              <a:solidFill>
                <a:schemeClr val="tx1"/>
              </a:solidFill>
              <a:latin typeface="+mn-lt"/>
              <a:cs typeface="Arial" panose="020B0604020202020204" pitchFamily="34" charset="0"/>
            </a:endParaRPr>
          </a:p>
          <a:p>
            <a:pPr defTabSz="966506">
              <a:defRPr/>
            </a:pPr>
            <a:r>
              <a:rPr lang="en-US" sz="1200" baseline="0" dirty="0">
                <a:solidFill>
                  <a:schemeClr val="tx1"/>
                </a:solidFill>
                <a:latin typeface="+mn-lt"/>
                <a:cs typeface="Arial" panose="020B0604020202020204" pitchFamily="34" charset="0"/>
              </a:rPr>
              <a:t>Once you reach your Full Retirement Age, the earnings limit no longer applies. </a:t>
            </a:r>
          </a:p>
          <a:p>
            <a:pPr eaLnBrk="1" hangingPunct="1"/>
            <a:endParaRPr lang="en-US" sz="1200" dirty="0">
              <a:solidFill>
                <a:schemeClr val="tx1"/>
              </a:solidFill>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14</a:t>
            </a:fld>
            <a:endParaRPr lang="en-US"/>
          </a:p>
        </p:txBody>
      </p:sp>
    </p:spTree>
    <p:extLst>
      <p:ext uri="{BB962C8B-B14F-4D97-AF65-F5344CB8AC3E}">
        <p14:creationId xmlns:p14="http://schemas.microsoft.com/office/powerpoint/2010/main" val="2212637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lnSpc>
                <a:spcPct val="80000"/>
              </a:lnSpc>
              <a:defRPr/>
            </a:pPr>
            <a:r>
              <a:rPr lang="en-US" sz="1200" b="1" dirty="0">
                <a:solidFill>
                  <a:schemeClr val="tx1"/>
                </a:solidFill>
                <a:latin typeface="+mn-lt"/>
                <a:cs typeface="Arial" panose="020B0604020202020204" pitchFamily="34" charset="0"/>
              </a:rPr>
              <a:t>Speaker Notes:</a:t>
            </a:r>
          </a:p>
          <a:p>
            <a:pPr defTabSz="966506">
              <a:lnSpc>
                <a:spcPct val="80000"/>
              </a:lnSpc>
              <a:defRPr/>
            </a:pPr>
            <a:endParaRPr lang="en-US" sz="1200" dirty="0">
              <a:solidFill>
                <a:schemeClr val="tx1"/>
              </a:solidFill>
              <a:latin typeface="+mn-lt"/>
              <a:cs typeface="Arial" panose="020B0604020202020204" pitchFamily="34" charset="0"/>
            </a:endParaRPr>
          </a:p>
          <a:p>
            <a:pPr defTabSz="966506">
              <a:defRPr/>
            </a:pPr>
            <a:r>
              <a:rPr lang="en-US" sz="1200" baseline="0" dirty="0">
                <a:solidFill>
                  <a:schemeClr val="tx1"/>
                </a:solidFill>
                <a:latin typeface="+mn-lt"/>
                <a:cs typeface="Arial" panose="020B0604020202020204" pitchFamily="34" charset="0"/>
              </a:rPr>
              <a:t>OK, now let’s move on to Social Security family benefits. </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When you start receiving Social Security retirement benefits, some members of your family also may qualify to receive benefits on your record. With certain requirements, children, spouses, ex-spouses and survivors can receive Social Security benefits on your record. We'll dive into each group now.</a:t>
            </a:r>
          </a:p>
          <a:p>
            <a:endParaRPr lang="en-US" sz="1200" dirty="0">
              <a:solidFill>
                <a:schemeClr val="tx1"/>
              </a:solidFill>
              <a:latin typeface="+mn-lt"/>
              <a:cs typeface="Arial" panose="020B0604020202020204" pitchFamily="34" charset="0"/>
            </a:endParaRPr>
          </a:p>
          <a:p>
            <a:endParaRPr lang="en-US" sz="1200" dirty="0">
              <a:solidFill>
                <a:schemeClr val="tx1"/>
              </a:solidFill>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15</a:t>
            </a:fld>
            <a:endParaRPr lang="en-US"/>
          </a:p>
        </p:txBody>
      </p:sp>
    </p:spTree>
    <p:extLst>
      <p:ext uri="{BB962C8B-B14F-4D97-AF65-F5344CB8AC3E}">
        <p14:creationId xmlns:p14="http://schemas.microsoft.com/office/powerpoint/2010/main" val="3021418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lnSpc>
                <a:spcPct val="80000"/>
              </a:lnSpc>
              <a:defRPr/>
            </a:pPr>
            <a:r>
              <a:rPr lang="en-US" sz="1200" b="1" i="0" dirty="0">
                <a:solidFill>
                  <a:schemeClr val="tx1"/>
                </a:solidFill>
                <a:latin typeface="+mn-lt"/>
                <a:cs typeface="Arial" panose="020B0604020202020204" pitchFamily="34" charset="0"/>
              </a:rPr>
              <a:t>Speaker Notes:</a:t>
            </a:r>
          </a:p>
          <a:p>
            <a:pPr defTabSz="966506">
              <a:lnSpc>
                <a:spcPct val="80000"/>
              </a:lnSpc>
              <a:defRPr/>
            </a:pPr>
            <a:endParaRPr lang="en-US" sz="1200" b="1" dirty="0">
              <a:solidFill>
                <a:schemeClr val="tx1"/>
              </a:solidFill>
              <a:latin typeface="+mn-lt"/>
              <a:cs typeface="Arial" panose="020B0604020202020204" pitchFamily="34" charset="0"/>
            </a:endParaRPr>
          </a:p>
          <a:p>
            <a:r>
              <a:rPr lang="en-US" sz="1200" dirty="0">
                <a:solidFill>
                  <a:schemeClr val="tx1"/>
                </a:solidFill>
                <a:latin typeface="+mn-lt"/>
                <a:cs typeface="Arial" panose="020B0604020202020204" pitchFamily="34" charset="0"/>
              </a:rPr>
              <a:t>The children of retired, deceased and disabled workers can in many cases collect Social Security benefits on a parent's earnings record.</a:t>
            </a:r>
          </a:p>
          <a:p>
            <a:endParaRPr lang="en-US" sz="1200" dirty="0">
              <a:solidFill>
                <a:schemeClr val="tx1"/>
              </a:solidFill>
              <a:latin typeface="+mn-lt"/>
              <a:cs typeface="Arial" panose="020B0604020202020204" pitchFamily="34" charset="0"/>
            </a:endParaRPr>
          </a:p>
          <a:p>
            <a:r>
              <a:rPr lang="en-US" sz="1200" dirty="0">
                <a:solidFill>
                  <a:schemeClr val="tx1"/>
                </a:solidFill>
                <a:latin typeface="+mn-lt"/>
                <a:cs typeface="Arial" panose="020B0604020202020204" pitchFamily="34" charset="0"/>
              </a:rPr>
              <a:t>Social Security incorporates children into its benefit structure to help retirees with younger children provide for their families and as a form of insurance when a parent dies or can't work because of disability.</a:t>
            </a:r>
          </a:p>
          <a:p>
            <a:pPr eaLnBrk="1" hangingPunct="1">
              <a:lnSpc>
                <a:spcPct val="80000"/>
              </a:lnSpc>
            </a:pPr>
            <a:endParaRPr lang="en-US" sz="1200" dirty="0">
              <a:solidFill>
                <a:schemeClr val="tx1"/>
              </a:solidFill>
              <a:latin typeface="+mn-lt"/>
              <a:cs typeface="Arial" panose="020B0604020202020204" pitchFamily="34" charset="0"/>
            </a:endParaRPr>
          </a:p>
          <a:p>
            <a:pPr eaLnBrk="1" hangingPunct="1">
              <a:lnSpc>
                <a:spcPct val="80000"/>
              </a:lnSpc>
            </a:pPr>
            <a:r>
              <a:rPr lang="en-US" sz="1200" dirty="0">
                <a:solidFill>
                  <a:schemeClr val="tx1"/>
                </a:solidFill>
                <a:latin typeface="+mn-lt"/>
                <a:cs typeface="Arial" panose="020B0604020202020204" pitchFamily="34" charset="0"/>
              </a:rPr>
              <a:t>Within your family, each qualified child may receive a monthly payment up to half of your Full Retirement Age benefit. </a:t>
            </a:r>
          </a:p>
          <a:p>
            <a:pPr eaLnBrk="1" hangingPunct="1">
              <a:lnSpc>
                <a:spcPct val="80000"/>
              </a:lnSpc>
            </a:pPr>
            <a:endParaRPr lang="en-US" sz="1200" dirty="0">
              <a:solidFill>
                <a:schemeClr val="tx1"/>
              </a:solidFill>
              <a:latin typeface="+mn-lt"/>
              <a:cs typeface="Arial" panose="020B0604020202020204" pitchFamily="34" charset="0"/>
            </a:endParaRPr>
          </a:p>
          <a:p>
            <a:pPr eaLnBrk="1" hangingPunct="1">
              <a:lnSpc>
                <a:spcPct val="80000"/>
              </a:lnSpc>
            </a:pPr>
            <a:r>
              <a:rPr lang="en-US" sz="1200" dirty="0">
                <a:solidFill>
                  <a:schemeClr val="tx1"/>
                </a:solidFill>
                <a:latin typeface="+mn-lt"/>
                <a:cs typeface="Arial" panose="020B0604020202020204" pitchFamily="34" charset="0"/>
              </a:rPr>
              <a:t>To be eligible, your child must meet certain qualifications. For your children to receive benefits, they must be:</a:t>
            </a:r>
          </a:p>
          <a:p>
            <a:pPr lvl="1" eaLnBrk="1" hangingPunct="1">
              <a:lnSpc>
                <a:spcPct val="80000"/>
              </a:lnSpc>
            </a:pPr>
            <a:r>
              <a:rPr lang="en-US" sz="1200" dirty="0">
                <a:solidFill>
                  <a:schemeClr val="tx1"/>
                </a:solidFill>
                <a:latin typeface="+mn-lt"/>
                <a:cs typeface="Arial" panose="020B0604020202020204" pitchFamily="34" charset="0"/>
              </a:rPr>
              <a:t>• Unmarried; and under age 18; or</a:t>
            </a:r>
          </a:p>
          <a:p>
            <a:pPr lvl="1" eaLnBrk="1" hangingPunct="1">
              <a:lnSpc>
                <a:spcPct val="80000"/>
              </a:lnSpc>
            </a:pPr>
            <a:r>
              <a:rPr lang="en-US" sz="1200" dirty="0">
                <a:solidFill>
                  <a:schemeClr val="tx1"/>
                </a:solidFill>
                <a:latin typeface="+mn-lt"/>
                <a:cs typeface="Arial" panose="020B0604020202020204" pitchFamily="34" charset="0"/>
              </a:rPr>
              <a:t>• 18-19 years old and a full-time student (no higher than grade 12); or </a:t>
            </a:r>
          </a:p>
          <a:p>
            <a:pPr lvl="1" eaLnBrk="1" hangingPunct="1">
              <a:lnSpc>
                <a:spcPct val="80000"/>
              </a:lnSpc>
            </a:pPr>
            <a:r>
              <a:rPr lang="en-US" sz="1200" dirty="0">
                <a:solidFill>
                  <a:schemeClr val="tx1"/>
                </a:solidFill>
                <a:latin typeface="+mn-lt"/>
                <a:cs typeface="Arial" panose="020B0604020202020204" pitchFamily="34" charset="0"/>
              </a:rPr>
              <a:t>• 18 or older and disabled from a disability that started before age 22.</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However, there is a limit to the amount Social Security can pay your family members </a:t>
            </a:r>
            <a:r>
              <a:rPr lang="en-US" sz="1200" b="1" dirty="0">
                <a:solidFill>
                  <a:schemeClr val="tx1"/>
                </a:solidFill>
                <a:latin typeface="+mn-lt"/>
                <a:cs typeface="Arial" panose="020B0604020202020204" pitchFamily="34" charset="0"/>
              </a:rPr>
              <a:t>– children and others</a:t>
            </a:r>
            <a:r>
              <a:rPr lang="en-US" sz="1200" dirty="0">
                <a:solidFill>
                  <a:schemeClr val="tx1"/>
                </a:solidFill>
                <a:latin typeface="+mn-lt"/>
                <a:cs typeface="Arial" panose="020B0604020202020204" pitchFamily="34" charset="0"/>
              </a:rPr>
              <a:t>. The total depends on your benefit amount and the number of family members who also qualify on your record. The total varies, but generally the total amount your family can receive is about 150% to 180% of your Full Retirement Age benefit. </a:t>
            </a:r>
          </a:p>
        </p:txBody>
      </p:sp>
      <p:sp>
        <p:nvSpPr>
          <p:cNvPr id="4" name="Slide Number Placeholder 3"/>
          <p:cNvSpPr>
            <a:spLocks noGrp="1"/>
          </p:cNvSpPr>
          <p:nvPr>
            <p:ph type="sldNum" sz="quarter" idx="5"/>
          </p:nvPr>
        </p:nvSpPr>
        <p:spPr/>
        <p:txBody>
          <a:bodyPr/>
          <a:lstStyle/>
          <a:p>
            <a:fld id="{2DFC2A19-6F07-4E52-B22B-BA4A6D1ED55C}" type="slidenum">
              <a:rPr lang="en-US" smtClean="0"/>
              <a:t>16</a:t>
            </a:fld>
            <a:endParaRPr lang="en-US"/>
          </a:p>
        </p:txBody>
      </p:sp>
    </p:spTree>
    <p:extLst>
      <p:ext uri="{BB962C8B-B14F-4D97-AF65-F5344CB8AC3E}">
        <p14:creationId xmlns:p14="http://schemas.microsoft.com/office/powerpoint/2010/main" val="3949166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tx1"/>
                </a:solidFill>
                <a:latin typeface="+mn-lt"/>
              </a:rPr>
              <a:t>Speaker Notes:</a:t>
            </a:r>
          </a:p>
          <a:p>
            <a:endParaRPr lang="en-US" sz="120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chemeClr val="tx1"/>
                </a:solidFill>
                <a:effectLst/>
                <a:latin typeface="+mn-lt"/>
              </a:rPr>
              <a:t>If you don’t have enough Social Security credits to get benefits on your own work record, or your own retirement benefit is small, you may be able to receive benefits as a spouse. </a:t>
            </a:r>
            <a:r>
              <a:rPr lang="en-US" sz="1200" dirty="0">
                <a:solidFill>
                  <a:schemeClr val="tx1"/>
                </a:solidFill>
                <a:latin typeface="+mn-lt"/>
                <a:cs typeface="Arial" panose="020B0604020202020204" pitchFamily="34" charset="0"/>
              </a:rPr>
              <a:t>It is important to note that if both you and your spouse are eligible for Social Security benefits on your own records, Social Security will pay you whichever amount is higher, but not both.</a:t>
            </a:r>
            <a:endParaRPr lang="en-US" sz="1200" b="0" i="0" dirty="0">
              <a:solidFill>
                <a:schemeClr val="tx1"/>
              </a:solidFill>
              <a:effectLst/>
              <a:latin typeface="+mn-lt"/>
            </a:endParaRPr>
          </a:p>
          <a:p>
            <a:pPr algn="l"/>
            <a:endParaRPr lang="en-US" sz="1200" b="0" i="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Eligible spouses can generally receive 50% of the eligible worker’s Full Retirement Age benefit amount. Even if the working spouse collects early, the spousal benefit will </a:t>
            </a:r>
            <a:r>
              <a:rPr lang="en-US" sz="1200" spc="-22" dirty="0">
                <a:solidFill>
                  <a:schemeClr val="tx1"/>
                </a:solidFill>
                <a:latin typeface="+mn-lt"/>
                <a:cs typeface="Arial" panose="020B0604020202020204" pitchFamily="34" charset="0"/>
              </a:rPr>
              <a:t>still be a portion of the worker’s Full Retirement Age benefit.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spc="-22"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If you are still married, you only can file for a spousal benefit once the working spouse has filed for their own benefit. </a:t>
            </a:r>
            <a:endParaRPr lang="en-US" sz="1200" spc="-22" dirty="0">
              <a:solidFill>
                <a:schemeClr val="tx1"/>
              </a:solidFill>
              <a:latin typeface="+mn-lt"/>
              <a:cs typeface="Arial" panose="020B0604020202020204" pitchFamily="34" charset="0"/>
            </a:endParaRPr>
          </a:p>
          <a:p>
            <a:pPr algn="l"/>
            <a:endParaRPr lang="en-US" sz="1200" b="0" i="0" dirty="0">
              <a:solidFill>
                <a:schemeClr val="tx1"/>
              </a:solidFill>
              <a:effectLst/>
              <a:latin typeface="+mn-lt"/>
            </a:endParaRPr>
          </a:p>
          <a:p>
            <a:pPr algn="l"/>
            <a:r>
              <a:rPr lang="en-US" sz="1200" b="0" i="0" dirty="0">
                <a:solidFill>
                  <a:schemeClr val="tx1"/>
                </a:solidFill>
                <a:effectLst/>
                <a:latin typeface="+mn-lt"/>
              </a:rPr>
              <a:t>You must be married for at least one year and 62 years of age or older. Or you can claim at any age if you are caring for a child under 16 or a child with a disability who is entitled to benefits on your spouse’s record.</a:t>
            </a:r>
          </a:p>
          <a:p>
            <a:pPr algn="l"/>
            <a:endParaRPr lang="en-US" sz="1200" b="0" i="0" dirty="0">
              <a:solidFill>
                <a:schemeClr val="tx1"/>
              </a:solidFill>
              <a:effectLst/>
              <a:latin typeface="+mn-lt"/>
            </a:endParaRPr>
          </a:p>
          <a:p>
            <a:endParaRPr lang="en-US" sz="1200" dirty="0">
              <a:solidFill>
                <a:schemeClr val="tx1"/>
              </a:solidFill>
              <a:latin typeface="+mn-lt"/>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17</a:t>
            </a:fld>
            <a:endParaRPr lang="en-US"/>
          </a:p>
        </p:txBody>
      </p:sp>
    </p:spTree>
    <p:extLst>
      <p:ext uri="{BB962C8B-B14F-4D97-AF65-F5344CB8AC3E}">
        <p14:creationId xmlns:p14="http://schemas.microsoft.com/office/powerpoint/2010/main" val="1745694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0" dirty="0">
                <a:solidFill>
                  <a:schemeClr val="tx1"/>
                </a:solidFill>
                <a:latin typeface="+mn-lt"/>
                <a:cs typeface="Arial" panose="020B0604020202020204" pitchFamily="34" charset="0"/>
              </a:rPr>
              <a:t>Speaker Notes:</a:t>
            </a:r>
          </a:p>
          <a:p>
            <a:pPr defTabSz="966506">
              <a:defRPr/>
            </a:pPr>
            <a:endParaRPr lang="en-US" sz="1200" b="1" i="0"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Ex-spouses </a:t>
            </a:r>
            <a:r>
              <a:rPr lang="en-US" sz="1200" baseline="0" dirty="0">
                <a:solidFill>
                  <a:schemeClr val="tx1"/>
                </a:solidFill>
                <a:latin typeface="+mn-lt"/>
                <a:cs typeface="Arial" panose="020B0604020202020204" pitchFamily="34" charset="0"/>
              </a:rPr>
              <a:t>can receive benefits on their former spouse’s record if they were married at least 10 years. </a:t>
            </a:r>
            <a:r>
              <a:rPr lang="en-US" sz="1200" dirty="0">
                <a:solidFill>
                  <a:schemeClr val="tx1"/>
                </a:solidFill>
                <a:latin typeface="+mn-lt"/>
                <a:cs typeface="Arial" panose="020B0604020202020204" pitchFamily="34" charset="0"/>
              </a:rPr>
              <a:t>Ex-spouses may file at any time, beginning at age 62, and do not need to notify their ex-spouse that they have filed.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Eligible ex-spouses can generally receive 50% of the eligible worker’s Full Retirement Age benefit amount. Even if the former spouse collects early, the ex-spouse’s benefit will </a:t>
            </a:r>
            <a:r>
              <a:rPr lang="en-US" sz="1200" spc="-22" dirty="0">
                <a:solidFill>
                  <a:schemeClr val="tx1"/>
                </a:solidFill>
                <a:latin typeface="+mn-lt"/>
                <a:cs typeface="Arial" panose="020B0604020202020204" pitchFamily="34" charset="0"/>
              </a:rPr>
              <a:t>still be a portion of the the former spouse’s Full Retirement Age benefit. Ex-spousal benefits do not affect the ex-spouse’s benefit amount, nor the benefit amount of a new spouse, should they have remarried.</a:t>
            </a:r>
          </a:p>
          <a:p>
            <a:endParaRPr lang="en-US" sz="1200" baseline="0" dirty="0">
              <a:solidFill>
                <a:schemeClr val="tx1"/>
              </a:solidFill>
              <a:latin typeface="+mn-lt"/>
              <a:cs typeface="Arial" panose="020B0604020202020204" pitchFamily="34" charset="0"/>
            </a:endParaRPr>
          </a:p>
          <a:p>
            <a:r>
              <a:rPr lang="en-US" sz="1200" baseline="0" dirty="0">
                <a:solidFill>
                  <a:schemeClr val="tx1"/>
                </a:solidFill>
                <a:latin typeface="+mn-lt"/>
                <a:cs typeface="Arial" panose="020B0604020202020204" pitchFamily="34" charset="0"/>
              </a:rPr>
              <a:t>You’re eligible to receive benefits on an ex-spouse’s record if:</a:t>
            </a:r>
          </a:p>
          <a:p>
            <a:endParaRPr lang="en-US" sz="1200" baseline="0" dirty="0">
              <a:solidFill>
                <a:schemeClr val="tx1"/>
              </a:solidFill>
              <a:latin typeface="+mn-lt"/>
              <a:cs typeface="Arial" panose="020B0604020202020204" pitchFamily="34" charset="0"/>
            </a:endParaRPr>
          </a:p>
          <a:p>
            <a:pPr marL="181220" indent="-181220" defTabSz="966506">
              <a:buFont typeface="Arial" panose="020B0604020202020204" pitchFamily="34" charset="0"/>
              <a:buChar char="•"/>
              <a:defRPr/>
            </a:pPr>
            <a:r>
              <a:rPr lang="en-US" sz="1200" baseline="0" dirty="0">
                <a:solidFill>
                  <a:schemeClr val="tx1"/>
                </a:solidFill>
                <a:latin typeface="+mn-lt"/>
                <a:cs typeface="Arial" panose="020B0604020202020204" pitchFamily="34" charset="0"/>
              </a:rPr>
              <a:t>Your ex-spouse receives his or her own Social Security benefits or is at least 62, and you have been divorced at least two years.</a:t>
            </a:r>
          </a:p>
          <a:p>
            <a:pPr marL="181220" indent="-181220" defTabSz="966506">
              <a:buFont typeface="Arial" panose="020B0604020202020204" pitchFamily="34" charset="0"/>
              <a:buChar char="•"/>
              <a:defRPr/>
            </a:pPr>
            <a:r>
              <a:rPr lang="en-US" sz="1200" baseline="0" dirty="0">
                <a:solidFill>
                  <a:schemeClr val="tx1"/>
                </a:solidFill>
                <a:latin typeface="+mn-lt"/>
                <a:cs typeface="Arial" panose="020B0604020202020204" pitchFamily="34" charset="0"/>
              </a:rPr>
              <a:t>You are at least 62.</a:t>
            </a:r>
          </a:p>
          <a:p>
            <a:pPr marL="181220" indent="-181220">
              <a:buFont typeface="Arial" panose="020B0604020202020204" pitchFamily="34" charset="0"/>
              <a:buChar char="•"/>
            </a:pPr>
            <a:r>
              <a:rPr lang="en-US" sz="1200" baseline="0" dirty="0">
                <a:solidFill>
                  <a:schemeClr val="tx1"/>
                </a:solidFill>
                <a:latin typeface="+mn-lt"/>
                <a:cs typeface="Arial" panose="020B0604020202020204" pitchFamily="34" charset="0"/>
              </a:rPr>
              <a:t>You have not remarried.</a:t>
            </a:r>
          </a:p>
          <a:p>
            <a:endParaRPr lang="en-US" sz="120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It is important to note that if both you and your ex-spouse are eligible for Social Security benefits on your own records, Social Security will pay you whichever amount is higher, but not both.</a:t>
            </a:r>
            <a:endParaRPr lang="en-US" sz="1200" b="0" i="0" dirty="0">
              <a:solidFill>
                <a:schemeClr val="tx1"/>
              </a:solidFill>
              <a:effectLst/>
              <a:latin typeface="+mn-lt"/>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18</a:t>
            </a:fld>
            <a:endParaRPr lang="en-US"/>
          </a:p>
        </p:txBody>
      </p:sp>
    </p:spTree>
    <p:extLst>
      <p:ext uri="{BB962C8B-B14F-4D97-AF65-F5344CB8AC3E}">
        <p14:creationId xmlns:p14="http://schemas.microsoft.com/office/powerpoint/2010/main" val="2695157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0" dirty="0">
                <a:solidFill>
                  <a:schemeClr val="tx1"/>
                </a:solidFill>
                <a:latin typeface="+mn-lt"/>
                <a:cs typeface="Arial" panose="020B0604020202020204" pitchFamily="34" charset="0"/>
              </a:rPr>
              <a:t>Speaker Notes:</a:t>
            </a:r>
          </a:p>
          <a:p>
            <a:pPr defTabSz="966506">
              <a:defRPr/>
            </a:pPr>
            <a:endParaRPr lang="en-US" sz="1200" i="0" dirty="0">
              <a:solidFill>
                <a:schemeClr val="tx1"/>
              </a:solidFill>
              <a:latin typeface="+mn-lt"/>
              <a:cs typeface="Arial" panose="020B0604020202020204" pitchFamily="34" charset="0"/>
            </a:endParaRPr>
          </a:p>
          <a:p>
            <a:r>
              <a:rPr lang="en-US" sz="1200" dirty="0">
                <a:solidFill>
                  <a:schemeClr val="tx1"/>
                </a:solidFill>
                <a:latin typeface="+mn-lt"/>
                <a:cs typeface="Arial" panose="020B0604020202020204" pitchFamily="34" charset="0"/>
              </a:rPr>
              <a:t>In</a:t>
            </a:r>
            <a:r>
              <a:rPr lang="en-US" sz="1200" baseline="0" dirty="0">
                <a:solidFill>
                  <a:schemeClr val="tx1"/>
                </a:solidFill>
                <a:latin typeface="+mn-lt"/>
                <a:cs typeface="Arial" panose="020B0604020202020204" pitchFamily="34" charset="0"/>
              </a:rPr>
              <a:t> the event of a spouse’s death, a survivor can collect up to 100% of the benefit the deceased was receiving or would have received in the future. This will include any delayed retirement credits the deceased earned. However, it will also include a reduction if the deceased spouse claimed early.  </a:t>
            </a:r>
          </a:p>
          <a:p>
            <a:endParaRPr lang="en-US" sz="1200" baseline="0" dirty="0">
              <a:solidFill>
                <a:schemeClr val="tx1"/>
              </a:solidFill>
              <a:latin typeface="+mn-lt"/>
              <a:cs typeface="Arial" panose="020B0604020202020204" pitchFamily="34" charset="0"/>
            </a:endParaRPr>
          </a:p>
          <a:p>
            <a:r>
              <a:rPr lang="en-US" sz="1200" baseline="0" dirty="0">
                <a:solidFill>
                  <a:schemeClr val="tx1"/>
                </a:solidFill>
                <a:latin typeface="+mn-lt"/>
                <a:cs typeface="Arial" panose="020B0604020202020204" pitchFamily="34" charset="0"/>
              </a:rPr>
              <a:t>Survivor benefits can be claimed as early as age 60 (age 50 if disabled), but they will be reduced. They can also be claimed at any age if the survivor is caring for an entitled child.  </a:t>
            </a:r>
          </a:p>
          <a:p>
            <a:endParaRPr lang="en-US" sz="1200" baseline="0" dirty="0">
              <a:solidFill>
                <a:schemeClr val="tx1"/>
              </a:solidFill>
              <a:latin typeface="+mn-lt"/>
              <a:cs typeface="Arial" panose="020B0604020202020204" pitchFamily="34" charset="0"/>
            </a:endParaRPr>
          </a:p>
          <a:p>
            <a:r>
              <a:rPr lang="en-US" sz="1200" baseline="0" dirty="0">
                <a:solidFill>
                  <a:schemeClr val="tx1"/>
                </a:solidFill>
                <a:latin typeface="+mn-lt"/>
                <a:cs typeface="Arial" panose="020B0604020202020204" pitchFamily="34" charset="0"/>
              </a:rPr>
              <a:t>Dependent parents may also be able to collect, if the deceased’s parents can show that they relied on their child for at least half of their support. </a:t>
            </a:r>
          </a:p>
          <a:p>
            <a:endParaRPr lang="en-US" sz="1200" baseline="0" dirty="0">
              <a:solidFill>
                <a:schemeClr val="tx1"/>
              </a:solidFill>
              <a:latin typeface="+mn-lt"/>
              <a:cs typeface="Arial" panose="020B0604020202020204" pitchFamily="34" charset="0"/>
            </a:endParaRPr>
          </a:p>
          <a:p>
            <a:r>
              <a:rPr lang="en-US" sz="1200" baseline="0" dirty="0">
                <a:solidFill>
                  <a:schemeClr val="tx1"/>
                </a:solidFill>
                <a:latin typeface="+mn-lt"/>
                <a:cs typeface="Arial" panose="020B0604020202020204" pitchFamily="34" charset="0"/>
              </a:rPr>
              <a:t>Ex-spouses may also be eligible if the former spouse was at least 60 (or 50-59 if disabled), they were married at least ten years and have not remarried (unless they remarried after 60). </a:t>
            </a:r>
          </a:p>
          <a:p>
            <a:endParaRPr lang="en-US" sz="1200" baseline="0" dirty="0">
              <a:solidFill>
                <a:schemeClr val="tx1"/>
              </a:solidFill>
              <a:latin typeface="+mn-lt"/>
              <a:cs typeface="Arial" panose="020B0604020202020204" pitchFamily="34" charset="0"/>
            </a:endParaRPr>
          </a:p>
          <a:p>
            <a:r>
              <a:rPr lang="en-US" sz="1200" baseline="0" dirty="0">
                <a:solidFill>
                  <a:schemeClr val="tx1"/>
                </a:solidFill>
                <a:latin typeface="+mn-lt"/>
                <a:cs typeface="Arial" panose="020B0604020202020204" pitchFamily="34" charset="0"/>
              </a:rPr>
              <a:t>Survivor benefits are only reduced based on when the survivor benefit itself is claimed. In many situations, a surviving spouse can continue collecting on their own record to allow the survivor benefit to grow until they reach Full Retirement Age.  </a:t>
            </a:r>
            <a:endParaRPr lang="en-US" sz="1200" dirty="0">
              <a:solidFill>
                <a:schemeClr val="tx1"/>
              </a:solidFill>
              <a:latin typeface="+mn-lt"/>
              <a:cs typeface="Arial" panose="020B0604020202020204" pitchFamily="34" charset="0"/>
            </a:endParaRP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The survivor is still subject to the earnings</a:t>
            </a:r>
            <a:r>
              <a:rPr lang="en-US" sz="1200" baseline="0" dirty="0">
                <a:solidFill>
                  <a:schemeClr val="tx1"/>
                </a:solidFill>
                <a:latin typeface="+mn-lt"/>
                <a:cs typeface="Arial" panose="020B0604020202020204" pitchFamily="34" charset="0"/>
              </a:rPr>
              <a:t> limit if they haven’t yet reached Full Retirement Age and continue to work.</a:t>
            </a:r>
            <a:endParaRPr lang="en-US" sz="1200" dirty="0">
              <a:solidFill>
                <a:schemeClr val="tx1"/>
              </a:solidFill>
              <a:latin typeface="+mn-lt"/>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19</a:t>
            </a:fld>
            <a:endParaRPr lang="en-US"/>
          </a:p>
        </p:txBody>
      </p:sp>
    </p:spTree>
    <p:extLst>
      <p:ext uri="{BB962C8B-B14F-4D97-AF65-F5344CB8AC3E}">
        <p14:creationId xmlns:p14="http://schemas.microsoft.com/office/powerpoint/2010/main" val="3163312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1" dirty="0">
                <a:solidFill>
                  <a:schemeClr val="tx1"/>
                </a:solidFill>
                <a:latin typeface="+mn-lt"/>
              </a:rPr>
              <a:t>[Facilitator Notes: </a:t>
            </a:r>
            <a:r>
              <a:rPr lang="en-US" sz="1200" i="1" dirty="0">
                <a:solidFill>
                  <a:schemeClr val="tx1"/>
                </a:solidFill>
                <a:latin typeface="+mn-lt"/>
              </a:rPr>
              <a:t>Do not use this slide if doing a 30-minute presentation. Hide this slide before presenting by right clicking the thumbnail and choosing “Hide Slide” from the list.]</a:t>
            </a:r>
            <a:endParaRPr lang="en-US" sz="1200" dirty="0">
              <a:solidFill>
                <a:schemeClr val="tx1"/>
              </a:solidFill>
              <a:latin typeface="+mn-lt"/>
              <a:cs typeface="Arial" panose="020B0604020202020204" pitchFamily="34" charset="0"/>
            </a:endParaRPr>
          </a:p>
          <a:p>
            <a:pPr defTabSz="966506">
              <a:defRPr/>
            </a:pPr>
            <a:endParaRPr lang="en-US" sz="1200" b="1" i="0" u="none" dirty="0">
              <a:solidFill>
                <a:schemeClr val="tx1"/>
              </a:solidFill>
              <a:latin typeface="+mn-lt"/>
              <a:cs typeface="Arial" panose="020B0604020202020204" pitchFamily="34" charset="0"/>
            </a:endParaRPr>
          </a:p>
          <a:p>
            <a:pPr defTabSz="966506">
              <a:defRPr/>
            </a:pPr>
            <a:r>
              <a:rPr lang="en-US" sz="1200" b="1" i="0" u="none" dirty="0">
                <a:solidFill>
                  <a:schemeClr val="tx1"/>
                </a:solidFill>
                <a:latin typeface="+mn-lt"/>
                <a:cs typeface="Arial" panose="020B0604020202020204" pitchFamily="34" charset="0"/>
              </a:rPr>
              <a:t>Speaker Notes:</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Let’s spend a minute talking about how remarrying impacts survivor benefits. </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If you remarry before the age of 60 (50 if disabled), then you can’t receive survivor benefits while you are married. If you remarry after age 60 (50 if disabled), then you continue to qualify for benefits on your deceased spouse’s record.</a:t>
            </a:r>
          </a:p>
          <a:p>
            <a:pPr defTabSz="966506">
              <a:defRPr/>
            </a:pPr>
            <a:endParaRPr lang="en-US" sz="1200" dirty="0">
              <a:solidFill>
                <a:schemeClr val="tx1"/>
              </a:solidFill>
              <a:latin typeface="+mn-lt"/>
              <a:cs typeface="Arial" panose="020B0604020202020204" pitchFamily="34" charset="0"/>
            </a:endParaRPr>
          </a:p>
          <a:p>
            <a:pPr defTabSz="966506">
              <a:defRPr/>
            </a:pPr>
            <a:r>
              <a:rPr lang="en-US" sz="1200" dirty="0">
                <a:solidFill>
                  <a:schemeClr val="tx1"/>
                </a:solidFill>
                <a:latin typeface="+mn-lt"/>
                <a:cs typeface="Arial" panose="020B0604020202020204" pitchFamily="34" charset="0"/>
              </a:rPr>
              <a:t>However, if your current (new) spouse is a Social Security beneficiary, you may want to apply for spouse's benefits on his or her record. If that amount is more than your widow's or widower's benefit, you will receive a combination of benefits that equals the higher amount.</a:t>
            </a:r>
          </a:p>
        </p:txBody>
      </p:sp>
      <p:sp>
        <p:nvSpPr>
          <p:cNvPr id="4" name="Slide Number Placeholder 3"/>
          <p:cNvSpPr>
            <a:spLocks noGrp="1"/>
          </p:cNvSpPr>
          <p:nvPr>
            <p:ph type="sldNum" sz="quarter" idx="5"/>
          </p:nvPr>
        </p:nvSpPr>
        <p:spPr/>
        <p:txBody>
          <a:bodyPr/>
          <a:lstStyle/>
          <a:p>
            <a:fld id="{2DFC2A19-6F07-4E52-B22B-BA4A6D1ED55C}" type="slidenum">
              <a:rPr lang="en-US" smtClean="0"/>
              <a:t>20</a:t>
            </a:fld>
            <a:endParaRPr lang="en-US"/>
          </a:p>
        </p:txBody>
      </p:sp>
    </p:spTree>
    <p:extLst>
      <p:ext uri="{BB962C8B-B14F-4D97-AF65-F5344CB8AC3E}">
        <p14:creationId xmlns:p14="http://schemas.microsoft.com/office/powerpoint/2010/main" val="3252825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16023" y="4560571"/>
            <a:ext cx="5852160" cy="4320540"/>
          </a:xfrm>
        </p:spPr>
        <p:txBody>
          <a:bodyPr/>
          <a:lstStyle/>
          <a:p>
            <a:pPr defTabSz="966506">
              <a:defRPr/>
            </a:pPr>
            <a:r>
              <a:rPr lang="en-US" sz="1200" b="1" i="0" dirty="0">
                <a:solidFill>
                  <a:schemeClr val="tx1"/>
                </a:solidFill>
                <a:latin typeface="+mn-lt"/>
                <a:cs typeface="Arial" panose="020B0604020202020204" pitchFamily="34" charset="0"/>
              </a:rPr>
              <a:t>Speaker Notes:</a:t>
            </a:r>
            <a:endParaRPr lang="en-US" sz="1200" i="0" dirty="0">
              <a:solidFill>
                <a:schemeClr val="tx1"/>
              </a:solidFill>
              <a:latin typeface="+mn-lt"/>
              <a:cs typeface="Arial" panose="020B0604020202020204" pitchFamily="34" charset="0"/>
            </a:endParaRPr>
          </a:p>
          <a:p>
            <a:pPr defTabSz="486385">
              <a:defRPr/>
            </a:pPr>
            <a:endParaRPr lang="en-US" sz="1200" dirty="0">
              <a:solidFill>
                <a:schemeClr val="tx1"/>
              </a:solidFill>
              <a:latin typeface="+mn-lt"/>
              <a:cs typeface="Arial" panose="020B0604020202020204" pitchFamily="34" charset="0"/>
            </a:endParaRPr>
          </a:p>
          <a:p>
            <a:pPr defTabSz="486385">
              <a:defRPr/>
            </a:pPr>
            <a:r>
              <a:rPr lang="en-US" sz="1200" dirty="0">
                <a:solidFill>
                  <a:schemeClr val="tx1"/>
                </a:solidFill>
                <a:latin typeface="+mn-lt"/>
                <a:cs typeface="Arial" panose="020B0604020202020204" pitchFamily="34" charset="0"/>
              </a:rPr>
              <a:t>There are several ways</a:t>
            </a:r>
            <a:r>
              <a:rPr lang="en-US" sz="1200" baseline="0" dirty="0">
                <a:solidFill>
                  <a:schemeClr val="tx1"/>
                </a:solidFill>
                <a:latin typeface="+mn-lt"/>
                <a:cs typeface="Arial" panose="020B0604020202020204" pitchFamily="34" charset="0"/>
              </a:rPr>
              <a:t> you can apply for Social Security retirement benefits. With any of these options, you can apply up to four months prior to when you want to begin receiving your benefit.</a:t>
            </a:r>
          </a:p>
          <a:p>
            <a:pPr defTabSz="486385">
              <a:defRPr/>
            </a:pPr>
            <a:endParaRPr lang="en-US" sz="1200" dirty="0">
              <a:solidFill>
                <a:schemeClr val="tx1"/>
              </a:solidFill>
              <a:latin typeface="+mn-lt"/>
              <a:cs typeface="Arial" panose="020B0604020202020204" pitchFamily="34" charset="0"/>
            </a:endParaRPr>
          </a:p>
          <a:p>
            <a:pPr defTabSz="486385">
              <a:defRPr/>
            </a:pPr>
            <a:r>
              <a:rPr lang="en-US" sz="1200" dirty="0">
                <a:solidFill>
                  <a:schemeClr val="tx1"/>
                </a:solidFill>
                <a:latin typeface="+mn-lt"/>
                <a:cs typeface="Arial"/>
              </a:rPr>
              <a:t>You</a:t>
            </a:r>
            <a:r>
              <a:rPr lang="en-US" sz="1200" baseline="0" dirty="0">
                <a:solidFill>
                  <a:schemeClr val="tx1"/>
                </a:solidFill>
                <a:latin typeface="+mn-lt"/>
                <a:cs typeface="Arial"/>
              </a:rPr>
              <a:t> can apply online by creating or logging into your “my Social Security Account,”</a:t>
            </a:r>
            <a:r>
              <a:rPr lang="en-US" sz="1200" dirty="0">
                <a:solidFill>
                  <a:schemeClr val="tx1"/>
                </a:solidFill>
                <a:latin typeface="+mn-lt"/>
                <a:cs typeface="Arial"/>
              </a:rPr>
              <a:t> which is useful for several things, including reviewing your</a:t>
            </a:r>
            <a:r>
              <a:rPr lang="en-US" sz="1200" baseline="0" dirty="0">
                <a:solidFill>
                  <a:schemeClr val="tx1"/>
                </a:solidFill>
                <a:latin typeface="+mn-lt"/>
                <a:cs typeface="Arial"/>
              </a:rPr>
              <a:t> earnings record, getting estimates of </a:t>
            </a:r>
            <a:r>
              <a:rPr lang="en-US" sz="1200" dirty="0">
                <a:solidFill>
                  <a:schemeClr val="tx1"/>
                </a:solidFill>
                <a:latin typeface="+mn-lt"/>
                <a:cs typeface="Arial"/>
              </a:rPr>
              <a:t>your</a:t>
            </a:r>
            <a:r>
              <a:rPr lang="en-US" sz="1200" baseline="0" dirty="0">
                <a:solidFill>
                  <a:schemeClr val="tx1"/>
                </a:solidFill>
                <a:latin typeface="+mn-lt"/>
                <a:cs typeface="Arial"/>
              </a:rPr>
              <a:t> benefits at various ages, estimating disability benefits and more. Once eligible to apply, you can do so via your </a:t>
            </a:r>
            <a:r>
              <a:rPr lang="en-US" sz="1200" i="1" baseline="0" dirty="0">
                <a:solidFill>
                  <a:schemeClr val="tx1"/>
                </a:solidFill>
                <a:latin typeface="+mn-lt"/>
                <a:cs typeface="Arial"/>
              </a:rPr>
              <a:t>my</a:t>
            </a:r>
            <a:r>
              <a:rPr lang="en-US" sz="1200" baseline="0" dirty="0">
                <a:solidFill>
                  <a:schemeClr val="tx1"/>
                </a:solidFill>
                <a:latin typeface="+mn-lt"/>
                <a:cs typeface="Arial"/>
              </a:rPr>
              <a:t> Social Security Account. Go to </a:t>
            </a:r>
            <a:r>
              <a:rPr lang="en-US" sz="1200" baseline="0" dirty="0" err="1">
                <a:solidFill>
                  <a:schemeClr val="tx1"/>
                </a:solidFill>
                <a:latin typeface="+mn-lt"/>
                <a:cs typeface="Arial"/>
              </a:rPr>
              <a:t>login.gov</a:t>
            </a:r>
            <a:r>
              <a:rPr lang="en-US" sz="1200" baseline="0" dirty="0">
                <a:solidFill>
                  <a:schemeClr val="tx1"/>
                </a:solidFill>
                <a:latin typeface="+mn-lt"/>
                <a:cs typeface="Arial"/>
              </a:rPr>
              <a:t>.</a:t>
            </a:r>
          </a:p>
          <a:p>
            <a:pPr defTabSz="486385">
              <a:defRPr/>
            </a:pPr>
            <a:endParaRPr lang="en-US" sz="1200" dirty="0">
              <a:solidFill>
                <a:schemeClr val="tx1"/>
              </a:solidFill>
              <a:latin typeface="+mn-lt"/>
              <a:cs typeface="Arial" panose="020B0604020202020204" pitchFamily="34" charset="0"/>
            </a:endParaRPr>
          </a:p>
          <a:p>
            <a:pPr defTabSz="486385">
              <a:defRPr/>
            </a:pPr>
            <a:r>
              <a:rPr lang="en-US" sz="1200" dirty="0">
                <a:solidFill>
                  <a:schemeClr val="tx1"/>
                </a:solidFill>
                <a:latin typeface="+mn-lt"/>
                <a:cs typeface="Arial" panose="020B0604020202020204" pitchFamily="34" charset="0"/>
              </a:rPr>
              <a:t>You can also apply for benefits online at </a:t>
            </a:r>
            <a:r>
              <a:rPr lang="en-US" sz="1200" dirty="0" err="1">
                <a:solidFill>
                  <a:schemeClr val="tx1"/>
                </a:solidFill>
                <a:latin typeface="+mn-lt"/>
                <a:cs typeface="Arial" panose="020B0604020202020204" pitchFamily="34" charset="0"/>
              </a:rPr>
              <a:t>ssa.gov</a:t>
            </a:r>
            <a:r>
              <a:rPr lang="en-US" sz="1200" dirty="0">
                <a:solidFill>
                  <a:schemeClr val="tx1"/>
                </a:solidFill>
                <a:latin typeface="+mn-lt"/>
                <a:cs typeface="Arial" panose="020B0604020202020204" pitchFamily="34" charset="0"/>
              </a:rPr>
              <a:t>. </a:t>
            </a:r>
          </a:p>
          <a:p>
            <a:pPr defTabSz="486385">
              <a:defRPr/>
            </a:pPr>
            <a:endParaRPr lang="en-US" sz="1200" baseline="0" dirty="0">
              <a:solidFill>
                <a:schemeClr val="tx1"/>
              </a:solidFill>
              <a:latin typeface="+mn-lt"/>
              <a:cs typeface="Arial" panose="020B0604020202020204" pitchFamily="34" charset="0"/>
            </a:endParaRPr>
          </a:p>
          <a:p>
            <a:pPr defTabSz="486385">
              <a:defRPr/>
            </a:pPr>
            <a:r>
              <a:rPr lang="en-US" sz="1200" baseline="0" dirty="0">
                <a:solidFill>
                  <a:schemeClr val="tx1"/>
                </a:solidFill>
                <a:latin typeface="+mn-lt"/>
                <a:cs typeface="Arial" panose="020B0604020202020204" pitchFamily="34" charset="0"/>
              </a:rPr>
              <a:t>You can call the Social Security Administration at 1-800-772-1213 </a:t>
            </a:r>
            <a:r>
              <a:rPr lang="en-US" sz="1200" b="0" i="0" dirty="0">
                <a:solidFill>
                  <a:schemeClr val="tx1"/>
                </a:solidFill>
                <a:effectLst/>
                <a:latin typeface="+mn-lt"/>
              </a:rPr>
              <a:t>Monday through Friday from 8 AM to 7 PM local time. If you are deaf or hard of hearing, you can call the TTY number at 1-800-325-0778.</a:t>
            </a:r>
            <a:endParaRPr lang="en-US" sz="1200" baseline="0" dirty="0">
              <a:solidFill>
                <a:schemeClr val="tx1"/>
              </a:solidFill>
              <a:latin typeface="+mn-lt"/>
              <a:cs typeface="Arial" panose="020B0604020202020204" pitchFamily="34" charset="0"/>
            </a:endParaRPr>
          </a:p>
          <a:p>
            <a:pPr defTabSz="486385">
              <a:defRPr/>
            </a:pPr>
            <a:endParaRPr lang="en-US" sz="1200" baseline="0" dirty="0">
              <a:solidFill>
                <a:schemeClr val="tx1"/>
              </a:solidFill>
              <a:latin typeface="+mn-lt"/>
              <a:cs typeface="Arial" panose="020B0604020202020204" pitchFamily="34" charset="0"/>
            </a:endParaRPr>
          </a:p>
          <a:p>
            <a:pPr defTabSz="486385">
              <a:defRPr/>
            </a:pPr>
            <a:r>
              <a:rPr lang="en-US" sz="1200" baseline="0" dirty="0">
                <a:solidFill>
                  <a:schemeClr val="tx1"/>
                </a:solidFill>
                <a:latin typeface="+mn-lt"/>
                <a:cs typeface="Arial"/>
              </a:rPr>
              <a:t>Or you can reach out to your closest Social Security field office. To find it, visit </a:t>
            </a:r>
            <a:r>
              <a:rPr lang="en-US" sz="1200" baseline="0" dirty="0" err="1">
                <a:solidFill>
                  <a:schemeClr val="tx1"/>
                </a:solidFill>
                <a:latin typeface="+mn-lt"/>
                <a:cs typeface="Arial"/>
              </a:rPr>
              <a:t>ssa.gov</a:t>
            </a:r>
            <a:r>
              <a:rPr lang="en-US" sz="1200" baseline="0" dirty="0">
                <a:solidFill>
                  <a:schemeClr val="tx1"/>
                </a:solidFill>
                <a:latin typeface="+mn-lt"/>
                <a:cs typeface="Arial"/>
              </a:rPr>
              <a:t>/locator</a:t>
            </a:r>
          </a:p>
          <a:p>
            <a:pPr defTabSz="486385">
              <a:defRPr/>
            </a:pPr>
            <a:endParaRPr lang="en-US" sz="1200" baseline="0" dirty="0">
              <a:solidFill>
                <a:schemeClr val="tx1"/>
              </a:solidFill>
              <a:latin typeface="+mn-lt"/>
              <a:cs typeface="Arial"/>
            </a:endParaRPr>
          </a:p>
          <a:p>
            <a:pPr defTabSz="486385">
              <a:defRPr/>
            </a:pPr>
            <a:r>
              <a:rPr lang="en-US" sz="1200" baseline="0" dirty="0">
                <a:solidFill>
                  <a:schemeClr val="tx1"/>
                </a:solidFill>
                <a:latin typeface="+mn-lt"/>
                <a:cs typeface="Arial"/>
              </a:rPr>
              <a:t>Alright, now before we pause for audience questions, we briefly want to discuss the future of Social Security and how you can find answers to your Social Security questions.</a:t>
            </a: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21</a:t>
            </a:fld>
            <a:endParaRPr lang="en-US"/>
          </a:p>
        </p:txBody>
      </p:sp>
    </p:spTree>
    <p:extLst>
      <p:ext uri="{BB962C8B-B14F-4D97-AF65-F5344CB8AC3E}">
        <p14:creationId xmlns:p14="http://schemas.microsoft.com/office/powerpoint/2010/main" val="759578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0" dirty="0">
                <a:latin typeface="+mn-lt"/>
                <a:cs typeface="Arial" panose="020B0604020202020204" pitchFamily="34" charset="0"/>
              </a:rPr>
              <a:t>Speaker Notes:</a:t>
            </a:r>
          </a:p>
          <a:p>
            <a:pPr defTabSz="966506">
              <a:defRPr/>
            </a:pPr>
            <a:endParaRPr lang="en-US" sz="1200" dirty="0">
              <a:latin typeface="+mn-lt"/>
              <a:cs typeface="Arial" panose="020B0604020202020204" pitchFamily="34" charset="0"/>
            </a:endParaRPr>
          </a:p>
          <a:p>
            <a:pPr algn="l"/>
            <a:r>
              <a:rPr lang="en-US" sz="1200" dirty="0">
                <a:latin typeface="+mn-lt"/>
              </a:rPr>
              <a:t>Right now, Social Security is in good financial shape overall.</a:t>
            </a:r>
            <a:r>
              <a:rPr lang="en-US" sz="1200" b="1" dirty="0">
                <a:latin typeface="+mn-lt"/>
              </a:rPr>
              <a:t> </a:t>
            </a:r>
            <a:r>
              <a:rPr lang="en-US" sz="1200" dirty="0">
                <a:latin typeface="+mn-lt"/>
              </a:rPr>
              <a:t>However, according to the annual report released by the trustees in August 2021, the two Social Security trust funds that act as reserves for the program will be depleted in </a:t>
            </a:r>
            <a:r>
              <a:rPr lang="en-US" b="0" i="0" dirty="0">
                <a:solidFill>
                  <a:srgbClr val="222222"/>
                </a:solidFill>
                <a:effectLst/>
                <a:latin typeface="Aptos" panose="020B0004020202020204" pitchFamily="34" charset="0"/>
              </a:rPr>
              <a:t>2035</a:t>
            </a:r>
            <a:r>
              <a:rPr lang="en-US" sz="1200" dirty="0">
                <a:latin typeface="+mn-lt"/>
              </a:rPr>
              <a:t>. </a:t>
            </a:r>
          </a:p>
          <a:p>
            <a:pPr algn="l"/>
            <a:endParaRPr lang="en-US" sz="1200" b="0" i="0" dirty="0">
              <a:solidFill>
                <a:srgbClr val="1D1C1D"/>
              </a:solidFill>
              <a:effectLst/>
              <a:latin typeface="+mn-lt"/>
            </a:endParaRPr>
          </a:p>
          <a:p>
            <a:pPr algn="l"/>
            <a:r>
              <a:rPr lang="en-US" sz="1200" b="0" i="0" dirty="0">
                <a:solidFill>
                  <a:srgbClr val="1D1C1D"/>
                </a:solidFill>
                <a:effectLst/>
                <a:latin typeface="+mn-lt"/>
              </a:rPr>
              <a:t>Our population has changed: people are working and living longer. Consider that in 1950, there were approximately 16 workers contributing to FICA per person receiving benefits, but that in 2035, there will only be 2.3 workers contributing to FICA per person receiving benefits. That's a big difference, and it's why we need to act now to secure Social Security.</a:t>
            </a:r>
          </a:p>
          <a:p>
            <a:endParaRPr lang="en-US" sz="1200" dirty="0">
              <a:latin typeface="+mn-lt"/>
            </a:endParaRPr>
          </a:p>
          <a:p>
            <a:r>
              <a:rPr lang="en-US" sz="1200" dirty="0">
                <a:latin typeface="+mn-lt"/>
              </a:rPr>
              <a:t>That means that after the year </a:t>
            </a:r>
            <a:r>
              <a:rPr lang="en-US" b="0" i="0" dirty="0">
                <a:solidFill>
                  <a:srgbClr val="222222"/>
                </a:solidFill>
                <a:effectLst/>
                <a:latin typeface="Aptos" panose="020B0004020202020204" pitchFamily="34" charset="0"/>
              </a:rPr>
              <a:t>2035</a:t>
            </a:r>
            <a:r>
              <a:rPr lang="en-US" sz="1200" dirty="0">
                <a:latin typeface="+mn-lt"/>
              </a:rPr>
              <a:t>, Social Security will only be able to pay 83% of the benefits recipients are scheduled to receive. Policymakers will have to act to address the future benefit shortfalls, and the longer they wait, the harder the choices become.</a:t>
            </a:r>
          </a:p>
          <a:p>
            <a:endParaRPr lang="en-US"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baseline="0" dirty="0">
                <a:latin typeface="+mn-lt"/>
                <a:cs typeface="Arial" panose="020B0604020202020204" pitchFamily="34" charset="0"/>
              </a:rPr>
              <a:t>AARP is a nonprofit, nonpartisan organization. We have developed these guiding principles in our fight to protect Social Security in alignment with our mission. AARP believes that: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dirty="0">
                <a:latin typeface="+mn-lt"/>
                <a:cs typeface="Arial" panose="020B0604020202020204" pitchFamily="34" charset="0"/>
              </a:rPr>
              <a:t>Any proposal should </a:t>
            </a:r>
            <a:r>
              <a:rPr lang="en-US" sz="1200" b="1" baseline="0" dirty="0">
                <a:latin typeface="+mn-lt"/>
                <a:cs typeface="Arial" panose="020B0604020202020204" pitchFamily="34" charset="0"/>
              </a:rPr>
              <a:t>finance Social Security for the long term.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baseline="0" dirty="0">
                <a:latin typeface="+mn-lt"/>
                <a:cs typeface="Arial" panose="020B0604020202020204" pitchFamily="34" charset="0"/>
              </a:rPr>
              <a:t>Social Security should continue to provide a stable foundation for retirement income </a:t>
            </a:r>
            <a:r>
              <a:rPr lang="en-US" sz="1200" b="0" baseline="0" dirty="0">
                <a:latin typeface="+mn-lt"/>
                <a:cs typeface="Arial" panose="020B0604020202020204" pitchFamily="34" charset="0"/>
              </a:rPr>
              <a:t>for workers, families and those affected by death or disability.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dirty="0">
                <a:latin typeface="+mn-lt"/>
                <a:cs typeface="Arial" panose="020B0604020202020204" pitchFamily="34" charset="0"/>
              </a:rPr>
              <a:t>Social Security should continue to </a:t>
            </a:r>
            <a:r>
              <a:rPr lang="en-US" sz="1200" b="1" baseline="0" dirty="0">
                <a:latin typeface="+mn-lt"/>
                <a:cs typeface="Arial" panose="020B0604020202020204" pitchFamily="34" charset="0"/>
              </a:rPr>
              <a:t>protect those most in need, </a:t>
            </a:r>
            <a:r>
              <a:rPr lang="en-US" sz="1200" b="0" baseline="0" dirty="0">
                <a:latin typeface="+mn-lt"/>
                <a:cs typeface="Arial" panose="020B0604020202020204" pitchFamily="34" charset="0"/>
              </a:rPr>
              <a:t>including people who are the most reliant on Social Security and those who cannot postpone retirement.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dirty="0">
                <a:latin typeface="+mn-lt"/>
                <a:cs typeface="Arial" panose="020B0604020202020204" pitchFamily="34" charset="0"/>
              </a:rPr>
              <a:t>Any proposal should </a:t>
            </a:r>
            <a:r>
              <a:rPr lang="en-US" sz="1200" b="1" baseline="0" dirty="0">
                <a:latin typeface="+mn-lt"/>
                <a:cs typeface="Arial" panose="020B0604020202020204" pitchFamily="34" charset="0"/>
              </a:rPr>
              <a:t>continue to reward work </a:t>
            </a:r>
            <a:r>
              <a:rPr lang="en-US" sz="1200" b="0" baseline="0" dirty="0">
                <a:latin typeface="+mn-lt"/>
                <a:cs typeface="Arial" panose="020B0604020202020204" pitchFamily="34" charset="0"/>
              </a:rPr>
              <a:t>by ensuring that all covered workers contribute equitably and receive benefits based on their earnings; and </a:t>
            </a:r>
            <a:r>
              <a:rPr lang="en-US" sz="1200" b="1" baseline="0" dirty="0">
                <a:latin typeface="+mn-lt"/>
                <a:cs typeface="Arial" panose="020B0604020202020204" pitchFamily="34" charset="0"/>
              </a:rPr>
              <a:t>ensure that workers’ benefits are clearly defined, cannot be outlived and are protected against inflation.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dirty="0">
                <a:latin typeface="+mn-lt"/>
                <a:cs typeface="Arial" panose="020B0604020202020204" pitchFamily="34" charset="0"/>
              </a:rPr>
              <a:t>Any proposal should </a:t>
            </a:r>
            <a:r>
              <a:rPr lang="en-US" sz="1200" b="1" baseline="0" dirty="0">
                <a:latin typeface="+mn-lt"/>
                <a:cs typeface="Arial" panose="020B0604020202020204" pitchFamily="34" charset="0"/>
              </a:rPr>
              <a:t>make improvements to address the economic and demographic changes </a:t>
            </a:r>
            <a:r>
              <a:rPr lang="en-US" sz="1200" b="0" baseline="0" dirty="0">
                <a:latin typeface="+mn-lt"/>
                <a:cs typeface="Arial" panose="020B0604020202020204" pitchFamily="34" charset="0"/>
              </a:rPr>
              <a:t>over the last 85 years so that Social Security can meet the needs of future beneficiaries and their families.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baseline="0" dirty="0">
              <a:latin typeface="+mn-lt"/>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dirty="0">
                <a:latin typeface="+mn-lt"/>
                <a:cs typeface="Arial" panose="020B0604020202020204" pitchFamily="34" charset="0"/>
              </a:rPr>
              <a:t>Any </a:t>
            </a:r>
            <a:r>
              <a:rPr lang="en-US" sz="1200" b="1" baseline="0" dirty="0">
                <a:latin typeface="+mn-lt"/>
                <a:cs typeface="Arial" panose="020B0604020202020204" pitchFamily="34" charset="0"/>
              </a:rPr>
              <a:t>changes to Social Security should protect current beneficiaries and those near retirement and be made gradually and fairly.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baseline="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baseline="0" dirty="0">
                <a:latin typeface="+mn-lt"/>
                <a:cs typeface="Arial" panose="020B0604020202020204" pitchFamily="34" charset="0"/>
              </a:rPr>
              <a:t>We’re fighting to protect your Social Security benefits. You’ve earned it!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baseline="0" dirty="0">
              <a:highlight>
                <a:srgbClr val="FFFF00"/>
              </a:highlight>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u="none" baseline="0" dirty="0">
                <a:latin typeface="+mn-lt"/>
                <a:cs typeface="Arial" panose="020B0604020202020204" pitchFamily="34" charset="0"/>
              </a:rPr>
              <a:t>Sources:</a:t>
            </a:r>
          </a:p>
          <a:p>
            <a:pPr marL="0" marR="0">
              <a:lnSpc>
                <a:spcPct val="115000"/>
              </a:lnSpc>
              <a:spcBef>
                <a:spcPts val="0"/>
              </a:spcBef>
              <a:spcAft>
                <a:spcPts val="800"/>
              </a:spcAft>
            </a:pPr>
            <a:r>
              <a:rPr lang="en-US" sz="1200" i="0" u="sng" kern="100" dirty="0">
                <a:solidFill>
                  <a:schemeClr val="tx1"/>
                </a:solidFill>
                <a:effectLst/>
                <a:latin typeface="+mn-lt"/>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https://www.ssa.gov/history/ratios.html</a:t>
            </a:r>
            <a:endParaRPr lang="en-US" sz="1200" i="0" kern="100" dirty="0">
              <a:solidFill>
                <a:schemeClr val="tx1"/>
              </a:solidFill>
              <a:effectLst/>
              <a:latin typeface="+mn-lt"/>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200" i="0" u="sng" kern="100" dirty="0">
                <a:solidFill>
                  <a:schemeClr val="tx1"/>
                </a:solidFill>
                <a:effectLst/>
                <a:latin typeface="+mn-lt"/>
                <a:ea typeface="Aptos" panose="020B000402020202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https://www.ssa.gov/policy/docs/chartbooks/fast_facts/2023/fast_facts23.html</a:t>
            </a:r>
            <a:endParaRPr lang="en-US" sz="1200" i="0" kern="100" dirty="0">
              <a:solidFill>
                <a:schemeClr val="tx1"/>
              </a:solidFill>
              <a:effectLst/>
              <a:latin typeface="+mn-lt"/>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200" i="0" u="sng" kern="100" dirty="0">
                <a:solidFill>
                  <a:schemeClr val="tx1"/>
                </a:solidFill>
                <a:effectLst/>
                <a:latin typeface="+mn-lt"/>
                <a:ea typeface="Aptos" panose="020B000402020202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http://aarp.org/protectsocialsecurity</a:t>
            </a:r>
            <a:endParaRPr lang="en-US" sz="1200" i="0" kern="100" dirty="0">
              <a:solidFill>
                <a:schemeClr val="tx1"/>
              </a:solidFill>
              <a:effectLst/>
              <a:latin typeface="+mn-lt"/>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1" dirty="0">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22</a:t>
            </a:fld>
            <a:endParaRPr lang="en-US"/>
          </a:p>
        </p:txBody>
      </p:sp>
    </p:spTree>
    <p:extLst>
      <p:ext uri="{BB962C8B-B14F-4D97-AF65-F5344CB8AC3E}">
        <p14:creationId xmlns:p14="http://schemas.microsoft.com/office/powerpoint/2010/main" val="837691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mn-lt"/>
              </a:rPr>
              <a:t>Speaker Notes:</a:t>
            </a:r>
            <a:endParaRPr lang="en-US" sz="1200" b="1" i="0" dirty="0">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highlight>
                <a:srgbClr val="00FF00"/>
              </a:highlight>
              <a:latin typeface="+mn-lt"/>
              <a:cs typeface="Calibri"/>
            </a:endParaRPr>
          </a:p>
          <a:p>
            <a:r>
              <a:rPr lang="en-US" sz="1200" dirty="0">
                <a:solidFill>
                  <a:schemeClr val="tx1"/>
                </a:solidFill>
                <a:latin typeface="+mn-lt"/>
              </a:rPr>
              <a:t>Congress has several options to address the program’s long-term fiscal challenges. For example, here are five potential solutions to make sure that Social Security can pay out 100% of earned benefits for everyone who is eligible for generations to come.</a:t>
            </a:r>
            <a:endParaRPr lang="en-US" sz="1200" dirty="0">
              <a:solidFill>
                <a:schemeClr val="tx1"/>
              </a:solidFill>
              <a:latin typeface="+mn-lt"/>
              <a:ea typeface="Calibri"/>
              <a:cs typeface="Calibri"/>
            </a:endParaRPr>
          </a:p>
          <a:p>
            <a:endParaRPr lang="en-US" sz="1200" b="0" dirty="0">
              <a:solidFill>
                <a:schemeClr val="tx1"/>
              </a:solidFill>
              <a:latin typeface="+mn-lt"/>
            </a:endParaRPr>
          </a:p>
          <a:p>
            <a:r>
              <a:rPr lang="en-US" sz="1200" b="0" dirty="0">
                <a:solidFill>
                  <a:schemeClr val="tx1"/>
                </a:solidFill>
                <a:latin typeface="+mn-lt"/>
              </a:rPr>
              <a:t>To learn more about these options, you can visit the websites of the organizations on your screen. The free, interactive educational websites are listed on the worksheet called </a:t>
            </a:r>
            <a:r>
              <a:rPr lang="en-US" sz="1200" b="0" i="1" dirty="0">
                <a:solidFill>
                  <a:schemeClr val="tx1"/>
                </a:solidFill>
                <a:latin typeface="+mn-lt"/>
              </a:rPr>
              <a:t>You’ve Earned It! Options for Making Social Security Secure for the Future </a:t>
            </a:r>
            <a:r>
              <a:rPr lang="en-US" sz="1200" b="0" dirty="0">
                <a:solidFill>
                  <a:schemeClr val="tx1"/>
                </a:solidFill>
                <a:latin typeface="+mn-lt"/>
              </a:rPr>
              <a:t>that accompanies this presentation. You can also attend the upcoming workshop entitled </a:t>
            </a:r>
            <a:r>
              <a:rPr lang="en-US" sz="1200" b="0" i="1" dirty="0">
                <a:solidFill>
                  <a:schemeClr val="tx1"/>
                </a:solidFill>
                <a:latin typeface="+mn-lt"/>
              </a:rPr>
              <a:t>Social Security, You’ve Earned It! </a:t>
            </a:r>
            <a:r>
              <a:rPr lang="en-US" sz="1200" b="0" dirty="0">
                <a:solidFill>
                  <a:schemeClr val="tx1"/>
                </a:solidFill>
                <a:latin typeface="+mn-lt"/>
              </a:rPr>
              <a:t>and/or complete the online learning modules on the important topic of saving and protecting Social Security. </a:t>
            </a:r>
            <a:endParaRPr lang="en-US" sz="1200" b="0" dirty="0">
              <a:solidFill>
                <a:schemeClr val="tx1"/>
              </a:solidFill>
              <a:latin typeface="+mn-lt"/>
              <a:ea typeface="Calibri"/>
              <a:cs typeface="Calibri"/>
            </a:endParaRPr>
          </a:p>
          <a:p>
            <a:endParaRPr lang="en-US" sz="1200" b="0" dirty="0">
              <a:solidFill>
                <a:schemeClr val="tx1"/>
              </a:solidFill>
              <a:latin typeface="+mn-lt"/>
            </a:endParaRPr>
          </a:p>
          <a:p>
            <a:r>
              <a:rPr lang="en-US" sz="1200" b="0" dirty="0">
                <a:solidFill>
                  <a:schemeClr val="tx1"/>
                </a:solidFill>
                <a:latin typeface="+mn-lt"/>
              </a:rPr>
              <a:t>Resources</a:t>
            </a:r>
            <a:endParaRPr lang="en-US" sz="120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sng" dirty="0" err="1">
                <a:solidFill>
                  <a:schemeClr val="tx1"/>
                </a:solidFill>
                <a:latin typeface="+mn-lt"/>
              </a:rPr>
              <a:t>technology.councilforeconed.org</a:t>
            </a:r>
            <a:r>
              <a:rPr lang="en-US" sz="1200" b="0" u="sng" dirty="0">
                <a:solidFill>
                  <a:schemeClr val="tx1"/>
                </a:solidFill>
                <a:latin typeface="+mn-lt"/>
              </a:rPr>
              <a:t>/policy-perspectives/social-security/go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sng" dirty="0">
                <a:solidFill>
                  <a:schemeClr val="tx1"/>
                </a:solidFill>
                <a:effectLst/>
                <a:latin typeface="+mn-lt"/>
                <a:ea typeface="Aptos" panose="020B0004020202020204" pitchFamily="34" charset="0"/>
                <a:cs typeface="Aptos" panose="020B0004020202020204" pitchFamily="34" charset="0"/>
                <a:hlinkClick r:id="rId3">
                  <a:extLst>
                    <a:ext uri="{A12FA001-AC4F-418D-AE19-62706E023703}">
                      <ahyp:hlinkClr xmlns:ahyp="http://schemas.microsoft.com/office/drawing/2018/hyperlinkcolor" val="tx"/>
                    </a:ext>
                  </a:extLst>
                </a:hlinkClick>
              </a:rPr>
              <a:t>actuary.org/socialsecurity</a:t>
            </a:r>
            <a:endParaRPr lang="en-US" sz="1200" b="0" u="sng" dirty="0">
              <a:solidFill>
                <a:schemeClr val="tx1"/>
              </a:solidFill>
              <a:effectLst/>
              <a:latin typeface="+mn-lt"/>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sng" dirty="0">
              <a:solidFill>
                <a:schemeClr val="tx1"/>
              </a:solidFill>
              <a:latin typeface="+mn-lt"/>
            </a:endParaRPr>
          </a:p>
          <a:p>
            <a:endParaRPr lang="en-US" sz="120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highlight>
                <a:srgbClr val="00FF00"/>
              </a:highlight>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highlight>
                <a:srgbClr val="00FF00"/>
              </a:highlight>
              <a:latin typeface="+mn-lt"/>
              <a:cs typeface="Calibri"/>
            </a:endParaRP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23</a:t>
            </a:fld>
            <a:endParaRPr lang="en-US"/>
          </a:p>
        </p:txBody>
      </p:sp>
    </p:spTree>
    <p:extLst>
      <p:ext uri="{BB962C8B-B14F-4D97-AF65-F5344CB8AC3E}">
        <p14:creationId xmlns:p14="http://schemas.microsoft.com/office/powerpoint/2010/main" val="2206592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1F14-BB55-C3F2-53E4-0F6A1FF13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A54E7-369B-E5FB-44EC-B63418D03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C80EB-4BC0-4820-C4BA-BE1210D849F7}"/>
              </a:ext>
            </a:extLst>
          </p:cNvPr>
          <p:cNvSpPr>
            <a:spLocks noGrp="1"/>
          </p:cNvSpPr>
          <p:nvPr>
            <p:ph type="body" idx="1"/>
          </p:nvPr>
        </p:nvSpPr>
        <p:spPr/>
        <p:txBody>
          <a:bodyPr/>
          <a:lstStyle/>
          <a:p>
            <a:r>
              <a:rPr lang="en-US" sz="1200" b="0" i="1" dirty="0">
                <a:solidFill>
                  <a:schemeClr val="tx1"/>
                </a:solidFill>
                <a:effectLst/>
                <a:latin typeface="+mn-lt"/>
              </a:rPr>
              <a:t>[</a:t>
            </a:r>
            <a:r>
              <a:rPr lang="en-US" sz="1200" b="1" i="1" dirty="0">
                <a:solidFill>
                  <a:schemeClr val="tx1"/>
                </a:solidFill>
                <a:effectLst/>
                <a:latin typeface="+mn-lt"/>
              </a:rPr>
              <a:t>Facilitator Notes: </a:t>
            </a:r>
            <a:r>
              <a:rPr lang="en-US" sz="1200" b="0" i="1" dirty="0">
                <a:solidFill>
                  <a:schemeClr val="tx1"/>
                </a:solidFill>
                <a:effectLst/>
                <a:latin typeface="+mn-lt"/>
              </a:rPr>
              <a:t>If you want to ask your own question in the YQA tool after the presentation, or to help a participant, you will need an AARP account. Please point to the areas on the website that participants would use to search or ask their own questions as you name them.]</a:t>
            </a:r>
          </a:p>
          <a:p>
            <a:endParaRPr lang="en-US" sz="1200" dirty="0">
              <a:solidFill>
                <a:schemeClr val="tx1"/>
              </a:solidFill>
              <a:effectLst/>
              <a:latin typeface="+mn-lt"/>
            </a:endParaRPr>
          </a:p>
          <a:p>
            <a:r>
              <a:rPr lang="en-US" sz="1200" b="1" dirty="0">
                <a:solidFill>
                  <a:schemeClr val="tx1"/>
                </a:solidFill>
                <a:effectLst/>
                <a:latin typeface="+mn-lt"/>
              </a:rPr>
              <a:t>Speaker Notes:</a:t>
            </a:r>
          </a:p>
          <a:p>
            <a:endParaRPr lang="en-US"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mn-lt"/>
              </a:rPr>
              <a:t>Now you might remember we discussed a place where you can get all your Social Security questions answered at the beginning of the presentation.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mn-lt"/>
              </a:rPr>
              <a:t>There’s an AARP tool called “Your Questions Answered,” where you can either search for the answers to your questions or ask a question of your own. You’ll receive a personal answer via email within a few days.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mn-lt"/>
              </a:rPr>
              <a:t>To search for answers, type your Social Security question into the search box at the top of the page.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mn-lt"/>
              </a:rPr>
              <a:t>To ask your own question, scroll all the way down to the “Ask a Question” button. You will need to be logged into the website to submit your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mn-lt"/>
              </a:rPr>
              <a:t>You can find the “Your Questions Answered” tool at: learn dot </a:t>
            </a:r>
            <a:r>
              <a:rPr lang="en-US" sz="1200" dirty="0" err="1">
                <a:solidFill>
                  <a:schemeClr val="tx1"/>
                </a:solidFill>
                <a:effectLst/>
                <a:latin typeface="+mn-lt"/>
              </a:rPr>
              <a:t>aarp</a:t>
            </a:r>
            <a:r>
              <a:rPr lang="en-US" sz="1200" dirty="0">
                <a:solidFill>
                  <a:schemeClr val="tx1"/>
                </a:solidFill>
                <a:effectLst/>
                <a:latin typeface="+mn-lt"/>
              </a:rPr>
              <a:t> dot org slash Social 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mn-lt"/>
            </a:endParaRPr>
          </a:p>
          <a:p>
            <a:endParaRPr lang="en-US" sz="1200" dirty="0">
              <a:solidFill>
                <a:schemeClr val="tx1"/>
              </a:solidFill>
              <a:effectLst/>
              <a:latin typeface="+mn-lt"/>
            </a:endParaRPr>
          </a:p>
          <a:p>
            <a:endParaRPr lang="en-US" sz="1200" dirty="0">
              <a:solidFill>
                <a:schemeClr val="tx1"/>
              </a:solidFill>
              <a:latin typeface="+mn-lt"/>
            </a:endParaRPr>
          </a:p>
          <a:p>
            <a:endParaRPr lang="en-US" sz="1200" dirty="0">
              <a:solidFill>
                <a:schemeClr val="tx1"/>
              </a:solidFill>
              <a:latin typeface="+mn-lt"/>
            </a:endParaRPr>
          </a:p>
        </p:txBody>
      </p:sp>
      <p:sp>
        <p:nvSpPr>
          <p:cNvPr id="4" name="Slide Number Placeholder 3">
            <a:extLst>
              <a:ext uri="{FF2B5EF4-FFF2-40B4-BE49-F238E27FC236}">
                <a16:creationId xmlns:a16="http://schemas.microsoft.com/office/drawing/2014/main" id="{6BDB34DB-45F7-9B09-E33B-04F9EDF447EE}"/>
              </a:ext>
            </a:extLst>
          </p:cNvPr>
          <p:cNvSpPr>
            <a:spLocks noGrp="1"/>
          </p:cNvSpPr>
          <p:nvPr>
            <p:ph type="sldNum" sz="quarter" idx="5"/>
          </p:nvPr>
        </p:nvSpPr>
        <p:spPr/>
        <p:txBody>
          <a:bodyPr/>
          <a:lstStyle/>
          <a:p>
            <a:fld id="{2DFC2A19-6F07-4E52-B22B-BA4A6D1ED55C}" type="slidenum">
              <a:rPr lang="en-US" smtClean="0"/>
              <a:t>24</a:t>
            </a:fld>
            <a:endParaRPr lang="en-US"/>
          </a:p>
        </p:txBody>
      </p:sp>
    </p:spTree>
    <p:extLst>
      <p:ext uri="{BB962C8B-B14F-4D97-AF65-F5344CB8AC3E}">
        <p14:creationId xmlns:p14="http://schemas.microsoft.com/office/powerpoint/2010/main" val="1536975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06">
              <a:defRPr/>
            </a:pPr>
            <a:r>
              <a:rPr lang="en-US" sz="1200" b="1" i="1" dirty="0">
                <a:solidFill>
                  <a:schemeClr val="tx1"/>
                </a:solidFill>
                <a:latin typeface="+mn-lt"/>
              </a:rPr>
              <a:t>[Facilitator Notes: </a:t>
            </a:r>
            <a:r>
              <a:rPr lang="en-US" sz="1200" i="1" dirty="0">
                <a:solidFill>
                  <a:schemeClr val="tx1"/>
                </a:solidFill>
                <a:latin typeface="+mn-lt"/>
              </a:rPr>
              <a:t>Do not use this slide if doing a 30-minute presentation. Hide this slide before presenting by right clicking the thumbnail and choosing “Hide Slide” from the list.]</a:t>
            </a:r>
          </a:p>
          <a:p>
            <a:pPr defTabSz="966506">
              <a:defRPr/>
            </a:pPr>
            <a:endParaRPr lang="en-US" sz="1200" i="1" dirty="0">
              <a:solidFill>
                <a:schemeClr val="tx1"/>
              </a:solidFill>
              <a:latin typeface="+mn-lt"/>
              <a:cs typeface="Arial" panose="020B0604020202020204" pitchFamily="34" charset="0"/>
            </a:endParaRPr>
          </a:p>
          <a:p>
            <a:pPr marL="0" marR="0" lvl="0" indent="0" algn="l" defTabSz="966506" rtl="0" eaLnBrk="1" fontAlgn="auto" latinLnBrk="0" hangingPunct="1">
              <a:lnSpc>
                <a:spcPct val="100000"/>
              </a:lnSpc>
              <a:spcBef>
                <a:spcPts val="0"/>
              </a:spcBef>
              <a:spcAft>
                <a:spcPts val="0"/>
              </a:spcAft>
              <a:buClrTx/>
              <a:buSzTx/>
              <a:buFontTx/>
              <a:buNone/>
              <a:tabLst/>
              <a:defRPr/>
            </a:pPr>
            <a:r>
              <a:rPr lang="en-US" sz="1200" b="1" i="1" dirty="0">
                <a:solidFill>
                  <a:schemeClr val="tx1"/>
                </a:solidFill>
                <a:latin typeface="+mn-lt"/>
              </a:rPr>
              <a:t>[Facilitator Notes:  </a:t>
            </a:r>
            <a:r>
              <a:rPr lang="en-US" sz="1200" b="0" i="1" dirty="0">
                <a:solidFill>
                  <a:schemeClr val="tx1"/>
                </a:solidFill>
                <a:latin typeface="+mn-lt"/>
              </a:rPr>
              <a:t>If you receive questions about the future of Social Security, AARP’s position or the solvency solutions,</a:t>
            </a:r>
            <a:r>
              <a:rPr lang="en-US" sz="1200" b="1" i="1" dirty="0">
                <a:solidFill>
                  <a:schemeClr val="tx1"/>
                </a:solidFill>
                <a:latin typeface="+mn-lt"/>
              </a:rPr>
              <a:t> </a:t>
            </a:r>
            <a:r>
              <a:rPr lang="en-US" sz="1200" i="1" dirty="0">
                <a:solidFill>
                  <a:schemeClr val="tx1"/>
                </a:solidFill>
                <a:effectLst/>
                <a:latin typeface="+mn-lt"/>
              </a:rPr>
              <a:t>encourage participants to visit </a:t>
            </a:r>
            <a:r>
              <a:rPr lang="en-US" sz="1200" i="1" dirty="0" err="1">
                <a:solidFill>
                  <a:schemeClr val="tx1"/>
                </a:solidFill>
                <a:effectLst/>
                <a:latin typeface="+mn-lt"/>
              </a:rPr>
              <a:t>aarp.org</a:t>
            </a:r>
            <a:r>
              <a:rPr lang="en-US" sz="1200" i="1" dirty="0">
                <a:solidFill>
                  <a:schemeClr val="tx1"/>
                </a:solidFill>
                <a:effectLst/>
                <a:latin typeface="+mn-lt"/>
              </a:rPr>
              <a:t> and/or to interact with the tools provided on the previous slide.]</a:t>
            </a:r>
            <a:endParaRPr lang="en-US" sz="1200" i="1" dirty="0">
              <a:solidFill>
                <a:schemeClr val="tx1"/>
              </a:solidFill>
              <a:latin typeface="+mn-lt"/>
              <a:cs typeface="Arial" panose="020B0604020202020204" pitchFamily="34" charset="0"/>
            </a:endParaRPr>
          </a:p>
          <a:p>
            <a:endParaRPr lang="en-US" sz="1200" b="1" dirty="0">
              <a:solidFill>
                <a:schemeClr val="tx1"/>
              </a:solidFill>
              <a:latin typeface="+mn-lt"/>
            </a:endParaRPr>
          </a:p>
          <a:p>
            <a:r>
              <a:rPr lang="en-US" sz="1200" b="1" dirty="0">
                <a:solidFill>
                  <a:schemeClr val="tx1"/>
                </a:solidFill>
                <a:latin typeface="+mn-lt"/>
              </a:rPr>
              <a:t>Speaker Notes:</a:t>
            </a:r>
          </a:p>
          <a:p>
            <a:endParaRPr lang="en-US" sz="1200" b="1" dirty="0">
              <a:solidFill>
                <a:schemeClr val="tx1"/>
              </a:solidFill>
              <a:latin typeface="+mn-lt"/>
            </a:endParaRPr>
          </a:p>
          <a:p>
            <a:r>
              <a:rPr lang="en-US" sz="1200" dirty="0">
                <a:solidFill>
                  <a:schemeClr val="tx1"/>
                </a:solidFill>
                <a:latin typeface="+mn-lt"/>
              </a:rPr>
              <a:t>Now we have some time for your Q&amp;A. What are your questions?​</a:t>
            </a:r>
          </a:p>
          <a:p>
            <a:endParaRPr lang="en-US" sz="1200" dirty="0">
              <a:solidFill>
                <a:schemeClr val="tx1"/>
              </a:solidFill>
              <a:latin typeface="+mn-lt"/>
            </a:endParaRPr>
          </a:p>
          <a:p>
            <a:r>
              <a:rPr lang="en-US" sz="1200" b="1" i="1" dirty="0">
                <a:solidFill>
                  <a:schemeClr val="tx1"/>
                </a:solidFill>
                <a:latin typeface="+mn-lt"/>
              </a:rPr>
              <a:t>[Alternate Options for Virtual Delivery: </a:t>
            </a:r>
            <a:r>
              <a:rPr lang="en-US" sz="1200" i="1" dirty="0">
                <a:solidFill>
                  <a:schemeClr val="tx1"/>
                </a:solidFill>
                <a:latin typeface="+mn-lt"/>
              </a:rPr>
              <a:t>Solicit questions in chat or skip this slide.]</a:t>
            </a:r>
          </a:p>
          <a:p>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25</a:t>
            </a:fld>
            <a:endParaRPr lang="en-US"/>
          </a:p>
        </p:txBody>
      </p:sp>
    </p:spTree>
    <p:extLst>
      <p:ext uri="{BB962C8B-B14F-4D97-AF65-F5344CB8AC3E}">
        <p14:creationId xmlns:p14="http://schemas.microsoft.com/office/powerpoint/2010/main" val="41639886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chemeClr val="tx1"/>
                </a:solidFill>
                <a:effectLst/>
                <a:latin typeface="+mn-lt"/>
              </a:rPr>
              <a:t>Speaker Notes:</a:t>
            </a:r>
            <a:endParaRPr lang="en-US" dirty="0">
              <a:solidFill>
                <a:schemeClr val="tx1"/>
              </a:solidFill>
              <a:effectLst/>
              <a:latin typeface="+mn-lt"/>
            </a:endParaRPr>
          </a:p>
          <a:p>
            <a:endParaRPr lang="en-US" dirty="0">
              <a:solidFill>
                <a:schemeClr val="tx1"/>
              </a:solidFill>
              <a:effectLst/>
              <a:latin typeface="+mn-lt"/>
            </a:endParaRPr>
          </a:p>
          <a:p>
            <a:r>
              <a:rPr lang="en-US" dirty="0">
                <a:solidFill>
                  <a:schemeClr val="tx1"/>
                </a:solidFill>
                <a:effectLst/>
                <a:latin typeface="+mn-lt"/>
              </a:rPr>
              <a:t>Now let’s review some other resources that can help you get answers to those questions. AARP has many resources to help you learn more about Social Security and make informed decisions about claiming your earned benefit. </a:t>
            </a:r>
          </a:p>
          <a:p>
            <a:endParaRPr lang="en-US" dirty="0">
              <a:solidFill>
                <a:schemeClr val="tx1"/>
              </a:solidFill>
              <a:effectLst/>
              <a:latin typeface="+mn-lt"/>
            </a:endParaRPr>
          </a:p>
          <a:p>
            <a:r>
              <a:rPr lang="en-US" dirty="0">
                <a:solidFill>
                  <a:schemeClr val="tx1"/>
                </a:solidFill>
                <a:effectLst/>
                <a:latin typeface="+mn-lt"/>
              </a:rPr>
              <a:t>As we just covered, at </a:t>
            </a:r>
            <a:r>
              <a:rPr lang="en-US" dirty="0" err="1">
                <a:solidFill>
                  <a:schemeClr val="tx1"/>
                </a:solidFill>
                <a:effectLst/>
                <a:latin typeface="+mn-lt"/>
              </a:rPr>
              <a:t>learn.aarp.org</a:t>
            </a:r>
            <a:r>
              <a:rPr lang="en-US" dirty="0">
                <a:solidFill>
                  <a:schemeClr val="tx1"/>
                </a:solidFill>
                <a:effectLst/>
                <a:latin typeface="+mn-lt"/>
              </a:rPr>
              <a:t>/</a:t>
            </a:r>
            <a:r>
              <a:rPr lang="en-US" dirty="0" err="1">
                <a:solidFill>
                  <a:schemeClr val="tx1"/>
                </a:solidFill>
                <a:effectLst/>
                <a:latin typeface="+mn-lt"/>
              </a:rPr>
              <a:t>socialsecurity</a:t>
            </a:r>
            <a:r>
              <a:rPr lang="en-US" dirty="0">
                <a:solidFill>
                  <a:schemeClr val="tx1"/>
                </a:solidFill>
                <a:effectLst/>
                <a:latin typeface="+mn-lt"/>
              </a:rPr>
              <a:t>, you can find the “</a:t>
            </a:r>
            <a:r>
              <a:rPr lang="en-US" i="0" dirty="0">
                <a:solidFill>
                  <a:schemeClr val="tx1"/>
                </a:solidFill>
                <a:effectLst/>
                <a:latin typeface="+mn-lt"/>
              </a:rPr>
              <a:t>Your Questions Answered” </a:t>
            </a:r>
            <a:r>
              <a:rPr lang="en-US" dirty="0">
                <a:solidFill>
                  <a:schemeClr val="tx1"/>
                </a:solidFill>
                <a:effectLst/>
                <a:latin typeface="+mn-lt"/>
              </a:rPr>
              <a:t>tool and a resource center. There’s also many extras, including Social Security-related articles, stories and tools. </a:t>
            </a:r>
          </a:p>
          <a:p>
            <a:endParaRPr lang="en-US" dirty="0">
              <a:solidFill>
                <a:schemeClr val="tx1"/>
              </a:solidFill>
              <a:effectLst/>
              <a:latin typeface="+mn-lt"/>
            </a:endParaRPr>
          </a:p>
          <a:p>
            <a:r>
              <a:rPr lang="en-US" dirty="0">
                <a:solidFill>
                  <a:schemeClr val="tx1"/>
                </a:solidFill>
                <a:effectLst/>
                <a:latin typeface="+mn-lt"/>
              </a:rPr>
              <a:t>You can also find a Social Security calculator at </a:t>
            </a:r>
            <a:r>
              <a:rPr lang="en-US" u="none" dirty="0" err="1">
                <a:solidFill>
                  <a:schemeClr val="tx1"/>
                </a:solidFill>
                <a:effectLst/>
                <a:latin typeface="+mn-lt"/>
              </a:rPr>
              <a:t>aarp.org</a:t>
            </a:r>
            <a:r>
              <a:rPr lang="en-US" u="none" dirty="0">
                <a:solidFill>
                  <a:schemeClr val="tx1"/>
                </a:solidFill>
                <a:effectLst/>
                <a:latin typeface="+mn-lt"/>
              </a:rPr>
              <a:t>/</a:t>
            </a:r>
            <a:r>
              <a:rPr lang="en-US" u="none" dirty="0" err="1">
                <a:solidFill>
                  <a:schemeClr val="tx1"/>
                </a:solidFill>
                <a:effectLst/>
                <a:latin typeface="+mn-lt"/>
              </a:rPr>
              <a:t>sscalculator</a:t>
            </a:r>
            <a:r>
              <a:rPr lang="en-US" u="none" dirty="0">
                <a:solidFill>
                  <a:schemeClr val="tx1"/>
                </a:solidFill>
                <a:effectLst/>
                <a:latin typeface="+mn-lt"/>
              </a:rPr>
              <a:t>. </a:t>
            </a:r>
          </a:p>
          <a:p>
            <a:endParaRPr lang="en-US" dirty="0">
              <a:solidFill>
                <a:schemeClr val="tx1"/>
              </a:solidFill>
              <a:effectLst/>
              <a:latin typeface="+mn-lt"/>
            </a:endParaRPr>
          </a:p>
          <a:p>
            <a:r>
              <a:rPr lang="en-US" dirty="0">
                <a:solidFill>
                  <a:schemeClr val="tx1"/>
                </a:solidFill>
                <a:effectLst/>
                <a:latin typeface="+mn-lt"/>
              </a:rPr>
              <a:t>Then, at </a:t>
            </a:r>
            <a:r>
              <a:rPr lang="en-US" u="none" dirty="0" err="1">
                <a:solidFill>
                  <a:schemeClr val="tx1"/>
                </a:solidFill>
                <a:effectLst/>
                <a:latin typeface="+mn-lt"/>
              </a:rPr>
              <a:t>elearn.aarp.org</a:t>
            </a:r>
            <a:r>
              <a:rPr lang="en-US" dirty="0">
                <a:solidFill>
                  <a:schemeClr val="tx1"/>
                </a:solidFill>
                <a:effectLst/>
                <a:latin typeface="+mn-lt"/>
              </a:rPr>
              <a:t>, you can view the Quick Learning video series, which will give you many options for a deep dive into specific Social Security topics.</a:t>
            </a:r>
          </a:p>
          <a:p>
            <a:endParaRPr lang="en-US"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effectLst/>
                <a:latin typeface="+mn-lt"/>
              </a:rPr>
              <a:t>Finally, you can find more information about protecting Social Security for the future at </a:t>
            </a:r>
            <a:r>
              <a:rPr lang="en-US" u="none" dirty="0" err="1">
                <a:solidFill>
                  <a:schemeClr val="tx1"/>
                </a:solidFill>
                <a:effectLst/>
                <a:latin typeface="+mn-lt"/>
              </a:rPr>
              <a:t>aarp.org</a:t>
            </a:r>
            <a:r>
              <a:rPr lang="en-US" u="none" dirty="0">
                <a:solidFill>
                  <a:schemeClr val="tx1"/>
                </a:solidFill>
                <a:effectLst/>
                <a:latin typeface="+mn-lt"/>
              </a:rPr>
              <a:t>/</a:t>
            </a:r>
            <a:r>
              <a:rPr lang="en-US" u="none" dirty="0" err="1">
                <a:solidFill>
                  <a:schemeClr val="tx1"/>
                </a:solidFill>
                <a:effectLst/>
                <a:latin typeface="+mn-lt"/>
              </a:rPr>
              <a:t>protectsocialsecurity</a:t>
            </a:r>
            <a:r>
              <a:rPr lang="en-US" u="none" dirty="0">
                <a:solidFill>
                  <a:schemeClr val="tx1"/>
                </a:solidFill>
                <a:effectLst/>
                <a:latin typeface="+mn-lt"/>
              </a:rPr>
              <a:t>.</a:t>
            </a:r>
          </a:p>
          <a:p>
            <a:endParaRPr lang="en-US" dirty="0">
              <a:solidFill>
                <a:schemeClr val="tx1"/>
              </a:solidFill>
              <a:effectLst/>
              <a:latin typeface="+mn-lt"/>
            </a:endParaRPr>
          </a:p>
          <a:p>
            <a:r>
              <a:rPr lang="en-US" dirty="0">
                <a:solidFill>
                  <a:schemeClr val="tx1"/>
                </a:solidFill>
                <a:effectLst/>
                <a:latin typeface="+mn-lt"/>
              </a:rPr>
              <a:t>Be sure to check them out!</a:t>
            </a:r>
          </a:p>
          <a:p>
            <a:endParaRPr lang="en-US" dirty="0">
              <a:solidFill>
                <a:schemeClr val="tx1"/>
              </a:solidFill>
              <a:latin typeface="+mn-lt"/>
            </a:endParaRPr>
          </a:p>
        </p:txBody>
      </p:sp>
      <p:sp>
        <p:nvSpPr>
          <p:cNvPr id="4" name="Slide Number Placeholder 3"/>
          <p:cNvSpPr>
            <a:spLocks noGrp="1"/>
          </p:cNvSpPr>
          <p:nvPr>
            <p:ph type="sldNum" sz="quarter" idx="5"/>
          </p:nvPr>
        </p:nvSpPr>
        <p:spPr/>
        <p:txBody>
          <a:bodyPr/>
          <a:lstStyle/>
          <a:p>
            <a:fld id="{2DFC2A19-6F07-4E52-B22B-BA4A6D1ED55C}" type="slidenum">
              <a:rPr lang="en-US" smtClean="0"/>
              <a:t>26</a:t>
            </a:fld>
            <a:endParaRPr lang="en-US"/>
          </a:p>
        </p:txBody>
      </p:sp>
    </p:spTree>
    <p:extLst>
      <p:ext uri="{BB962C8B-B14F-4D97-AF65-F5344CB8AC3E}">
        <p14:creationId xmlns:p14="http://schemas.microsoft.com/office/powerpoint/2010/main" val="20887330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362464">
              <a:defRPr/>
            </a:pPr>
            <a:r>
              <a:rPr lang="en-US" b="1" i="1" dirty="0">
                <a:solidFill>
                  <a:schemeClr val="tx1"/>
                </a:solidFill>
              </a:rPr>
              <a:t>[Facilitator Notes: </a:t>
            </a:r>
            <a:r>
              <a:rPr lang="en-US" i="1" dirty="0">
                <a:solidFill>
                  <a:schemeClr val="tx1"/>
                </a:solidFill>
              </a:rPr>
              <a:t>Please follow your team’s current guidance for post-event surveys and modify the slide and speaking notes below as needed. Volunteers, please see your State Office partner with questions. State Office staff can find more information on the CSN Portal’s Office Wizard Event Management Site. Please share any feedback regarding </a:t>
            </a:r>
            <a:r>
              <a:rPr lang="en-US" i="1" u="sng" dirty="0">
                <a:solidFill>
                  <a:schemeClr val="tx1"/>
                </a:solidFill>
              </a:rPr>
              <a:t>your experience as a facilitator </a:t>
            </a:r>
            <a:r>
              <a:rPr lang="en-US" i="1" dirty="0">
                <a:solidFill>
                  <a:schemeClr val="tx1"/>
                </a:solidFill>
              </a:rPr>
              <a:t>with us at </a:t>
            </a:r>
            <a:r>
              <a:rPr lang="en-US" i="1" dirty="0" err="1">
                <a:solidFill>
                  <a:schemeClr val="tx1"/>
                </a:solidFill>
              </a:rPr>
              <a:t>DIYPrograms@aarp.org</a:t>
            </a:r>
            <a:r>
              <a:rPr lang="en-US" i="1" dirty="0">
                <a:solidFill>
                  <a:schemeClr val="tx1"/>
                </a:solidFill>
              </a:rPr>
              <a:t>]</a:t>
            </a:r>
          </a:p>
          <a:p>
            <a:pPr algn="l" rtl="0" fontAlgn="base"/>
            <a:r>
              <a:rPr lang="en-US" dirty="0">
                <a:solidFill>
                  <a:schemeClr val="tx1"/>
                </a:solidFill>
              </a:rPr>
              <a:t>​</a:t>
            </a:r>
          </a:p>
          <a:p>
            <a:pPr algn="l" rtl="0" fontAlgn="base"/>
            <a:r>
              <a:rPr lang="en-US" b="1" dirty="0">
                <a:solidFill>
                  <a:schemeClr val="tx1"/>
                </a:solidFill>
              </a:rPr>
              <a:t>Speaker Notes:</a:t>
            </a:r>
            <a:r>
              <a:rPr lang="en-US" dirty="0">
                <a:solidFill>
                  <a:schemeClr val="tx1"/>
                </a:solidFill>
              </a:rPr>
              <a:t>​</a:t>
            </a:r>
          </a:p>
          <a:p>
            <a:r>
              <a:rPr lang="en-US" dirty="0"/>
              <a:t>I hope you enjoyed today’s workshop and found value in the information, discussion, and resources.</a:t>
            </a:r>
          </a:p>
          <a:p>
            <a:endParaRPr lang="en-US" dirty="0"/>
          </a:p>
          <a:p>
            <a:r>
              <a:rPr lang="en-US" dirty="0"/>
              <a:t>We welcome your feedback on our session and would appreciate you taking a few moments to complete our survey. You can do that before you leave here today by clicking on the QR code with the AARP logo that was shared as part of the presentation materials. </a:t>
            </a:r>
          </a:p>
          <a:p>
            <a:endParaRPr lang="en-US" dirty="0"/>
          </a:p>
          <a:p>
            <a:r>
              <a:rPr lang="en-US" dirty="0"/>
              <a:t>If you don’t want to complete it now, you will receive an email after today’s event (at the email address you used to register), which includes a link to the survey.  There is no need to do it more than once.  We look forward to getting your feedback.  </a:t>
            </a:r>
            <a:r>
              <a:rPr lang="en-US"/>
              <a:t>Thank you!</a:t>
            </a:r>
            <a:endParaRPr lang="en-US" dirty="0"/>
          </a:p>
        </p:txBody>
      </p:sp>
      <p:sp>
        <p:nvSpPr>
          <p:cNvPr id="4" name="Slide Number Placeholder 3"/>
          <p:cNvSpPr>
            <a:spLocks noGrp="1"/>
          </p:cNvSpPr>
          <p:nvPr>
            <p:ph type="sldNum" sz="quarter" idx="5"/>
          </p:nvPr>
        </p:nvSpPr>
        <p:spPr/>
        <p:txBody>
          <a:bodyPr/>
          <a:lstStyle/>
          <a:p>
            <a:fld id="{2DFC2A19-6F07-4E52-B22B-BA4A6D1ED55C}" type="slidenum">
              <a:rPr lang="en-US" smtClean="0"/>
              <a:t>27</a:t>
            </a:fld>
            <a:endParaRPr lang="en-US"/>
          </a:p>
        </p:txBody>
      </p:sp>
    </p:spTree>
    <p:extLst>
      <p:ext uri="{BB962C8B-B14F-4D97-AF65-F5344CB8AC3E}">
        <p14:creationId xmlns:p14="http://schemas.microsoft.com/office/powerpoint/2010/main" val="9915134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342923"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a:ea typeface="+mn-ea"/>
                <a:cs typeface="+mn-cs"/>
              </a:rPr>
              <a:t>[Facilitator Note: Please make sure to mention that you TOO can volunteer with us and assist in your community. </a:t>
            </a:r>
            <a:endParaRPr kumimoji="0" lang="en-US" sz="1200" b="0" i="1" u="none" strike="noStrike" kern="1200" cap="none" spc="0" normalizeH="0" baseline="0" noProof="0" dirty="0">
              <a:ln>
                <a:noFill/>
              </a:ln>
              <a:solidFill>
                <a:prstClr val="black"/>
              </a:solidFill>
              <a:effectLst/>
              <a:uLnTx/>
              <a:uFillTx/>
              <a:latin typeface="Calibri"/>
              <a:ea typeface="+mn-ea"/>
              <a:cs typeface="+mn-cs"/>
            </a:endParaRPr>
          </a:p>
          <a:p>
            <a:endParaRPr lang="en-US" dirty="0"/>
          </a:p>
        </p:txBody>
      </p:sp>
      <p:sp>
        <p:nvSpPr>
          <p:cNvPr id="4" name="Slide Number Placeholder 3"/>
          <p:cNvSpPr>
            <a:spLocks noGrp="1"/>
          </p:cNvSpPr>
          <p:nvPr>
            <p:ph type="sldNum" sz="quarter" idx="5"/>
          </p:nvPr>
        </p:nvSpPr>
        <p:spPr/>
        <p:txBody>
          <a:bodyPr/>
          <a:lstStyle/>
          <a:p>
            <a:fld id="{2DFC2A19-6F07-4E52-B22B-BA4A6D1ED55C}" type="slidenum">
              <a:rPr lang="en-US" smtClean="0"/>
              <a:t>28</a:t>
            </a:fld>
            <a:endParaRPr lang="en-US"/>
          </a:p>
        </p:txBody>
      </p:sp>
    </p:spTree>
    <p:extLst>
      <p:ext uri="{BB962C8B-B14F-4D97-AF65-F5344CB8AC3E}">
        <p14:creationId xmlns:p14="http://schemas.microsoft.com/office/powerpoint/2010/main" val="57095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342923" rtl="0" eaLnBrk="1" fontAlgn="auto" latinLnBrk="0" hangingPunct="1">
              <a:lnSpc>
                <a:spcPct val="100000"/>
              </a:lnSpc>
              <a:spcBef>
                <a:spcPts val="0"/>
              </a:spcBef>
              <a:spcAft>
                <a:spcPts val="0"/>
              </a:spcAft>
              <a:buClrTx/>
              <a:buSzTx/>
              <a:buFontTx/>
              <a:buNone/>
              <a:tabLst/>
              <a:defRPr/>
            </a:pPr>
            <a:r>
              <a:rPr lang="en-US" b="1" i="1" dirty="0"/>
              <a:t>[Facilitator </a:t>
            </a:r>
          </a:p>
          <a:p>
            <a:pPr marL="0" marR="0" lvl="0" indent="0" algn="l" defTabSz="342923" rtl="0" eaLnBrk="1" fontAlgn="auto" latinLnBrk="0" hangingPunct="1">
              <a:lnSpc>
                <a:spcPct val="100000"/>
              </a:lnSpc>
              <a:spcBef>
                <a:spcPts val="0"/>
              </a:spcBef>
              <a:spcAft>
                <a:spcPts val="0"/>
              </a:spcAft>
              <a:buClrTx/>
              <a:buSzTx/>
              <a:buFontTx/>
              <a:buNone/>
              <a:tabLst/>
              <a:defRPr/>
            </a:pPr>
            <a:r>
              <a:rPr lang="en-US" b="1" i="1" dirty="0"/>
              <a:t>Note: </a:t>
            </a:r>
            <a:r>
              <a:rPr lang="en-US" b="0" i="1" dirty="0"/>
              <a:t>This slide uses the general AARP logo. You </a:t>
            </a:r>
            <a:r>
              <a:rPr lang="en-US" i="1" dirty="0"/>
              <a:t>can leave this slide up at the end of your presentation as people exit. Otherwise, delete this slide.</a:t>
            </a:r>
            <a:r>
              <a:rPr lang="en-US" i="1" baseline="0" dirty="0"/>
              <a:t>]</a:t>
            </a:r>
          </a:p>
          <a:p>
            <a:pPr marL="0" marR="0" lvl="0" indent="0" algn="l" defTabSz="342923" rtl="0" eaLnBrk="1" fontAlgn="auto" latinLnBrk="0" hangingPunct="1">
              <a:lnSpc>
                <a:spcPct val="100000"/>
              </a:lnSpc>
              <a:spcBef>
                <a:spcPts val="0"/>
              </a:spcBef>
              <a:spcAft>
                <a:spcPts val="0"/>
              </a:spcAft>
              <a:buClrTx/>
              <a:buSzTx/>
              <a:buFontTx/>
              <a:buNone/>
              <a:tabLst/>
              <a:defRPr/>
            </a:pPr>
            <a:endParaRPr lang="en-US" i="1" baseline="0" dirty="0"/>
          </a:p>
          <a:p>
            <a:r>
              <a:rPr lang="en-US" b="1" i="0"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Thank you again for joining us! </a:t>
            </a:r>
            <a:endParaRPr lang="en-US" b="1" i="0" dirty="0"/>
          </a:p>
          <a:p>
            <a:pPr marL="0" marR="0" lvl="0" indent="0" algn="l" defTabSz="342923" rtl="0" eaLnBrk="1" fontAlgn="auto" latinLnBrk="0" hangingPunct="1">
              <a:lnSpc>
                <a:spcPct val="100000"/>
              </a:lnSpc>
              <a:spcBef>
                <a:spcPts val="0"/>
              </a:spcBef>
              <a:spcAft>
                <a:spcPts val="0"/>
              </a:spcAft>
              <a:buClrTx/>
              <a:buSzTx/>
              <a:buFontTx/>
              <a:buNone/>
              <a:tabLst/>
              <a:defRPr/>
            </a:pPr>
            <a:endParaRPr lang="en-US" i="1" baseline="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DFC2A19-6F07-4E52-B22B-BA4A6D1ED55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399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AARP Logo">
    <p:bg>
      <p:bgPr>
        <a:solidFill>
          <a:schemeClr val="tx2"/>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7C700F1-61B0-FB4A-9B52-91B8FE33A4A9}"/>
              </a:ext>
            </a:extLst>
          </p:cNvPr>
          <p:cNvSpPr>
            <a:spLocks noGrp="1"/>
          </p:cNvSpPr>
          <p:nvPr>
            <p:ph type="title" hasCustomPrompt="1"/>
          </p:nvPr>
        </p:nvSpPr>
        <p:spPr>
          <a:xfrm>
            <a:off x="345518" y="1310325"/>
            <a:ext cx="8014711" cy="1668545"/>
          </a:xfrm>
        </p:spPr>
        <p:txBody>
          <a:bodyPr anchor="b">
            <a:noAutofit/>
          </a:bodyPr>
          <a:lstStyle>
            <a:lvl1pPr algn="l">
              <a:lnSpc>
                <a:spcPct val="90000"/>
              </a:lnSpc>
              <a:defRPr sz="5400" b="1" cap="none">
                <a:solidFill>
                  <a:schemeClr val="accent6"/>
                </a:solidFill>
              </a:defRPr>
            </a:lvl1pPr>
          </a:lstStyle>
          <a:p>
            <a:r>
              <a:rPr lang="en-US"/>
              <a:t>Insert Title Text</a:t>
            </a:r>
            <a:br>
              <a:rPr lang="en-US"/>
            </a:br>
            <a:r>
              <a:rPr lang="en-US"/>
              <a:t>Here 54 </a:t>
            </a:r>
            <a:r>
              <a:rPr lang="en-US" err="1"/>
              <a:t>pt</a:t>
            </a:r>
            <a:r>
              <a:rPr lang="en-US"/>
              <a:t> Bold</a:t>
            </a:r>
          </a:p>
        </p:txBody>
      </p:sp>
      <p:sp>
        <p:nvSpPr>
          <p:cNvPr id="17" name="Text Placeholder 2">
            <a:extLst>
              <a:ext uri="{FF2B5EF4-FFF2-40B4-BE49-F238E27FC236}">
                <a16:creationId xmlns:a16="http://schemas.microsoft.com/office/drawing/2014/main" id="{11E97F76-27B7-D649-8B30-725CFB08EC07}"/>
              </a:ext>
            </a:extLst>
          </p:cNvPr>
          <p:cNvSpPr>
            <a:spLocks noGrp="1"/>
          </p:cNvSpPr>
          <p:nvPr>
            <p:ph type="body" idx="1" hasCustomPrompt="1"/>
          </p:nvPr>
        </p:nvSpPr>
        <p:spPr>
          <a:xfrm>
            <a:off x="345518" y="3185743"/>
            <a:ext cx="7082498" cy="854664"/>
          </a:xfrm>
        </p:spPr>
        <p:txBody>
          <a:bodyPr lIns="91440" tIns="182880" rIns="91440" bIns="0" anchor="ctr">
            <a:normAutofit/>
          </a:bodyPr>
          <a:lstStyle>
            <a:lvl1pPr marL="0" indent="0">
              <a:lnSpc>
                <a:spcPct val="8000"/>
              </a:lnSpc>
              <a:buNone/>
              <a:defRPr sz="3600">
                <a:solidFill>
                  <a:schemeClr val="accent6"/>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Insert Subtitle Here 36 </a:t>
            </a:r>
            <a:r>
              <a:rPr lang="en-US" err="1"/>
              <a:t>pt</a:t>
            </a:r>
            <a:r>
              <a:rPr lang="en-US"/>
              <a:t> Regular</a:t>
            </a:r>
          </a:p>
        </p:txBody>
      </p:sp>
      <p:pic>
        <p:nvPicPr>
          <p:cNvPr id="5" name="Picture 4" descr="A picture containing drawing&#10;&#10;Description automatically generated">
            <a:extLst>
              <a:ext uri="{FF2B5EF4-FFF2-40B4-BE49-F238E27FC236}">
                <a16:creationId xmlns:a16="http://schemas.microsoft.com/office/drawing/2014/main" id="{D5238810-4ED9-422F-9449-6D46143BD8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5518" y="696439"/>
            <a:ext cx="1323025" cy="271854"/>
          </a:xfrm>
          <a:prstGeom prst="rect">
            <a:avLst/>
          </a:prstGeom>
          <a:ln>
            <a:noFill/>
          </a:ln>
        </p:spPr>
      </p:pic>
      <p:pic>
        <p:nvPicPr>
          <p:cNvPr id="6" name="Picture 5" descr="A picture containing drawing&#10;&#10;Description automatically generated">
            <a:extLst>
              <a:ext uri="{FF2B5EF4-FFF2-40B4-BE49-F238E27FC236}">
                <a16:creationId xmlns:a16="http://schemas.microsoft.com/office/drawing/2014/main" id="{A2628DB1-5D43-4431-B097-1400D666534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45518" y="348967"/>
            <a:ext cx="1323025" cy="271854"/>
          </a:xfrm>
          <a:prstGeom prst="rect">
            <a:avLst/>
          </a:prstGeom>
        </p:spPr>
      </p:pic>
    </p:spTree>
    <p:extLst>
      <p:ext uri="{BB962C8B-B14F-4D97-AF65-F5344CB8AC3E}">
        <p14:creationId xmlns:p14="http://schemas.microsoft.com/office/powerpoint/2010/main" val="280362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State Logo">
    <p:bg>
      <p:bgPr>
        <a:solidFill>
          <a:schemeClr val="tx2"/>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7C700F1-61B0-FB4A-9B52-91B8FE33A4A9}"/>
              </a:ext>
            </a:extLst>
          </p:cNvPr>
          <p:cNvSpPr>
            <a:spLocks noGrp="1"/>
          </p:cNvSpPr>
          <p:nvPr>
            <p:ph type="title" hasCustomPrompt="1"/>
          </p:nvPr>
        </p:nvSpPr>
        <p:spPr>
          <a:xfrm>
            <a:off x="345518" y="1310325"/>
            <a:ext cx="7914818" cy="1668545"/>
          </a:xfrm>
        </p:spPr>
        <p:txBody>
          <a:bodyPr anchor="b">
            <a:noAutofit/>
          </a:bodyPr>
          <a:lstStyle>
            <a:lvl1pPr algn="l">
              <a:lnSpc>
                <a:spcPct val="90000"/>
              </a:lnSpc>
              <a:defRPr sz="5400" b="1" cap="none">
                <a:solidFill>
                  <a:schemeClr val="accent6"/>
                </a:solidFill>
              </a:defRPr>
            </a:lvl1pPr>
          </a:lstStyle>
          <a:p>
            <a:r>
              <a:rPr lang="en-US"/>
              <a:t>Insert Title Text</a:t>
            </a:r>
            <a:br>
              <a:rPr lang="en-US"/>
            </a:br>
            <a:r>
              <a:rPr lang="en-US"/>
              <a:t>Here 54 </a:t>
            </a:r>
            <a:r>
              <a:rPr lang="en-US" err="1"/>
              <a:t>pt</a:t>
            </a:r>
            <a:r>
              <a:rPr lang="en-US"/>
              <a:t> Bold</a:t>
            </a:r>
          </a:p>
        </p:txBody>
      </p:sp>
      <p:sp>
        <p:nvSpPr>
          <p:cNvPr id="17" name="Text Placeholder 2">
            <a:extLst>
              <a:ext uri="{FF2B5EF4-FFF2-40B4-BE49-F238E27FC236}">
                <a16:creationId xmlns:a16="http://schemas.microsoft.com/office/drawing/2014/main" id="{11E97F76-27B7-D649-8B30-725CFB08EC07}"/>
              </a:ext>
            </a:extLst>
          </p:cNvPr>
          <p:cNvSpPr>
            <a:spLocks noGrp="1"/>
          </p:cNvSpPr>
          <p:nvPr>
            <p:ph type="body" idx="1" hasCustomPrompt="1"/>
          </p:nvPr>
        </p:nvSpPr>
        <p:spPr>
          <a:xfrm>
            <a:off x="345518" y="3185743"/>
            <a:ext cx="7082498" cy="854664"/>
          </a:xfrm>
        </p:spPr>
        <p:txBody>
          <a:bodyPr lIns="91440" tIns="182880" rIns="91440" bIns="0" anchor="ctr">
            <a:normAutofit/>
          </a:bodyPr>
          <a:lstStyle>
            <a:lvl1pPr marL="0" indent="0">
              <a:lnSpc>
                <a:spcPct val="8000"/>
              </a:lnSpc>
              <a:buNone/>
              <a:defRPr sz="3600">
                <a:solidFill>
                  <a:schemeClr val="accent6"/>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Insert Subtitle Here 36 </a:t>
            </a:r>
            <a:r>
              <a:rPr lang="en-US" err="1"/>
              <a:t>pt</a:t>
            </a:r>
            <a:r>
              <a:rPr lang="en-US"/>
              <a:t> Regular</a:t>
            </a:r>
          </a:p>
        </p:txBody>
      </p:sp>
      <p:sp>
        <p:nvSpPr>
          <p:cNvPr id="3" name="Picture Placeholder 2">
            <a:extLst>
              <a:ext uri="{FF2B5EF4-FFF2-40B4-BE49-F238E27FC236}">
                <a16:creationId xmlns:a16="http://schemas.microsoft.com/office/drawing/2014/main" id="{363E87A6-60D9-704B-B8C2-0E228EBB3AC7}"/>
              </a:ext>
            </a:extLst>
          </p:cNvPr>
          <p:cNvSpPr>
            <a:spLocks noGrp="1"/>
          </p:cNvSpPr>
          <p:nvPr>
            <p:ph type="pic" sz="quarter" idx="10" hasCustomPrompt="1"/>
          </p:nvPr>
        </p:nvSpPr>
        <p:spPr>
          <a:xfrm>
            <a:off x="482642" y="293586"/>
            <a:ext cx="1381125" cy="701675"/>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92942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AARP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35463"/>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365760" y="473284"/>
            <a:ext cx="4870524" cy="4332830"/>
          </a:xfrm>
        </p:spPr>
        <p:txBody>
          <a:bodyPr>
            <a:normAutofit/>
          </a:bodyPr>
          <a:lstStyle>
            <a:lvl1pPr marL="0" indent="0">
              <a:buNone/>
              <a:defRPr sz="2400">
                <a:solidFill>
                  <a:schemeClr val="tx1">
                    <a:lumMod val="50000"/>
                    <a:lumOff val="50000"/>
                  </a:schemeClr>
                </a:solidFill>
              </a:defRPr>
            </a:lvl1pPr>
          </a:lstStyle>
          <a:p>
            <a:r>
              <a:rPr lang="en-US"/>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03850" y="1737070"/>
            <a:ext cx="3190023" cy="3068637"/>
          </a:xfrm>
        </p:spPr>
        <p:txBody>
          <a:bodyPr>
            <a:normAutofit/>
          </a:bodyPr>
          <a:lstStyle>
            <a:lvl1pPr marL="230188" indent="-230188">
              <a:tabLst/>
              <a:defRPr sz="2000">
                <a:solidFill>
                  <a:schemeClr val="tx1"/>
                </a:solidFill>
              </a:defRPr>
            </a:lvl1pPr>
          </a:lstStyle>
          <a:p>
            <a:r>
              <a:rPr lang="en-US"/>
              <a:t>Click to add bullet text 20 </a:t>
            </a:r>
            <a:r>
              <a:rPr lang="en-US" err="1"/>
              <a:t>pt</a:t>
            </a:r>
            <a:endParaRPr lang="en-US"/>
          </a:p>
        </p:txBody>
      </p:sp>
      <p:sp>
        <p:nvSpPr>
          <p:cNvPr id="2" name="Rectangle 1">
            <a:extLst>
              <a:ext uri="{FF2B5EF4-FFF2-40B4-BE49-F238E27FC236}">
                <a16:creationId xmlns:a16="http://schemas.microsoft.com/office/drawing/2014/main" id="{63F7AB2C-2DF8-1B4B-9409-DE4766264A03}"/>
              </a:ext>
            </a:extLst>
          </p:cNvPr>
          <p:cNvSpPr/>
          <p:nvPr/>
        </p:nvSpPr>
        <p:spPr>
          <a:xfrm>
            <a:off x="5403850" y="846276"/>
            <a:ext cx="3282950" cy="523220"/>
          </a:xfrm>
          <a:prstGeom prst="rect">
            <a:avLst/>
          </a:prstGeom>
        </p:spPr>
        <p:txBody>
          <a:bodyPr wrap="square" anchor="b" anchorCtr="0">
            <a:spAutoFit/>
          </a:bodyPr>
          <a:lstStyle/>
          <a:p>
            <a:r>
              <a:rPr lang="en-US" sz="2800" b="1" spc="-30" baseline="0">
                <a:solidFill>
                  <a:schemeClr val="tx2"/>
                </a:solidFill>
              </a:rPr>
              <a:t>Agenda</a:t>
            </a:r>
            <a:endParaRPr lang="en-US" sz="2800" b="1" spc="-30" baseline="0"/>
          </a:p>
        </p:txBody>
      </p:sp>
      <p:pic>
        <p:nvPicPr>
          <p:cNvPr id="8" name="Picture 7" descr="A picture containing drawing&#10;&#10;Description automatically generated">
            <a:extLst>
              <a:ext uri="{FF2B5EF4-FFF2-40B4-BE49-F238E27FC236}">
                <a16:creationId xmlns:a16="http://schemas.microsoft.com/office/drawing/2014/main" id="{2AAEFB0C-86C7-7147-ABCA-B90EB70DB6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3129357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Break Slide">
    <p:spTree>
      <p:nvGrpSpPr>
        <p:cNvPr id="1" name=""/>
        <p:cNvGrpSpPr/>
        <p:nvPr/>
      </p:nvGrpSpPr>
      <p:grpSpPr>
        <a:xfrm>
          <a:off x="0" y="0"/>
          <a:ext cx="0" cy="0"/>
          <a:chOff x="0" y="0"/>
          <a:chExt cx="0" cy="0"/>
        </a:xfrm>
      </p:grpSpPr>
      <p:pic>
        <p:nvPicPr>
          <p:cNvPr id="7" name="Picture 6" descr="A picture containing drawing&#10;&#10;Description automatically generated">
            <a:extLst>
              <a:ext uri="{FF2B5EF4-FFF2-40B4-BE49-F238E27FC236}">
                <a16:creationId xmlns:a16="http://schemas.microsoft.com/office/drawing/2014/main" id="{E21BE1D2-3076-AD4A-9281-ECA963C2012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1196" y="253039"/>
            <a:ext cx="1323025" cy="271854"/>
          </a:xfrm>
          <a:prstGeom prst="rect">
            <a:avLst/>
          </a:prstGeom>
        </p:spPr>
      </p:pic>
      <p:sp>
        <p:nvSpPr>
          <p:cNvPr id="10" name="Picture Placeholder 2">
            <a:extLst>
              <a:ext uri="{FF2B5EF4-FFF2-40B4-BE49-F238E27FC236}">
                <a16:creationId xmlns:a16="http://schemas.microsoft.com/office/drawing/2014/main" id="{F36B6981-A20D-CA4F-97FC-80FA71E16B7C}"/>
              </a:ext>
            </a:extLst>
          </p:cNvPr>
          <p:cNvSpPr>
            <a:spLocks noGrp="1"/>
          </p:cNvSpPr>
          <p:nvPr>
            <p:ph type="pic" idx="1" hasCustomPrompt="1"/>
          </p:nvPr>
        </p:nvSpPr>
        <p:spPr>
          <a:xfrm>
            <a:off x="240980" y="650602"/>
            <a:ext cx="8661400" cy="3062657"/>
          </a:xfrm>
        </p:spPr>
        <p:txBody>
          <a:bodyPr>
            <a:normAutofit/>
          </a:bodyPr>
          <a:lstStyle>
            <a:lvl1pPr marL="0" indent="0">
              <a:buNone/>
              <a:defRPr sz="2400">
                <a:solidFill>
                  <a:schemeClr val="bg1">
                    <a:lumMod val="75000"/>
                  </a:schemeClr>
                </a:solidFill>
              </a:defRPr>
            </a:lvl1pPr>
          </a:lstStyle>
          <a:p>
            <a:r>
              <a:rPr lang="en-US"/>
              <a:t>Click on Icon to add photo</a:t>
            </a:r>
          </a:p>
        </p:txBody>
      </p:sp>
      <p:sp>
        <p:nvSpPr>
          <p:cNvPr id="13" name="Slide Number Placeholder 7">
            <a:extLst>
              <a:ext uri="{FF2B5EF4-FFF2-40B4-BE49-F238E27FC236}">
                <a16:creationId xmlns:a16="http://schemas.microsoft.com/office/drawing/2014/main" id="{9330DB4E-31C3-654D-84D2-84EC9414743B}"/>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9" name="Title 1">
            <a:extLst>
              <a:ext uri="{FF2B5EF4-FFF2-40B4-BE49-F238E27FC236}">
                <a16:creationId xmlns:a16="http://schemas.microsoft.com/office/drawing/2014/main" id="{D92AA551-D09E-3D40-9F3B-C99E852A0D8E}"/>
              </a:ext>
            </a:extLst>
          </p:cNvPr>
          <p:cNvSpPr>
            <a:spLocks noGrp="1"/>
          </p:cNvSpPr>
          <p:nvPr>
            <p:ph type="title" hasCustomPrompt="1"/>
          </p:nvPr>
        </p:nvSpPr>
        <p:spPr>
          <a:xfrm>
            <a:off x="2654300" y="3775379"/>
            <a:ext cx="6286500" cy="425054"/>
          </a:xfrm>
        </p:spPr>
        <p:txBody>
          <a:bodyPr anchor="ctr">
            <a:noAutofit/>
          </a:bodyPr>
          <a:lstStyle>
            <a:lvl1pPr algn="l">
              <a:defRPr sz="3600" b="1" spc="-40" baseline="0">
                <a:solidFill>
                  <a:srgbClr val="EC1300"/>
                </a:solidFill>
              </a:defRPr>
            </a:lvl1pPr>
          </a:lstStyle>
          <a:p>
            <a:r>
              <a:rPr lang="en-US"/>
              <a:t>Add Section Page Title 36 </a:t>
            </a:r>
            <a:r>
              <a:rPr lang="en-US" err="1"/>
              <a:t>pt</a:t>
            </a:r>
            <a:endParaRPr lang="en-US"/>
          </a:p>
        </p:txBody>
      </p:sp>
      <p:sp>
        <p:nvSpPr>
          <p:cNvPr id="12" name="Text Placeholder 3">
            <a:extLst>
              <a:ext uri="{FF2B5EF4-FFF2-40B4-BE49-F238E27FC236}">
                <a16:creationId xmlns:a16="http://schemas.microsoft.com/office/drawing/2014/main" id="{6743DBF3-FA9C-3C4B-A173-B17381553231}"/>
              </a:ext>
            </a:extLst>
          </p:cNvPr>
          <p:cNvSpPr>
            <a:spLocks noGrp="1"/>
          </p:cNvSpPr>
          <p:nvPr>
            <p:ph type="body" sz="half" idx="2" hasCustomPrompt="1"/>
          </p:nvPr>
        </p:nvSpPr>
        <p:spPr>
          <a:xfrm>
            <a:off x="2654300" y="4200432"/>
            <a:ext cx="6286500" cy="603647"/>
          </a:xfrm>
        </p:spPr>
        <p:txBody>
          <a:bodyPr anchor="t">
            <a:normAutofit/>
          </a:bodyPr>
          <a:lstStyle>
            <a:lvl1pPr marL="0" indent="0">
              <a:buNone/>
              <a:defRPr sz="2400" spc="-10" baseline="0"/>
            </a:lvl1pPr>
          </a:lstStyle>
          <a:p>
            <a:r>
              <a:rPr lang="en-US"/>
              <a:t>Add Section Page Subtitle 24 </a:t>
            </a:r>
            <a:r>
              <a:rPr lang="en-US" err="1"/>
              <a:t>pt</a:t>
            </a:r>
            <a:endParaRPr lang="en-US"/>
          </a:p>
        </p:txBody>
      </p:sp>
    </p:spTree>
    <p:extLst>
      <p:ext uri="{BB962C8B-B14F-4D97-AF65-F5344CB8AC3E}">
        <p14:creationId xmlns:p14="http://schemas.microsoft.com/office/powerpoint/2010/main" val="158445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ullet Text - no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93579"/>
            <a:ext cx="651863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4739229"/>
            <a:ext cx="1323025" cy="271854"/>
          </a:xfrm>
          <a:prstGeom prst="rect">
            <a:avLst/>
          </a:prstGeom>
        </p:spPr>
      </p:pic>
      <p:sp>
        <p:nvSpPr>
          <p:cNvPr id="6" name="Slide Number Placeholder 7">
            <a:extLst>
              <a:ext uri="{FF2B5EF4-FFF2-40B4-BE49-F238E27FC236}">
                <a16:creationId xmlns:a16="http://schemas.microsoft.com/office/drawing/2014/main" id="{B0A7B39C-6D33-CA40-BC21-658D76AED443}"/>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5" name="Text Placeholder 4">
            <a:extLst>
              <a:ext uri="{FF2B5EF4-FFF2-40B4-BE49-F238E27FC236}">
                <a16:creationId xmlns:a16="http://schemas.microsoft.com/office/drawing/2014/main" id="{78C0C067-CE1A-804E-91EE-BA47614A3DA4}"/>
              </a:ext>
            </a:extLst>
          </p:cNvPr>
          <p:cNvSpPr>
            <a:spLocks noGrp="1"/>
          </p:cNvSpPr>
          <p:nvPr>
            <p:ph type="body" sz="quarter" idx="10" hasCustomPrompt="1"/>
          </p:nvPr>
        </p:nvSpPr>
        <p:spPr>
          <a:xfrm>
            <a:off x="457200" y="1132114"/>
            <a:ext cx="6518275" cy="3659669"/>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7257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 – No Logo">
    <p:spTree>
      <p:nvGrpSpPr>
        <p:cNvPr id="1" name=""/>
        <p:cNvGrpSpPr/>
        <p:nvPr/>
      </p:nvGrpSpPr>
      <p:grpSpPr>
        <a:xfrm>
          <a:off x="0" y="0"/>
          <a:ext cx="0" cy="0"/>
          <a:chOff x="0" y="0"/>
          <a:chExt cx="0" cy="0"/>
        </a:xfrm>
      </p:grpSpPr>
      <p:sp>
        <p:nvSpPr>
          <p:cNvPr id="11"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433347" y="375717"/>
            <a:ext cx="781897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sp>
        <p:nvSpPr>
          <p:cNvPr id="4" name="Content Placeholder 3">
            <a:extLst>
              <a:ext uri="{FF2B5EF4-FFF2-40B4-BE49-F238E27FC236}">
                <a16:creationId xmlns:a16="http://schemas.microsoft.com/office/drawing/2014/main" id="{858522F9-8BBA-7E4E-83BB-F32530F429FC}"/>
              </a:ext>
            </a:extLst>
          </p:cNvPr>
          <p:cNvSpPr>
            <a:spLocks noGrp="1"/>
          </p:cNvSpPr>
          <p:nvPr>
            <p:ph sz="quarter" idx="11" hasCustomPrompt="1"/>
          </p:nvPr>
        </p:nvSpPr>
        <p:spPr>
          <a:xfrm>
            <a:off x="434911" y="1017642"/>
            <a:ext cx="7818543"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Tree>
    <p:extLst>
      <p:ext uri="{BB962C8B-B14F-4D97-AF65-F5344CB8AC3E}">
        <p14:creationId xmlns:p14="http://schemas.microsoft.com/office/powerpoint/2010/main" val="3630594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ic Left, Title&amp;Text Right – No logo">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EDFE468-84B4-B749-A8FB-46BED87288EE}"/>
              </a:ext>
            </a:extLst>
          </p:cNvPr>
          <p:cNvSpPr>
            <a:spLocks noGrp="1"/>
          </p:cNvSpPr>
          <p:nvPr>
            <p:ph type="title" hasCustomPrompt="1"/>
          </p:nvPr>
        </p:nvSpPr>
        <p:spPr>
          <a:xfrm>
            <a:off x="5403399" y="540690"/>
            <a:ext cx="3204891" cy="979382"/>
          </a:xfrm>
        </p:spPr>
        <p:txBody>
          <a:bodyPr anchor="b" anchorCtr="0">
            <a:normAutofit/>
          </a:bodyPr>
          <a:lstStyle>
            <a:lvl1pPr algn="l">
              <a:defRPr sz="2800" b="1" spc="-30" baseline="0">
                <a:solidFill>
                  <a:srgbClr val="EC1300"/>
                </a:solidFill>
              </a:defRPr>
            </a:lvl1pPr>
          </a:lstStyle>
          <a:p>
            <a:r>
              <a:rPr lang="en-US"/>
              <a:t>Add Title 28 </a:t>
            </a:r>
            <a:r>
              <a:rPr lang="en-US" err="1"/>
              <a:t>pt</a:t>
            </a:r>
            <a:endParaRPr lang="en-US"/>
          </a:p>
        </p:txBody>
      </p:sp>
      <p:sp>
        <p:nvSpPr>
          <p:cNvPr id="3" name="Text Placeholder 2">
            <a:extLst>
              <a:ext uri="{FF2B5EF4-FFF2-40B4-BE49-F238E27FC236}">
                <a16:creationId xmlns:a16="http://schemas.microsoft.com/office/drawing/2014/main" id="{ABDFBC2D-E460-A241-9C49-5441A1348CB8}"/>
              </a:ext>
            </a:extLst>
          </p:cNvPr>
          <p:cNvSpPr>
            <a:spLocks noGrp="1"/>
          </p:cNvSpPr>
          <p:nvPr>
            <p:ph type="body" sz="quarter" idx="10" hasCustomPrompt="1"/>
          </p:nvPr>
        </p:nvSpPr>
        <p:spPr>
          <a:xfrm>
            <a:off x="5403850" y="1689363"/>
            <a:ext cx="3204891" cy="3068637"/>
          </a:xfrm>
        </p:spPr>
        <p:txBody>
          <a:bodyPr/>
          <a:lstStyle>
            <a:lvl1pPr marL="230188" indent="-230188">
              <a:spcBef>
                <a:spcPts val="0"/>
              </a:spcBef>
              <a:tabLst/>
              <a:defRPr sz="2000" spc="-10" baseline="0"/>
            </a:lvl1pPr>
            <a:lvl2pPr>
              <a:spcBef>
                <a:spcPts val="200"/>
              </a:spcBef>
              <a:defRPr sz="1800" spc="-10" baseline="0"/>
            </a:lvl2pPr>
            <a:lvl3pPr>
              <a:defRPr sz="1800" spc="-10" baseline="0"/>
            </a:lvl3pPr>
            <a:lvl4pPr marL="1433513" indent="-230188">
              <a:spcBef>
                <a:spcPts val="200"/>
              </a:spcBef>
              <a:tabLst/>
              <a:defRPr sz="1800" spc="-10" baseline="0"/>
            </a:lvl4pPr>
          </a:lstStyle>
          <a:p>
            <a:pPr lvl="0"/>
            <a:r>
              <a:rPr lang="en-US"/>
              <a:t>Click to add bullet text 20 </a:t>
            </a:r>
            <a:r>
              <a:rPr lang="en-US" err="1"/>
              <a:t>pt</a:t>
            </a:r>
            <a:endParaRPr lang="en-US"/>
          </a:p>
          <a:p>
            <a:pPr lvl="1"/>
            <a:r>
              <a:rPr lang="en-US"/>
              <a:t>Second level</a:t>
            </a:r>
          </a:p>
          <a:p>
            <a:pPr lvl="2"/>
            <a:r>
              <a:rPr lang="en-US"/>
              <a:t>Third level</a:t>
            </a:r>
          </a:p>
          <a:p>
            <a:pPr lvl="3"/>
            <a:r>
              <a:rPr lang="en-US"/>
              <a:t>Fourth level</a:t>
            </a:r>
          </a:p>
        </p:txBody>
      </p:sp>
      <p:sp>
        <p:nvSpPr>
          <p:cNvPr id="13" name="Slide Number Placeholder 7">
            <a:extLst>
              <a:ext uri="{FF2B5EF4-FFF2-40B4-BE49-F238E27FC236}">
                <a16:creationId xmlns:a16="http://schemas.microsoft.com/office/drawing/2014/main" id="{11055843-417F-2944-9277-0FCEC3E2FAB2}"/>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7" name="Content Placeholder 3">
            <a:extLst>
              <a:ext uri="{FF2B5EF4-FFF2-40B4-BE49-F238E27FC236}">
                <a16:creationId xmlns:a16="http://schemas.microsoft.com/office/drawing/2014/main" id="{A050E5AB-616F-984D-ABBC-350C963FCD32}"/>
              </a:ext>
            </a:extLst>
          </p:cNvPr>
          <p:cNvSpPr>
            <a:spLocks noGrp="1"/>
          </p:cNvSpPr>
          <p:nvPr>
            <p:ph sz="quarter" idx="11" hasCustomPrompt="1"/>
          </p:nvPr>
        </p:nvSpPr>
        <p:spPr>
          <a:xfrm>
            <a:off x="389614" y="540690"/>
            <a:ext cx="4868959" cy="421731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Tree>
    <p:extLst>
      <p:ext uri="{BB962C8B-B14F-4D97-AF65-F5344CB8AC3E}">
        <p14:creationId xmlns:p14="http://schemas.microsoft.com/office/powerpoint/2010/main" val="40438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 Text – No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41298" y="1151335"/>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5" name="Text Placeholder 4"/>
          <p:cNvSpPr>
            <a:spLocks noGrp="1"/>
          </p:cNvSpPr>
          <p:nvPr>
            <p:ph type="body" sz="quarter" idx="3" hasCustomPrompt="1"/>
          </p:nvPr>
        </p:nvSpPr>
        <p:spPr>
          <a:xfrm>
            <a:off x="4645026" y="1151335"/>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4" name="Text Placeholder 3">
            <a:extLst>
              <a:ext uri="{FF2B5EF4-FFF2-40B4-BE49-F238E27FC236}">
                <a16:creationId xmlns:a16="http://schemas.microsoft.com/office/drawing/2014/main" id="{EC07FBF0-97CC-DD42-9748-15529A714E43}"/>
              </a:ext>
            </a:extLst>
          </p:cNvPr>
          <p:cNvSpPr>
            <a:spLocks noGrp="1"/>
          </p:cNvSpPr>
          <p:nvPr>
            <p:ph type="body" sz="quarter" idx="12" hasCustomPrompt="1"/>
          </p:nvPr>
        </p:nvSpPr>
        <p:spPr>
          <a:xfrm>
            <a:off x="442912" y="1675354"/>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3" name="Text Placeholder 3">
            <a:extLst>
              <a:ext uri="{FF2B5EF4-FFF2-40B4-BE49-F238E27FC236}">
                <a16:creationId xmlns:a16="http://schemas.microsoft.com/office/drawing/2014/main" id="{025E100A-F4F4-0B4F-B4C6-14FA523D1415}"/>
              </a:ext>
            </a:extLst>
          </p:cNvPr>
          <p:cNvSpPr>
            <a:spLocks noGrp="1"/>
          </p:cNvSpPr>
          <p:nvPr>
            <p:ph type="body" sz="quarter" idx="13" hasCustomPrompt="1"/>
          </p:nvPr>
        </p:nvSpPr>
        <p:spPr>
          <a:xfrm>
            <a:off x="4645026" y="1675354"/>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0" name="Text Placeholder 3">
            <a:extLst>
              <a:ext uri="{FF2B5EF4-FFF2-40B4-BE49-F238E27FC236}">
                <a16:creationId xmlns:a16="http://schemas.microsoft.com/office/drawing/2014/main" id="{8F9F467A-8E98-7346-B4E6-7FC87C735547}"/>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4" name="Slide Number Placeholder 7">
            <a:extLst>
              <a:ext uri="{FF2B5EF4-FFF2-40B4-BE49-F238E27FC236}">
                <a16:creationId xmlns:a16="http://schemas.microsoft.com/office/drawing/2014/main" id="{5A858944-1D8F-3B42-95E7-F085EA57C8C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Tree>
    <p:extLst>
      <p:ext uri="{BB962C8B-B14F-4D97-AF65-F5344CB8AC3E}">
        <p14:creationId xmlns:p14="http://schemas.microsoft.com/office/powerpoint/2010/main" val="3252352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lumn Photos – No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151335"/>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5" name="Text Placeholder 4"/>
          <p:cNvSpPr>
            <a:spLocks noGrp="1"/>
          </p:cNvSpPr>
          <p:nvPr>
            <p:ph type="body" sz="quarter" idx="3" hasCustomPrompt="1"/>
          </p:nvPr>
        </p:nvSpPr>
        <p:spPr>
          <a:xfrm>
            <a:off x="4645026" y="1151335"/>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676261"/>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676261"/>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Tree>
    <p:extLst>
      <p:ext uri="{BB962C8B-B14F-4D97-AF65-F5344CB8AC3E}">
        <p14:creationId xmlns:p14="http://schemas.microsoft.com/office/powerpoint/2010/main" val="597552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no tex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230085"/>
            <a:ext cx="4040189" cy="3335999"/>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230085"/>
            <a:ext cx="4040189" cy="333600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Tree>
    <p:extLst>
      <p:ext uri="{BB962C8B-B14F-4D97-AF65-F5344CB8AC3E}">
        <p14:creationId xmlns:p14="http://schemas.microsoft.com/office/powerpoint/2010/main" val="1622331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text righ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186543"/>
            <a:ext cx="4040189" cy="3379542"/>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4589369" y="1186544"/>
            <a:ext cx="4095844" cy="3379542"/>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Tree>
    <p:extLst>
      <p:ext uri="{BB962C8B-B14F-4D97-AF65-F5344CB8AC3E}">
        <p14:creationId xmlns:p14="http://schemas.microsoft.com/office/powerpoint/2010/main" val="2621252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text lef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645024" y="1117174"/>
            <a:ext cx="4040189" cy="3379542"/>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457200" y="1117174"/>
            <a:ext cx="4040189" cy="3379542"/>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Tree>
    <p:extLst>
      <p:ext uri="{BB962C8B-B14F-4D97-AF65-F5344CB8AC3E}">
        <p14:creationId xmlns:p14="http://schemas.microsoft.com/office/powerpoint/2010/main" val="4028049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ullet Text – Red No Log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6840" y="447137"/>
            <a:ext cx="6518635" cy="507651"/>
          </a:xfrm>
        </p:spPr>
        <p:txBody>
          <a:bodyPr>
            <a:noAutofit/>
          </a:bodyPr>
          <a:lstStyle>
            <a:lvl1pPr algn="l">
              <a:defRPr sz="2800" b="1" spc="-30" baseline="0">
                <a:solidFill>
                  <a:schemeClr val="bg1"/>
                </a:solidFill>
              </a:defRPr>
            </a:lvl1pPr>
          </a:lstStyle>
          <a:p>
            <a:r>
              <a:rPr lang="en-US"/>
              <a:t>Add Title 28 </a:t>
            </a:r>
            <a:r>
              <a:rPr lang="en-US" err="1"/>
              <a:t>pt</a:t>
            </a:r>
            <a:endParaRPr lang="en-US"/>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a:p>
        </p:txBody>
      </p:sp>
      <p:sp>
        <p:nvSpPr>
          <p:cNvPr id="6" name="Text Placeholder 4">
            <a:extLst>
              <a:ext uri="{FF2B5EF4-FFF2-40B4-BE49-F238E27FC236}">
                <a16:creationId xmlns:a16="http://schemas.microsoft.com/office/drawing/2014/main" id="{5333833B-5017-1F4F-B8C7-0FC53207AFED}"/>
              </a:ext>
            </a:extLst>
          </p:cNvPr>
          <p:cNvSpPr>
            <a:spLocks noGrp="1"/>
          </p:cNvSpPr>
          <p:nvPr>
            <p:ph type="body" sz="quarter" idx="10" hasCustomPrompt="1"/>
          </p:nvPr>
        </p:nvSpPr>
        <p:spPr>
          <a:xfrm>
            <a:off x="457200" y="1032387"/>
            <a:ext cx="6518275" cy="3663976"/>
          </a:xfrm>
        </p:spPr>
        <p:txBody>
          <a:bodyPr>
            <a:normAutofit/>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56042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 Text – Pink No Logo">
    <p:bg>
      <p:bgPr>
        <a:solidFill>
          <a:schemeClr val="accent2"/>
        </a:solidFill>
        <a:effectLst/>
      </p:bgPr>
    </p:bg>
    <p:spTree>
      <p:nvGrpSpPr>
        <p:cNvPr id="1" name=""/>
        <p:cNvGrpSpPr/>
        <p:nvPr/>
      </p:nvGrpSpPr>
      <p:grpSpPr>
        <a:xfrm>
          <a:off x="0" y="0"/>
          <a:ext cx="0" cy="0"/>
          <a:chOff x="0" y="0"/>
          <a:chExt cx="0" cy="0"/>
        </a:xfrm>
      </p:grpSpPr>
      <p:sp>
        <p:nvSpPr>
          <p:cNvPr id="11" name="Slide Number Placeholder 7">
            <a:extLst>
              <a:ext uri="{FF2B5EF4-FFF2-40B4-BE49-F238E27FC236}">
                <a16:creationId xmlns:a16="http://schemas.microsoft.com/office/drawing/2014/main" id="{E83C8F9E-8AA2-E641-B7D1-A9EFACF7537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2" name="Title 1">
            <a:extLst>
              <a:ext uri="{FF2B5EF4-FFF2-40B4-BE49-F238E27FC236}">
                <a16:creationId xmlns:a16="http://schemas.microsoft.com/office/drawing/2014/main" id="{F2FB2457-2C0A-A640-A4D6-B2180523C314}"/>
              </a:ext>
            </a:extLst>
          </p:cNvPr>
          <p:cNvSpPr>
            <a:spLocks noGrp="1"/>
          </p:cNvSpPr>
          <p:nvPr>
            <p:ph type="title" hasCustomPrompt="1"/>
          </p:nvPr>
        </p:nvSpPr>
        <p:spPr>
          <a:xfrm>
            <a:off x="457200" y="343913"/>
            <a:ext cx="7852347" cy="507651"/>
          </a:xfrm>
        </p:spPr>
        <p:txBody>
          <a:bodyPr>
            <a:noAutofit/>
          </a:bodyPr>
          <a:lstStyle>
            <a:lvl1pPr algn="l">
              <a:defRPr sz="2800" b="1" spc="-30" baseline="0">
                <a:solidFill>
                  <a:srgbClr val="EC1300"/>
                </a:solidFill>
              </a:defRPr>
            </a:lvl1pPr>
          </a:lstStyle>
          <a:p>
            <a:r>
              <a:rPr lang="en-US"/>
              <a:t>Add Title 28 </a:t>
            </a:r>
            <a:r>
              <a:rPr lang="en-US" err="1"/>
              <a:t>pt</a:t>
            </a:r>
            <a:endParaRPr lang="en-US"/>
          </a:p>
        </p:txBody>
      </p:sp>
      <p:sp>
        <p:nvSpPr>
          <p:cNvPr id="8" name="Text Placeholder 4">
            <a:extLst>
              <a:ext uri="{FF2B5EF4-FFF2-40B4-BE49-F238E27FC236}">
                <a16:creationId xmlns:a16="http://schemas.microsoft.com/office/drawing/2014/main" id="{8C97D043-1EE0-4341-9F8F-81820A2A7670}"/>
              </a:ext>
            </a:extLst>
          </p:cNvPr>
          <p:cNvSpPr>
            <a:spLocks noGrp="1"/>
          </p:cNvSpPr>
          <p:nvPr>
            <p:ph type="body" sz="quarter" idx="10" hasCustomPrompt="1"/>
          </p:nvPr>
        </p:nvSpPr>
        <p:spPr>
          <a:xfrm>
            <a:off x="457200" y="992188"/>
            <a:ext cx="7851913"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48029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 Text – Salmon No Logo">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3913"/>
            <a:ext cx="6518635" cy="507651"/>
          </a:xfrm>
        </p:spPr>
        <p:txBody>
          <a:bodyPr>
            <a:noAutofit/>
          </a:bodyPr>
          <a:lstStyle>
            <a:lvl1pPr algn="l">
              <a:defRPr sz="2800" b="1" spc="-30" baseline="0">
                <a:solidFill>
                  <a:schemeClr val="accent6"/>
                </a:solidFill>
              </a:defRPr>
            </a:lvl1pPr>
          </a:lstStyle>
          <a:p>
            <a:r>
              <a:rPr lang="en-US"/>
              <a:t>Add Title 28 </a:t>
            </a:r>
            <a:r>
              <a:rPr lang="en-US" err="1"/>
              <a:t>pt</a:t>
            </a:r>
            <a:endParaRPr lang="en-US"/>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a:p>
        </p:txBody>
      </p:sp>
      <p:sp>
        <p:nvSpPr>
          <p:cNvPr id="9" name="Text Placeholder 4">
            <a:extLst>
              <a:ext uri="{FF2B5EF4-FFF2-40B4-BE49-F238E27FC236}">
                <a16:creationId xmlns:a16="http://schemas.microsoft.com/office/drawing/2014/main" id="{D2CB997B-D680-5049-82CB-3A19A2889E49}"/>
              </a:ext>
            </a:extLst>
          </p:cNvPr>
          <p:cNvSpPr>
            <a:spLocks noGrp="1"/>
          </p:cNvSpPr>
          <p:nvPr>
            <p:ph type="body" sz="quarter" idx="11" hasCustomPrompt="1"/>
          </p:nvPr>
        </p:nvSpPr>
        <p:spPr>
          <a:xfrm>
            <a:off x="457200" y="981036"/>
            <a:ext cx="6518275" cy="3394075"/>
          </a:xfrm>
        </p:spPr>
        <p:txBody>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63323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clusion - AARP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381663" y="509420"/>
            <a:ext cx="4854621" cy="4332830"/>
          </a:xfrm>
        </p:spPr>
        <p:txBody>
          <a:bodyPr>
            <a:normAutofit/>
          </a:bodyPr>
          <a:lstStyle>
            <a:lvl1pPr marL="0" indent="0">
              <a:buNone/>
              <a:defRPr sz="2400">
                <a:solidFill>
                  <a:schemeClr val="tx1">
                    <a:lumMod val="50000"/>
                    <a:lumOff val="50000"/>
                  </a:schemeClr>
                </a:solidFill>
              </a:defRPr>
            </a:lvl1pPr>
          </a:lstStyle>
          <a:p>
            <a:r>
              <a:rPr lang="en-US"/>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389719" y="1773206"/>
            <a:ext cx="3297082" cy="3068637"/>
          </a:xfrm>
        </p:spPr>
        <p:txBody>
          <a:bodyPr>
            <a:normAutofit/>
          </a:bodyPr>
          <a:lstStyle>
            <a:lvl1pPr marL="230188" indent="-230188">
              <a:tabLst/>
              <a:defRPr sz="2000">
                <a:solidFill>
                  <a:schemeClr val="tx1"/>
                </a:solidFill>
              </a:defRPr>
            </a:lvl1pPr>
          </a:lstStyle>
          <a:p>
            <a:r>
              <a:rPr lang="en-US"/>
              <a:t>Click to add bullet text 20 </a:t>
            </a:r>
            <a:r>
              <a:rPr lang="en-US" err="1"/>
              <a:t>pt</a:t>
            </a:r>
            <a:endParaRPr lang="en-US"/>
          </a:p>
        </p:txBody>
      </p:sp>
      <p:sp>
        <p:nvSpPr>
          <p:cNvPr id="2" name="Rectangle 1">
            <a:extLst>
              <a:ext uri="{FF2B5EF4-FFF2-40B4-BE49-F238E27FC236}">
                <a16:creationId xmlns:a16="http://schemas.microsoft.com/office/drawing/2014/main" id="{63F7AB2C-2DF8-1B4B-9409-DE4766264A03}"/>
              </a:ext>
            </a:extLst>
          </p:cNvPr>
          <p:cNvSpPr/>
          <p:nvPr/>
        </p:nvSpPr>
        <p:spPr>
          <a:xfrm>
            <a:off x="5351961" y="766759"/>
            <a:ext cx="3334839" cy="523220"/>
          </a:xfrm>
          <a:prstGeom prst="rect">
            <a:avLst/>
          </a:prstGeom>
        </p:spPr>
        <p:txBody>
          <a:bodyPr wrap="square" anchor="b" anchorCtr="0">
            <a:spAutoFit/>
          </a:bodyPr>
          <a:lstStyle/>
          <a:p>
            <a:r>
              <a:rPr lang="en-US" sz="2800" b="1" spc="-30" baseline="0">
                <a:solidFill>
                  <a:schemeClr val="tx2"/>
                </a:solidFill>
              </a:rPr>
              <a:t>Conclusion</a:t>
            </a:r>
            <a:endParaRPr lang="en-US" sz="2800" b="1" spc="-30" baseline="0"/>
          </a:p>
        </p:txBody>
      </p:sp>
      <p:pic>
        <p:nvPicPr>
          <p:cNvPr id="9" name="Picture 8" descr="A picture containing drawing&#10;&#10;Description automatically generated">
            <a:extLst>
              <a:ext uri="{FF2B5EF4-FFF2-40B4-BE49-F238E27FC236}">
                <a16:creationId xmlns:a16="http://schemas.microsoft.com/office/drawing/2014/main" id="{8EECAAC7-30E9-1441-9836-3C41A68310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2118155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Upcoming Events - AARP Logo">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1803801" y="890632"/>
            <a:ext cx="6592947" cy="3421682"/>
          </a:xfrm>
        </p:spPr>
        <p:txBody>
          <a:bodyPr>
            <a:normAutofit/>
          </a:bodyPr>
          <a:lstStyle>
            <a:lvl1pPr marL="0" indent="0">
              <a:buFont typeface="Arial" panose="020B0604020202020204" pitchFamily="34" charset="0"/>
              <a:buNone/>
              <a:tabLst/>
              <a:defRPr sz="1800" b="0"/>
            </a:lvl1pPr>
            <a:lvl2pPr marL="742950" indent="-285750">
              <a:buFont typeface="Courier New" panose="02070309020205020404" pitchFamily="49" charset="0"/>
              <a:buChar char="o"/>
              <a:defRPr sz="2000"/>
            </a:lvl2pPr>
          </a:lstStyle>
          <a:p>
            <a:pPr lvl="0"/>
            <a:r>
              <a:rPr lang="en-US"/>
              <a:t>Click to add Event Titles, Dates, Times, etc.</a:t>
            </a:r>
          </a:p>
        </p:txBody>
      </p:sp>
      <p:sp>
        <p:nvSpPr>
          <p:cNvPr id="3" name="Text Placeholder 2">
            <a:extLst>
              <a:ext uri="{FF2B5EF4-FFF2-40B4-BE49-F238E27FC236}">
                <a16:creationId xmlns:a16="http://schemas.microsoft.com/office/drawing/2014/main" id="{D62358B0-F45A-49E9-B8E9-029F5906DE72}"/>
              </a:ext>
            </a:extLst>
          </p:cNvPr>
          <p:cNvSpPr>
            <a:spLocks noGrp="1"/>
          </p:cNvSpPr>
          <p:nvPr>
            <p:ph type="body" sz="quarter" idx="15" hasCustomPrompt="1"/>
          </p:nvPr>
        </p:nvSpPr>
        <p:spPr>
          <a:xfrm>
            <a:off x="289634" y="4481661"/>
            <a:ext cx="8107114" cy="386940"/>
          </a:xfrm>
        </p:spPr>
        <p:txBody>
          <a:bodyPr>
            <a:noAutofit/>
          </a:bodyPr>
          <a:lstStyle>
            <a:lvl1pPr marL="0" indent="0">
              <a:buNone/>
              <a:defRPr sz="1600"/>
            </a:lvl1pPr>
          </a:lstStyle>
          <a:p>
            <a:pPr lvl="0"/>
            <a:r>
              <a:rPr lang="en-US"/>
              <a:t>Click to add URL for where participants can learn more or register for the events above</a:t>
            </a:r>
          </a:p>
        </p:txBody>
      </p:sp>
      <p:pic>
        <p:nvPicPr>
          <p:cNvPr id="8" name="Picture 7" descr="A white plate&#10;&#10;Description automatically generated">
            <a:extLst>
              <a:ext uri="{FF2B5EF4-FFF2-40B4-BE49-F238E27FC236}">
                <a16:creationId xmlns:a16="http://schemas.microsoft.com/office/drawing/2014/main" id="{F2406FB0-C741-4DB8-B820-EAF6ED0792D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89634" y="2152829"/>
            <a:ext cx="1602923" cy="1306016"/>
          </a:xfrm>
          <a:prstGeom prst="rect">
            <a:avLst/>
          </a:prstGeom>
        </p:spPr>
      </p:pic>
      <p:sp>
        <p:nvSpPr>
          <p:cNvPr id="2" name="TextBox 1">
            <a:extLst>
              <a:ext uri="{FF2B5EF4-FFF2-40B4-BE49-F238E27FC236}">
                <a16:creationId xmlns:a16="http://schemas.microsoft.com/office/drawing/2014/main" id="{C0B24C9C-A997-4570-9874-25ED1CAAA2AE}"/>
              </a:ext>
            </a:extLst>
          </p:cNvPr>
          <p:cNvSpPr txBox="1"/>
          <p:nvPr/>
        </p:nvSpPr>
        <p:spPr>
          <a:xfrm>
            <a:off x="210976" y="428966"/>
            <a:ext cx="8003458" cy="461665"/>
          </a:xfrm>
          <a:prstGeom prst="rect">
            <a:avLst/>
          </a:prstGeom>
          <a:noFill/>
        </p:spPr>
        <p:txBody>
          <a:bodyPr wrap="square" rtlCol="0">
            <a:spAutoFit/>
          </a:bodyPr>
          <a:lstStyle/>
          <a:p>
            <a:r>
              <a:rPr lang="en-US" sz="2400" b="1">
                <a:solidFill>
                  <a:srgbClr val="EE1300"/>
                </a:solidFill>
              </a:rPr>
              <a:t>Upcoming Events and Opportunities</a:t>
            </a:r>
          </a:p>
        </p:txBody>
      </p:sp>
      <p:pic>
        <p:nvPicPr>
          <p:cNvPr id="9" name="Picture 8" descr="A picture containing drawing&#10;&#10;Description automatically generated">
            <a:extLst>
              <a:ext uri="{FF2B5EF4-FFF2-40B4-BE49-F238E27FC236}">
                <a16:creationId xmlns:a16="http://schemas.microsoft.com/office/drawing/2014/main" id="{AB7A0BA1-6379-442A-B8D1-0C21020F24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2154077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Upcoming Events - State Logo">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1803801" y="1327354"/>
            <a:ext cx="6592947" cy="2984959"/>
          </a:xfrm>
        </p:spPr>
        <p:txBody>
          <a:bodyPr>
            <a:normAutofit/>
          </a:bodyPr>
          <a:lstStyle>
            <a:lvl1pPr marL="0" indent="0">
              <a:buFont typeface="Arial" panose="020B0604020202020204" pitchFamily="34" charset="0"/>
              <a:buNone/>
              <a:tabLst/>
              <a:defRPr sz="1800" b="0"/>
            </a:lvl1pPr>
            <a:lvl2pPr marL="742950" indent="-285750">
              <a:buFont typeface="Courier New" panose="02070309020205020404" pitchFamily="49" charset="0"/>
              <a:buChar char="o"/>
              <a:defRPr sz="2000"/>
            </a:lvl2pPr>
          </a:lstStyle>
          <a:p>
            <a:pPr lvl="0"/>
            <a:r>
              <a:rPr lang="en-US"/>
              <a:t>Click to add Event Titles, Dates, Times, etc.</a:t>
            </a:r>
          </a:p>
        </p:txBody>
      </p:sp>
      <p:sp>
        <p:nvSpPr>
          <p:cNvPr id="3" name="Text Placeholder 2">
            <a:extLst>
              <a:ext uri="{FF2B5EF4-FFF2-40B4-BE49-F238E27FC236}">
                <a16:creationId xmlns:a16="http://schemas.microsoft.com/office/drawing/2014/main" id="{D62358B0-F45A-49E9-B8E9-029F5906DE72}"/>
              </a:ext>
            </a:extLst>
          </p:cNvPr>
          <p:cNvSpPr>
            <a:spLocks noGrp="1"/>
          </p:cNvSpPr>
          <p:nvPr>
            <p:ph type="body" sz="quarter" idx="15" hasCustomPrompt="1"/>
          </p:nvPr>
        </p:nvSpPr>
        <p:spPr>
          <a:xfrm>
            <a:off x="289634" y="4481661"/>
            <a:ext cx="8107114" cy="386940"/>
          </a:xfrm>
        </p:spPr>
        <p:txBody>
          <a:bodyPr>
            <a:noAutofit/>
          </a:bodyPr>
          <a:lstStyle>
            <a:lvl1pPr marL="0" indent="0">
              <a:buNone/>
              <a:defRPr sz="1600"/>
            </a:lvl1pPr>
          </a:lstStyle>
          <a:p>
            <a:pPr lvl="0"/>
            <a:r>
              <a:rPr lang="en-US"/>
              <a:t>Click to add URL for where participants can learn more or register for the events above</a:t>
            </a:r>
          </a:p>
        </p:txBody>
      </p:sp>
      <p:pic>
        <p:nvPicPr>
          <p:cNvPr id="8" name="Picture 7" descr="A white plate&#10;&#10;Description automatically generated">
            <a:extLst>
              <a:ext uri="{FF2B5EF4-FFF2-40B4-BE49-F238E27FC236}">
                <a16:creationId xmlns:a16="http://schemas.microsoft.com/office/drawing/2014/main" id="{F2406FB0-C741-4DB8-B820-EAF6ED0792D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89634" y="2152829"/>
            <a:ext cx="1602923" cy="1306016"/>
          </a:xfrm>
          <a:prstGeom prst="rect">
            <a:avLst/>
          </a:prstGeom>
        </p:spPr>
      </p:pic>
      <p:sp>
        <p:nvSpPr>
          <p:cNvPr id="2" name="TextBox 1">
            <a:extLst>
              <a:ext uri="{FF2B5EF4-FFF2-40B4-BE49-F238E27FC236}">
                <a16:creationId xmlns:a16="http://schemas.microsoft.com/office/drawing/2014/main" id="{C0B24C9C-A997-4570-9874-25ED1CAAA2AE}"/>
              </a:ext>
            </a:extLst>
          </p:cNvPr>
          <p:cNvSpPr txBox="1"/>
          <p:nvPr/>
        </p:nvSpPr>
        <p:spPr>
          <a:xfrm>
            <a:off x="210976" y="865689"/>
            <a:ext cx="8003458" cy="461665"/>
          </a:xfrm>
          <a:prstGeom prst="rect">
            <a:avLst/>
          </a:prstGeom>
          <a:noFill/>
        </p:spPr>
        <p:txBody>
          <a:bodyPr wrap="square" rtlCol="0">
            <a:spAutoFit/>
          </a:bodyPr>
          <a:lstStyle/>
          <a:p>
            <a:r>
              <a:rPr lang="en-US" sz="2400" b="1">
                <a:solidFill>
                  <a:srgbClr val="EE1300"/>
                </a:solidFill>
              </a:rPr>
              <a:t>Upcoming Events and Opportunities</a:t>
            </a:r>
          </a:p>
        </p:txBody>
      </p:sp>
      <p:sp>
        <p:nvSpPr>
          <p:cNvPr id="7" name="Picture Placeholder 2">
            <a:extLst>
              <a:ext uri="{FF2B5EF4-FFF2-40B4-BE49-F238E27FC236}">
                <a16:creationId xmlns:a16="http://schemas.microsoft.com/office/drawing/2014/main" id="{53102310-3ED4-4851-8678-CC3582DE884D}"/>
              </a:ext>
            </a:extLst>
          </p:cNvPr>
          <p:cNvSpPr>
            <a:spLocks noGrp="1"/>
          </p:cNvSpPr>
          <p:nvPr>
            <p:ph type="pic" sz="quarter" idx="10" hasCustomPrompt="1"/>
          </p:nvPr>
        </p:nvSpPr>
        <p:spPr>
          <a:xfrm>
            <a:off x="289634" y="136987"/>
            <a:ext cx="1381125" cy="701675"/>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7479097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rvey Option 2">
    <p:spTree>
      <p:nvGrpSpPr>
        <p:cNvPr id="1" name=""/>
        <p:cNvGrpSpPr/>
        <p:nvPr/>
      </p:nvGrpSpPr>
      <p:grpSpPr>
        <a:xfrm>
          <a:off x="0" y="0"/>
          <a:ext cx="0" cy="0"/>
          <a:chOff x="0" y="0"/>
          <a:chExt cx="0" cy="0"/>
        </a:xfrm>
      </p:grpSpPr>
      <p:pic>
        <p:nvPicPr>
          <p:cNvPr id="7" name="Picture Placeholder 12">
            <a:extLst>
              <a:ext uri="{FF2B5EF4-FFF2-40B4-BE49-F238E27FC236}">
                <a16:creationId xmlns:a16="http://schemas.microsoft.com/office/drawing/2014/main" id="{3209CD7E-5ED3-424C-817E-DB508956288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06062" y="562948"/>
            <a:ext cx="8454480" cy="3143813"/>
          </a:xfrm>
          <a:prstGeom prst="rect">
            <a:avLst/>
          </a:prstGeom>
        </p:spPr>
      </p:pic>
      <p:sp>
        <p:nvSpPr>
          <p:cNvPr id="10" name="Title 1">
            <a:extLst>
              <a:ext uri="{FF2B5EF4-FFF2-40B4-BE49-F238E27FC236}">
                <a16:creationId xmlns:a16="http://schemas.microsoft.com/office/drawing/2014/main" id="{596ABF35-4E63-6848-A4FD-81B18654628E}"/>
              </a:ext>
            </a:extLst>
          </p:cNvPr>
          <p:cNvSpPr txBox="1">
            <a:spLocks/>
          </p:cNvSpPr>
          <p:nvPr/>
        </p:nvSpPr>
        <p:spPr>
          <a:xfrm>
            <a:off x="2724581" y="1391913"/>
            <a:ext cx="4598503" cy="148588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000" b="1" kern="1200">
                <a:solidFill>
                  <a:srgbClr val="EC1300"/>
                </a:solidFill>
                <a:latin typeface="Arial"/>
                <a:ea typeface="+mj-ea"/>
                <a:cs typeface="Arial"/>
              </a:defRPr>
            </a:lvl1pPr>
          </a:lstStyle>
          <a:p>
            <a:r>
              <a:rPr lang="en-US" sz="4500">
                <a:solidFill>
                  <a:schemeClr val="tx1"/>
                </a:solidFill>
              </a:rPr>
              <a:t>Survey</a:t>
            </a:r>
          </a:p>
        </p:txBody>
      </p:sp>
      <p:sp>
        <p:nvSpPr>
          <p:cNvPr id="14" name="Slide Number Placeholder 7">
            <a:extLst>
              <a:ext uri="{FF2B5EF4-FFF2-40B4-BE49-F238E27FC236}">
                <a16:creationId xmlns:a16="http://schemas.microsoft.com/office/drawing/2014/main" id="{677A7C90-B538-3B4A-8D46-D8BAF7C4B901}"/>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pic>
        <p:nvPicPr>
          <p:cNvPr id="9" name="Picture 8" descr="A picture containing drawing&#10;&#10;Description automatically generated">
            <a:extLst>
              <a:ext uri="{FF2B5EF4-FFF2-40B4-BE49-F238E27FC236}">
                <a16:creationId xmlns:a16="http://schemas.microsoft.com/office/drawing/2014/main" id="{1D04CD6C-56F6-5441-A86C-921702C0213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
        <p:nvSpPr>
          <p:cNvPr id="4" name="Text Placeholder 3">
            <a:extLst>
              <a:ext uri="{FF2B5EF4-FFF2-40B4-BE49-F238E27FC236}">
                <a16:creationId xmlns:a16="http://schemas.microsoft.com/office/drawing/2014/main" id="{34F2DBF2-F623-4E13-BC40-896EFBA5A3F8}"/>
              </a:ext>
            </a:extLst>
          </p:cNvPr>
          <p:cNvSpPr>
            <a:spLocks noGrp="1"/>
          </p:cNvSpPr>
          <p:nvPr>
            <p:ph type="body" sz="quarter" idx="10" hasCustomPrompt="1"/>
          </p:nvPr>
        </p:nvSpPr>
        <p:spPr>
          <a:xfrm>
            <a:off x="2606594" y="3795713"/>
            <a:ext cx="6153231" cy="385762"/>
          </a:xfrm>
        </p:spPr>
        <p:txBody>
          <a:bodyPr anchor="ctr">
            <a:noAutofit/>
          </a:bodyPr>
          <a:lstStyle>
            <a:lvl1pPr marL="0" indent="0">
              <a:buNone/>
              <a:defRPr sz="2800" b="1">
                <a:solidFill>
                  <a:srgbClr val="EC1300"/>
                </a:solidFill>
              </a:defRPr>
            </a:lvl1pPr>
          </a:lstStyle>
          <a:p>
            <a:pPr lvl="0"/>
            <a:r>
              <a:rPr lang="en-US" sz="2800"/>
              <a:t>We welcome your feedback</a:t>
            </a:r>
            <a:endParaRPr lang="en-US"/>
          </a:p>
        </p:txBody>
      </p:sp>
      <p:sp>
        <p:nvSpPr>
          <p:cNvPr id="6" name="Text Placeholder 5">
            <a:extLst>
              <a:ext uri="{FF2B5EF4-FFF2-40B4-BE49-F238E27FC236}">
                <a16:creationId xmlns:a16="http://schemas.microsoft.com/office/drawing/2014/main" id="{5B1F9784-9E8D-46F1-9843-E8ED143D925C}"/>
              </a:ext>
            </a:extLst>
          </p:cNvPr>
          <p:cNvSpPr>
            <a:spLocks noGrp="1"/>
          </p:cNvSpPr>
          <p:nvPr>
            <p:ph type="body" sz="quarter" idx="11" hasCustomPrompt="1"/>
          </p:nvPr>
        </p:nvSpPr>
        <p:spPr>
          <a:xfrm>
            <a:off x="2606675" y="4316413"/>
            <a:ext cx="4716463" cy="423862"/>
          </a:xfrm>
        </p:spPr>
        <p:txBody>
          <a:bodyPr anchor="ctr"/>
          <a:lstStyle>
            <a:lvl1pPr marL="0" marR="0" indent="0" algn="l" defTabSz="457200" rtl="0" eaLnBrk="1" fontAlgn="auto" latinLnBrk="0" hangingPunct="1">
              <a:lnSpc>
                <a:spcPct val="100000"/>
              </a:lnSpc>
              <a:spcBef>
                <a:spcPct val="20000"/>
              </a:spcBef>
              <a:spcAft>
                <a:spcPts val="0"/>
              </a:spcAft>
              <a:buClrTx/>
              <a:buSzTx/>
              <a:buFont typeface="Arial" panose="020B0604020202020204" pitchFamily="34" charset="0"/>
              <a:buNone/>
              <a:tabLst/>
              <a:defRPr sz="2000"/>
            </a:lvl1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t>Please complete the survey!</a:t>
            </a:r>
          </a:p>
        </p:txBody>
      </p:sp>
    </p:spTree>
    <p:extLst>
      <p:ext uri="{BB962C8B-B14F-4D97-AF65-F5344CB8AC3E}">
        <p14:creationId xmlns:p14="http://schemas.microsoft.com/office/powerpoint/2010/main" val="6924683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ep in Touch – AARP Logo">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ED151345-F5BD-DE40-8392-7AD5DA6BAFC7}"/>
              </a:ext>
            </a:extLst>
          </p:cNvPr>
          <p:cNvSpPr txBox="1">
            <a:spLocks/>
          </p:cNvSpPr>
          <p:nvPr/>
        </p:nvSpPr>
        <p:spPr>
          <a:xfrm>
            <a:off x="378542" y="1455633"/>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Email:</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4" name="Text Placeholder 3">
            <a:extLst>
              <a:ext uri="{FF2B5EF4-FFF2-40B4-BE49-F238E27FC236}">
                <a16:creationId xmlns:a16="http://schemas.microsoft.com/office/drawing/2014/main" id="{2ABAD095-B39B-BA4F-A53A-57129045829D}"/>
              </a:ext>
            </a:extLst>
          </p:cNvPr>
          <p:cNvSpPr>
            <a:spLocks noGrp="1"/>
          </p:cNvSpPr>
          <p:nvPr>
            <p:ph type="body" sz="quarter" idx="10" hasCustomPrompt="1"/>
          </p:nvPr>
        </p:nvSpPr>
        <p:spPr>
          <a:xfrm>
            <a:off x="1309637" y="3391092"/>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a:solidFill>
                  <a:srgbClr val="000000"/>
                </a:solidFill>
                <a:latin typeface="+mn-lt"/>
                <a:ea typeface="Roboto Light" panose="02000000000000000000" pitchFamily="2" charset="0"/>
                <a:cs typeface="Arial Narrow" panose="020B0604020202020204" pitchFamily="34" charset="0"/>
              </a:rPr>
              <a:t>twitter.com/aarpxx</a:t>
            </a:r>
            <a:endParaRPr lang="en-US"/>
          </a:p>
        </p:txBody>
      </p:sp>
      <p:sp>
        <p:nvSpPr>
          <p:cNvPr id="24" name="Text Placeholder 3">
            <a:extLst>
              <a:ext uri="{FF2B5EF4-FFF2-40B4-BE49-F238E27FC236}">
                <a16:creationId xmlns:a16="http://schemas.microsoft.com/office/drawing/2014/main" id="{22D30D90-8742-014F-A19F-150857FEAA7B}"/>
              </a:ext>
            </a:extLst>
          </p:cNvPr>
          <p:cNvSpPr>
            <a:spLocks noGrp="1"/>
          </p:cNvSpPr>
          <p:nvPr>
            <p:ph type="body" sz="quarter" idx="11" hasCustomPrompt="1"/>
          </p:nvPr>
        </p:nvSpPr>
        <p:spPr>
          <a:xfrm>
            <a:off x="1309637" y="2973612"/>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r>
              <a:rPr lang="en-US">
                <a:solidFill>
                  <a:srgbClr val="000000"/>
                </a:solidFill>
                <a:latin typeface="+mn-lt"/>
                <a:ea typeface="Roboto Light" panose="02000000000000000000" pitchFamily="2" charset="0"/>
                <a:cs typeface="Arial Narrow" panose="020B0604020202020204" pitchFamily="34" charset="0"/>
              </a:rPr>
              <a:t>facebook.com/aarpxx</a:t>
            </a:r>
            <a:endParaRPr lang="en-US"/>
          </a:p>
        </p:txBody>
      </p:sp>
      <p:sp>
        <p:nvSpPr>
          <p:cNvPr id="29" name="Text Placeholder 3">
            <a:extLst>
              <a:ext uri="{FF2B5EF4-FFF2-40B4-BE49-F238E27FC236}">
                <a16:creationId xmlns:a16="http://schemas.microsoft.com/office/drawing/2014/main" id="{01868363-1B4C-4441-B9A4-30914D7B26B3}"/>
              </a:ext>
            </a:extLst>
          </p:cNvPr>
          <p:cNvSpPr>
            <a:spLocks noGrp="1"/>
          </p:cNvSpPr>
          <p:nvPr>
            <p:ph type="body" sz="quarter" idx="12" hasCustomPrompt="1"/>
          </p:nvPr>
        </p:nvSpPr>
        <p:spPr>
          <a:xfrm>
            <a:off x="1303287" y="1497570"/>
            <a:ext cx="4005262" cy="33773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20">
                <a:solidFill>
                  <a:srgbClr val="000000"/>
                </a:solidFill>
                <a:latin typeface="+mn-lt"/>
                <a:ea typeface="Roboto Light" panose="02000000000000000000" pitchFamily="2" charset="0"/>
                <a:cs typeface="Arial Narrow" panose="020B0604020202020204" pitchFamily="34" charset="0"/>
              </a:rPr>
              <a:t>name@</a:t>
            </a:r>
            <a:r>
              <a:rPr lang="en-US" sz="1998">
                <a:solidFill>
                  <a:srgbClr val="000000"/>
                </a:solidFill>
                <a:latin typeface="+mn-lt"/>
                <a:ea typeface="Roboto Light" panose="02000000000000000000" pitchFamily="2" charset="0"/>
                <a:cs typeface="Arial Narrow" panose="020B0604020202020204" pitchFamily="34" charset="0"/>
              </a:rPr>
              <a:t>aarp.org</a:t>
            </a:r>
            <a:endParaRPr lang="en-US"/>
          </a:p>
        </p:txBody>
      </p:sp>
      <p:sp>
        <p:nvSpPr>
          <p:cNvPr id="30" name="Text Placeholder 3">
            <a:extLst>
              <a:ext uri="{FF2B5EF4-FFF2-40B4-BE49-F238E27FC236}">
                <a16:creationId xmlns:a16="http://schemas.microsoft.com/office/drawing/2014/main" id="{3DB11D24-C039-7440-8CF5-0B2CF82B8544}"/>
              </a:ext>
            </a:extLst>
          </p:cNvPr>
          <p:cNvSpPr>
            <a:spLocks noGrp="1"/>
          </p:cNvSpPr>
          <p:nvPr>
            <p:ph type="body" sz="quarter" idx="13" hasCustomPrompt="1"/>
          </p:nvPr>
        </p:nvSpPr>
        <p:spPr>
          <a:xfrm>
            <a:off x="1309637" y="1898139"/>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err="1">
                <a:solidFill>
                  <a:srgbClr val="000000"/>
                </a:solidFill>
                <a:latin typeface="+mn-lt"/>
                <a:ea typeface="Roboto Light" panose="02000000000000000000" pitchFamily="2" charset="0"/>
                <a:cs typeface="Arial Narrow" panose="020B0604020202020204" pitchFamily="34" charset="0"/>
              </a:rPr>
              <a:t>xxx.xxx.xxxx</a:t>
            </a:r>
            <a:endParaRPr lang="en-US">
              <a:solidFill>
                <a:srgbClr val="000000"/>
              </a:solidFill>
              <a:latin typeface="+mn-lt"/>
              <a:ea typeface="Roboto Light" panose="02000000000000000000" pitchFamily="2" charset="0"/>
              <a:cs typeface="Arial Narrow" panose="020B0604020202020204" pitchFamily="34" charset="0"/>
            </a:endParaRPr>
          </a:p>
        </p:txBody>
      </p:sp>
      <p:sp>
        <p:nvSpPr>
          <p:cNvPr id="35" name="Text Placeholder 3">
            <a:extLst>
              <a:ext uri="{FF2B5EF4-FFF2-40B4-BE49-F238E27FC236}">
                <a16:creationId xmlns:a16="http://schemas.microsoft.com/office/drawing/2014/main" id="{F3D73718-AC7E-1B4F-BD47-70D81C9D9193}"/>
              </a:ext>
            </a:extLst>
          </p:cNvPr>
          <p:cNvSpPr>
            <a:spLocks noGrp="1"/>
          </p:cNvSpPr>
          <p:nvPr>
            <p:ph type="body" sz="quarter" idx="14" hasCustomPrompt="1"/>
          </p:nvPr>
        </p:nvSpPr>
        <p:spPr>
          <a:xfrm>
            <a:off x="1303287" y="2315620"/>
            <a:ext cx="4005262" cy="355270"/>
          </a:xfrm>
        </p:spPr>
        <p:txBody>
          <a:bodyPr anchor="ctr"/>
          <a:lstStyle>
            <a:lvl1pPr marL="0" marR="0" indent="0" algn="l" defTabSz="685183" rtl="0" eaLnBrk="1" fontAlgn="auto" latinLnBrk="0" hangingPunct="1">
              <a:lnSpc>
                <a:spcPct val="100000"/>
              </a:lnSpc>
              <a:spcBef>
                <a:spcPts val="749"/>
              </a:spcBef>
              <a:spcAft>
                <a:spcPts val="0"/>
              </a:spcAft>
              <a:buClrTx/>
              <a:buSzTx/>
              <a:buFont typeface="Arial" panose="020B0604020202020204" pitchFamily="34" charset="0"/>
              <a:buNone/>
              <a:tabLst/>
              <a:defRPr lang="en-US" sz="1998" spc="-5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50" err="1">
                <a:solidFill>
                  <a:srgbClr val="000000"/>
                </a:solidFill>
                <a:latin typeface="+mn-lt"/>
                <a:ea typeface="Roboto Light" panose="02000000000000000000" pitchFamily="2" charset="0"/>
                <a:cs typeface="Arial Narrow" panose="020B0604020202020204" pitchFamily="34" charset="0"/>
              </a:rPr>
              <a:t>aarp.org</a:t>
            </a:r>
            <a:r>
              <a:rPr lang="en-US" sz="1998" spc="-50">
                <a:solidFill>
                  <a:srgbClr val="000000"/>
                </a:solidFill>
                <a:latin typeface="+mn-lt"/>
                <a:ea typeface="Roboto Light" panose="02000000000000000000" pitchFamily="2" charset="0"/>
                <a:cs typeface="Arial Narrow" panose="020B0604020202020204" pitchFamily="34" charset="0"/>
              </a:rPr>
              <a:t>/xx</a:t>
            </a:r>
            <a:endParaRPr lang="en-US"/>
          </a:p>
        </p:txBody>
      </p:sp>
      <p:pic>
        <p:nvPicPr>
          <p:cNvPr id="15" name="Picture 14" descr="A drawing of a cartoon character&#10;&#10;Description automatically generated">
            <a:extLst>
              <a:ext uri="{FF2B5EF4-FFF2-40B4-BE49-F238E27FC236}">
                <a16:creationId xmlns:a16="http://schemas.microsoft.com/office/drawing/2014/main" id="{1E42DBE0-9309-9B41-80AB-BC5A74D8EE13}"/>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71477" y="3391092"/>
            <a:ext cx="356140" cy="356140"/>
          </a:xfrm>
          <a:prstGeom prst="rect">
            <a:avLst/>
          </a:prstGeom>
        </p:spPr>
      </p:pic>
      <p:pic>
        <p:nvPicPr>
          <p:cNvPr id="16" name="Picture 15" descr="A drawing of a person&#10;&#10;Description automatically generated">
            <a:extLst>
              <a:ext uri="{FF2B5EF4-FFF2-40B4-BE49-F238E27FC236}">
                <a16:creationId xmlns:a16="http://schemas.microsoft.com/office/drawing/2014/main" id="{21DEBA30-513B-4046-8B55-E4431F969D6B}"/>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71477" y="2973612"/>
            <a:ext cx="356141" cy="351262"/>
          </a:xfrm>
          <a:prstGeom prst="rect">
            <a:avLst/>
          </a:prstGeom>
        </p:spPr>
      </p:pic>
      <p:pic>
        <p:nvPicPr>
          <p:cNvPr id="12" name="Picture 11" descr="A picture containing drawing&#10;&#10;Description automatically generated">
            <a:extLst>
              <a:ext uri="{FF2B5EF4-FFF2-40B4-BE49-F238E27FC236}">
                <a16:creationId xmlns:a16="http://schemas.microsoft.com/office/drawing/2014/main" id="{9C45DE10-A3FA-44BC-87FA-B36E92F8677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
        <p:nvSpPr>
          <p:cNvPr id="13" name="Text Placeholder 7">
            <a:extLst>
              <a:ext uri="{FF2B5EF4-FFF2-40B4-BE49-F238E27FC236}">
                <a16:creationId xmlns:a16="http://schemas.microsoft.com/office/drawing/2014/main" id="{974575BB-6BD9-480C-91CD-4E5539375289}"/>
              </a:ext>
            </a:extLst>
          </p:cNvPr>
          <p:cNvSpPr txBox="1">
            <a:spLocks/>
          </p:cNvSpPr>
          <p:nvPr/>
        </p:nvSpPr>
        <p:spPr>
          <a:xfrm>
            <a:off x="378542" y="1873601"/>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Phone:</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14" name="Text Placeholder 7">
            <a:extLst>
              <a:ext uri="{FF2B5EF4-FFF2-40B4-BE49-F238E27FC236}">
                <a16:creationId xmlns:a16="http://schemas.microsoft.com/office/drawing/2014/main" id="{05D219DA-7683-42AC-B48F-207CB8759112}"/>
              </a:ext>
            </a:extLst>
          </p:cNvPr>
          <p:cNvSpPr txBox="1">
            <a:spLocks/>
          </p:cNvSpPr>
          <p:nvPr/>
        </p:nvSpPr>
        <p:spPr>
          <a:xfrm>
            <a:off x="378542" y="2291127"/>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Web:</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19" name="Rectangle 18">
            <a:extLst>
              <a:ext uri="{FF2B5EF4-FFF2-40B4-BE49-F238E27FC236}">
                <a16:creationId xmlns:a16="http://schemas.microsoft.com/office/drawing/2014/main" id="{F51247B3-445A-42B2-A936-FB275F6AB5B3}"/>
              </a:ext>
            </a:extLst>
          </p:cNvPr>
          <p:cNvSpPr/>
          <p:nvPr userDrawn="1"/>
        </p:nvSpPr>
        <p:spPr>
          <a:xfrm>
            <a:off x="456082" y="527571"/>
            <a:ext cx="6460177" cy="523220"/>
          </a:xfrm>
          <a:prstGeom prst="rect">
            <a:avLst/>
          </a:prstGeom>
        </p:spPr>
        <p:txBody>
          <a:bodyPr wrap="square">
            <a:spAutoFit/>
          </a:bodyPr>
          <a:lstStyle/>
          <a:p>
            <a:r>
              <a:rPr lang="en-US" sz="2800" b="1" spc="-30" baseline="0">
                <a:solidFill>
                  <a:schemeClr val="tx2"/>
                </a:solidFill>
              </a:rPr>
              <a:t>Keep in Touch with Us</a:t>
            </a:r>
          </a:p>
        </p:txBody>
      </p:sp>
    </p:spTree>
    <p:extLst>
      <p:ext uri="{BB962C8B-B14F-4D97-AF65-F5344CB8AC3E}">
        <p14:creationId xmlns:p14="http://schemas.microsoft.com/office/powerpoint/2010/main" val="190394216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Keep in Touch – AARP Logo">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ED151345-F5BD-DE40-8392-7AD5DA6BAFC7}"/>
              </a:ext>
            </a:extLst>
          </p:cNvPr>
          <p:cNvSpPr txBox="1">
            <a:spLocks/>
          </p:cNvSpPr>
          <p:nvPr/>
        </p:nvSpPr>
        <p:spPr>
          <a:xfrm>
            <a:off x="378542" y="1887235"/>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Email:</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4" name="Text Placeholder 3">
            <a:extLst>
              <a:ext uri="{FF2B5EF4-FFF2-40B4-BE49-F238E27FC236}">
                <a16:creationId xmlns:a16="http://schemas.microsoft.com/office/drawing/2014/main" id="{2ABAD095-B39B-BA4F-A53A-57129045829D}"/>
              </a:ext>
            </a:extLst>
          </p:cNvPr>
          <p:cNvSpPr>
            <a:spLocks noGrp="1"/>
          </p:cNvSpPr>
          <p:nvPr>
            <p:ph type="body" sz="quarter" idx="10" hasCustomPrompt="1"/>
          </p:nvPr>
        </p:nvSpPr>
        <p:spPr>
          <a:xfrm>
            <a:off x="1309637" y="3746363"/>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a:solidFill>
                  <a:srgbClr val="000000"/>
                </a:solidFill>
                <a:latin typeface="+mn-lt"/>
                <a:ea typeface="Roboto Light" panose="02000000000000000000" pitchFamily="2" charset="0"/>
                <a:cs typeface="Arial Narrow" panose="020B0604020202020204" pitchFamily="34" charset="0"/>
              </a:rPr>
              <a:t>twitter.com/aarpxx</a:t>
            </a:r>
            <a:endParaRPr lang="en-US"/>
          </a:p>
        </p:txBody>
      </p:sp>
      <p:sp>
        <p:nvSpPr>
          <p:cNvPr id="24" name="Text Placeholder 3">
            <a:extLst>
              <a:ext uri="{FF2B5EF4-FFF2-40B4-BE49-F238E27FC236}">
                <a16:creationId xmlns:a16="http://schemas.microsoft.com/office/drawing/2014/main" id="{22D30D90-8742-014F-A19F-150857FEAA7B}"/>
              </a:ext>
            </a:extLst>
          </p:cNvPr>
          <p:cNvSpPr>
            <a:spLocks noGrp="1"/>
          </p:cNvSpPr>
          <p:nvPr>
            <p:ph type="body" sz="quarter" idx="11" hasCustomPrompt="1"/>
          </p:nvPr>
        </p:nvSpPr>
        <p:spPr>
          <a:xfrm>
            <a:off x="1309637" y="3328883"/>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r>
              <a:rPr lang="en-US">
                <a:solidFill>
                  <a:srgbClr val="000000"/>
                </a:solidFill>
                <a:latin typeface="+mn-lt"/>
                <a:ea typeface="Roboto Light" panose="02000000000000000000" pitchFamily="2" charset="0"/>
                <a:cs typeface="Arial Narrow" panose="020B0604020202020204" pitchFamily="34" charset="0"/>
              </a:rPr>
              <a:t>facebook.com/aarpxx</a:t>
            </a:r>
            <a:endParaRPr lang="en-US"/>
          </a:p>
        </p:txBody>
      </p:sp>
      <p:sp>
        <p:nvSpPr>
          <p:cNvPr id="29" name="Text Placeholder 3">
            <a:extLst>
              <a:ext uri="{FF2B5EF4-FFF2-40B4-BE49-F238E27FC236}">
                <a16:creationId xmlns:a16="http://schemas.microsoft.com/office/drawing/2014/main" id="{01868363-1B4C-4441-B9A4-30914D7B26B3}"/>
              </a:ext>
            </a:extLst>
          </p:cNvPr>
          <p:cNvSpPr>
            <a:spLocks noGrp="1"/>
          </p:cNvSpPr>
          <p:nvPr>
            <p:ph type="body" sz="quarter" idx="12" hasCustomPrompt="1"/>
          </p:nvPr>
        </p:nvSpPr>
        <p:spPr>
          <a:xfrm>
            <a:off x="1303287" y="1852841"/>
            <a:ext cx="4005262" cy="33773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20">
                <a:solidFill>
                  <a:srgbClr val="000000"/>
                </a:solidFill>
                <a:latin typeface="+mn-lt"/>
                <a:ea typeface="Roboto Light" panose="02000000000000000000" pitchFamily="2" charset="0"/>
                <a:cs typeface="Arial Narrow" panose="020B0604020202020204" pitchFamily="34" charset="0"/>
              </a:rPr>
              <a:t>name@</a:t>
            </a:r>
            <a:r>
              <a:rPr lang="en-US" sz="1998">
                <a:solidFill>
                  <a:srgbClr val="000000"/>
                </a:solidFill>
                <a:latin typeface="+mn-lt"/>
                <a:ea typeface="Roboto Light" panose="02000000000000000000" pitchFamily="2" charset="0"/>
                <a:cs typeface="Arial Narrow" panose="020B0604020202020204" pitchFamily="34" charset="0"/>
              </a:rPr>
              <a:t>aarp.org</a:t>
            </a:r>
            <a:endParaRPr lang="en-US"/>
          </a:p>
        </p:txBody>
      </p:sp>
      <p:sp>
        <p:nvSpPr>
          <p:cNvPr id="30" name="Text Placeholder 3">
            <a:extLst>
              <a:ext uri="{FF2B5EF4-FFF2-40B4-BE49-F238E27FC236}">
                <a16:creationId xmlns:a16="http://schemas.microsoft.com/office/drawing/2014/main" id="{3DB11D24-C039-7440-8CF5-0B2CF82B8544}"/>
              </a:ext>
            </a:extLst>
          </p:cNvPr>
          <p:cNvSpPr>
            <a:spLocks noGrp="1"/>
          </p:cNvSpPr>
          <p:nvPr>
            <p:ph type="body" sz="quarter" idx="13" hasCustomPrompt="1"/>
          </p:nvPr>
        </p:nvSpPr>
        <p:spPr>
          <a:xfrm>
            <a:off x="1309637" y="2253410"/>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err="1">
                <a:solidFill>
                  <a:srgbClr val="000000"/>
                </a:solidFill>
                <a:latin typeface="+mn-lt"/>
                <a:ea typeface="Roboto Light" panose="02000000000000000000" pitchFamily="2" charset="0"/>
                <a:cs typeface="Arial Narrow" panose="020B0604020202020204" pitchFamily="34" charset="0"/>
              </a:rPr>
              <a:t>xxx.xxx.xxxx</a:t>
            </a:r>
            <a:endParaRPr lang="en-US">
              <a:solidFill>
                <a:srgbClr val="000000"/>
              </a:solidFill>
              <a:latin typeface="+mn-lt"/>
              <a:ea typeface="Roboto Light" panose="02000000000000000000" pitchFamily="2" charset="0"/>
              <a:cs typeface="Arial Narrow" panose="020B0604020202020204" pitchFamily="34" charset="0"/>
            </a:endParaRPr>
          </a:p>
        </p:txBody>
      </p:sp>
      <p:sp>
        <p:nvSpPr>
          <p:cNvPr id="35" name="Text Placeholder 3">
            <a:extLst>
              <a:ext uri="{FF2B5EF4-FFF2-40B4-BE49-F238E27FC236}">
                <a16:creationId xmlns:a16="http://schemas.microsoft.com/office/drawing/2014/main" id="{F3D73718-AC7E-1B4F-BD47-70D81C9D9193}"/>
              </a:ext>
            </a:extLst>
          </p:cNvPr>
          <p:cNvSpPr>
            <a:spLocks noGrp="1"/>
          </p:cNvSpPr>
          <p:nvPr>
            <p:ph type="body" sz="quarter" idx="14" hasCustomPrompt="1"/>
          </p:nvPr>
        </p:nvSpPr>
        <p:spPr>
          <a:xfrm>
            <a:off x="1303287" y="2670891"/>
            <a:ext cx="4005262" cy="355270"/>
          </a:xfrm>
        </p:spPr>
        <p:txBody>
          <a:bodyPr anchor="ctr"/>
          <a:lstStyle>
            <a:lvl1pPr marL="0" marR="0" indent="0" algn="l" defTabSz="685183" rtl="0" eaLnBrk="1" fontAlgn="auto" latinLnBrk="0" hangingPunct="1">
              <a:lnSpc>
                <a:spcPct val="100000"/>
              </a:lnSpc>
              <a:spcBef>
                <a:spcPts val="749"/>
              </a:spcBef>
              <a:spcAft>
                <a:spcPts val="0"/>
              </a:spcAft>
              <a:buClrTx/>
              <a:buSzTx/>
              <a:buFont typeface="Arial" panose="020B0604020202020204" pitchFamily="34" charset="0"/>
              <a:buNone/>
              <a:tabLst/>
              <a:defRPr lang="en-US" sz="1998" spc="-5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50" err="1">
                <a:solidFill>
                  <a:srgbClr val="000000"/>
                </a:solidFill>
                <a:latin typeface="+mn-lt"/>
                <a:ea typeface="Roboto Light" panose="02000000000000000000" pitchFamily="2" charset="0"/>
                <a:cs typeface="Arial Narrow" panose="020B0604020202020204" pitchFamily="34" charset="0"/>
              </a:rPr>
              <a:t>aarp.org</a:t>
            </a:r>
            <a:r>
              <a:rPr lang="en-US" sz="1998" spc="-50">
                <a:solidFill>
                  <a:srgbClr val="000000"/>
                </a:solidFill>
                <a:latin typeface="+mn-lt"/>
                <a:ea typeface="Roboto Light" panose="02000000000000000000" pitchFamily="2" charset="0"/>
                <a:cs typeface="Arial Narrow" panose="020B0604020202020204" pitchFamily="34" charset="0"/>
              </a:rPr>
              <a:t>/xx</a:t>
            </a:r>
            <a:endParaRPr lang="en-US"/>
          </a:p>
        </p:txBody>
      </p:sp>
      <p:sp>
        <p:nvSpPr>
          <p:cNvPr id="2" name="Rectangle 1">
            <a:extLst>
              <a:ext uri="{FF2B5EF4-FFF2-40B4-BE49-F238E27FC236}">
                <a16:creationId xmlns:a16="http://schemas.microsoft.com/office/drawing/2014/main" id="{72AB592A-3FC2-B142-9E90-C34C7DEF1533}"/>
              </a:ext>
            </a:extLst>
          </p:cNvPr>
          <p:cNvSpPr/>
          <p:nvPr/>
        </p:nvSpPr>
        <p:spPr>
          <a:xfrm>
            <a:off x="377424" y="1153356"/>
            <a:ext cx="6460177" cy="523220"/>
          </a:xfrm>
          <a:prstGeom prst="rect">
            <a:avLst/>
          </a:prstGeom>
        </p:spPr>
        <p:txBody>
          <a:bodyPr wrap="square">
            <a:spAutoFit/>
          </a:bodyPr>
          <a:lstStyle/>
          <a:p>
            <a:r>
              <a:rPr lang="en-US" sz="2800" b="1" spc="-30" baseline="0">
                <a:solidFill>
                  <a:schemeClr val="tx2"/>
                </a:solidFill>
              </a:rPr>
              <a:t>Keep in Touch with Us</a:t>
            </a:r>
          </a:p>
        </p:txBody>
      </p:sp>
      <p:pic>
        <p:nvPicPr>
          <p:cNvPr id="15" name="Picture 14" descr="A drawing of a cartoon character&#10;&#10;Description automatically generated">
            <a:extLst>
              <a:ext uri="{FF2B5EF4-FFF2-40B4-BE49-F238E27FC236}">
                <a16:creationId xmlns:a16="http://schemas.microsoft.com/office/drawing/2014/main" id="{1E42DBE0-9309-9B41-80AB-BC5A74D8EE13}"/>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71477" y="3746363"/>
            <a:ext cx="356140" cy="356140"/>
          </a:xfrm>
          <a:prstGeom prst="rect">
            <a:avLst/>
          </a:prstGeom>
        </p:spPr>
      </p:pic>
      <p:pic>
        <p:nvPicPr>
          <p:cNvPr id="16" name="Picture 15" descr="A drawing of a person&#10;&#10;Description automatically generated">
            <a:extLst>
              <a:ext uri="{FF2B5EF4-FFF2-40B4-BE49-F238E27FC236}">
                <a16:creationId xmlns:a16="http://schemas.microsoft.com/office/drawing/2014/main" id="{21DEBA30-513B-4046-8B55-E4431F969D6B}"/>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71477" y="3328883"/>
            <a:ext cx="356141" cy="351262"/>
          </a:xfrm>
          <a:prstGeom prst="rect">
            <a:avLst/>
          </a:prstGeom>
        </p:spPr>
      </p:pic>
      <p:sp>
        <p:nvSpPr>
          <p:cNvPr id="13" name="Text Placeholder 7">
            <a:extLst>
              <a:ext uri="{FF2B5EF4-FFF2-40B4-BE49-F238E27FC236}">
                <a16:creationId xmlns:a16="http://schemas.microsoft.com/office/drawing/2014/main" id="{974575BB-6BD9-480C-91CD-4E5539375289}"/>
              </a:ext>
            </a:extLst>
          </p:cNvPr>
          <p:cNvSpPr txBox="1">
            <a:spLocks/>
          </p:cNvSpPr>
          <p:nvPr/>
        </p:nvSpPr>
        <p:spPr>
          <a:xfrm>
            <a:off x="378542" y="2236556"/>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Phone:</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14" name="Text Placeholder 7">
            <a:extLst>
              <a:ext uri="{FF2B5EF4-FFF2-40B4-BE49-F238E27FC236}">
                <a16:creationId xmlns:a16="http://schemas.microsoft.com/office/drawing/2014/main" id="{05D219DA-7683-42AC-B48F-207CB8759112}"/>
              </a:ext>
            </a:extLst>
          </p:cNvPr>
          <p:cNvSpPr txBox="1">
            <a:spLocks/>
          </p:cNvSpPr>
          <p:nvPr/>
        </p:nvSpPr>
        <p:spPr>
          <a:xfrm>
            <a:off x="378542" y="2620271"/>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Web:</a:t>
            </a:r>
          </a:p>
          <a:p>
            <a:pPr>
              <a:tabLst>
                <a:tab pos="796208" algn="r"/>
                <a:tab pos="964331" algn="l"/>
              </a:tabLst>
            </a:pPr>
            <a:r>
              <a:rPr lang="en-US" sz="2000" spc="-20">
                <a:solidFill>
                  <a:srgbClr val="000000"/>
                </a:solidFill>
                <a:latin typeface="+mn-lt"/>
                <a:ea typeface="Roboto Light" panose="02000000000000000000" pitchFamily="2" charset="0"/>
                <a:cs typeface="Arial Narrow" panose="020B0604020202020204" pitchFamily="34" charset="0"/>
              </a:rPr>
              <a:t>	</a:t>
            </a:r>
          </a:p>
        </p:txBody>
      </p:sp>
      <p:sp>
        <p:nvSpPr>
          <p:cNvPr id="17" name="Picture Placeholder 2">
            <a:extLst>
              <a:ext uri="{FF2B5EF4-FFF2-40B4-BE49-F238E27FC236}">
                <a16:creationId xmlns:a16="http://schemas.microsoft.com/office/drawing/2014/main" id="{BD068B63-186F-498D-8C82-4F0453DFC5B6}"/>
              </a:ext>
            </a:extLst>
          </p:cNvPr>
          <p:cNvSpPr>
            <a:spLocks noGrp="1"/>
          </p:cNvSpPr>
          <p:nvPr>
            <p:ph type="pic" sz="quarter" idx="15" hasCustomPrompt="1"/>
          </p:nvPr>
        </p:nvSpPr>
        <p:spPr>
          <a:xfrm>
            <a:off x="487979" y="175524"/>
            <a:ext cx="2297980" cy="639959"/>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450849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ank You – AARP Logo">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44CF0-7EA6-3045-9869-7503EAFF27BF}"/>
              </a:ext>
            </a:extLst>
          </p:cNvPr>
          <p:cNvSpPr/>
          <p:nvPr/>
        </p:nvSpPr>
        <p:spPr>
          <a:xfrm>
            <a:off x="345518" y="2055540"/>
            <a:ext cx="3660169" cy="923330"/>
          </a:xfrm>
          <a:prstGeom prst="rect">
            <a:avLst/>
          </a:prstGeom>
        </p:spPr>
        <p:txBody>
          <a:bodyPr wrap="none">
            <a:spAutoFit/>
          </a:bodyPr>
          <a:lstStyle/>
          <a:p>
            <a:r>
              <a:rPr lang="en-US" sz="5400" b="1" spc="-100" baseline="0">
                <a:solidFill>
                  <a:schemeClr val="bg1"/>
                </a:solidFill>
              </a:rPr>
              <a:t>Thank You</a:t>
            </a:r>
          </a:p>
        </p:txBody>
      </p:sp>
      <p:sp>
        <p:nvSpPr>
          <p:cNvPr id="4" name="Rectangle 3">
            <a:extLst>
              <a:ext uri="{FF2B5EF4-FFF2-40B4-BE49-F238E27FC236}">
                <a16:creationId xmlns:a16="http://schemas.microsoft.com/office/drawing/2014/main" id="{4AF6EB94-8EB9-5D4E-A3B7-7FBD87ED61E6}"/>
              </a:ext>
            </a:extLst>
          </p:cNvPr>
          <p:cNvSpPr/>
          <p:nvPr/>
        </p:nvSpPr>
        <p:spPr>
          <a:xfrm>
            <a:off x="449594" y="2868852"/>
            <a:ext cx="3095719" cy="646331"/>
          </a:xfrm>
          <a:prstGeom prst="rect">
            <a:avLst/>
          </a:prstGeom>
        </p:spPr>
        <p:txBody>
          <a:bodyPr wrap="none">
            <a:spAutoFit/>
          </a:bodyPr>
          <a:lstStyle/>
          <a:p>
            <a:pPr lvl="0"/>
            <a:r>
              <a:rPr lang="en-US" sz="3600" spc="-20" baseline="0">
                <a:solidFill>
                  <a:schemeClr val="bg1"/>
                </a:solidFill>
              </a:rPr>
              <a:t>for Joining Us!</a:t>
            </a:r>
          </a:p>
        </p:txBody>
      </p:sp>
      <p:pic>
        <p:nvPicPr>
          <p:cNvPr id="5" name="Picture 4" descr="A picture containing drawing&#10;&#10;Description automatically generated">
            <a:extLst>
              <a:ext uri="{FF2B5EF4-FFF2-40B4-BE49-F238E27FC236}">
                <a16:creationId xmlns:a16="http://schemas.microsoft.com/office/drawing/2014/main" id="{C2D550AF-CD8F-4A77-8FD7-F1F4C0D757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9594" y="445960"/>
            <a:ext cx="1156915" cy="237722"/>
          </a:xfrm>
          <a:prstGeom prst="rect">
            <a:avLst/>
          </a:prstGeom>
        </p:spPr>
      </p:pic>
      <p:sp>
        <p:nvSpPr>
          <p:cNvPr id="7" name="Rectangle 6">
            <a:extLst>
              <a:ext uri="{FF2B5EF4-FFF2-40B4-BE49-F238E27FC236}">
                <a16:creationId xmlns:a16="http://schemas.microsoft.com/office/drawing/2014/main" id="{6116A748-25E3-4398-BFCF-9396642599A8}"/>
              </a:ext>
            </a:extLst>
          </p:cNvPr>
          <p:cNvSpPr/>
          <p:nvPr userDrawn="1"/>
        </p:nvSpPr>
        <p:spPr>
          <a:xfrm>
            <a:off x="345518" y="2055540"/>
            <a:ext cx="3660169" cy="923330"/>
          </a:xfrm>
          <a:prstGeom prst="rect">
            <a:avLst/>
          </a:prstGeom>
        </p:spPr>
        <p:txBody>
          <a:bodyPr wrap="none">
            <a:spAutoFit/>
          </a:bodyPr>
          <a:lstStyle/>
          <a:p>
            <a:r>
              <a:rPr lang="en-US" sz="5400" b="1" spc="-100" baseline="0">
                <a:solidFill>
                  <a:schemeClr val="bg1"/>
                </a:solidFill>
              </a:rPr>
              <a:t>Thank You</a:t>
            </a:r>
          </a:p>
        </p:txBody>
      </p:sp>
      <p:sp>
        <p:nvSpPr>
          <p:cNvPr id="8" name="Rectangle 7">
            <a:extLst>
              <a:ext uri="{FF2B5EF4-FFF2-40B4-BE49-F238E27FC236}">
                <a16:creationId xmlns:a16="http://schemas.microsoft.com/office/drawing/2014/main" id="{ECBFBF76-0699-4475-AF12-342B8EBDE2A4}"/>
              </a:ext>
            </a:extLst>
          </p:cNvPr>
          <p:cNvSpPr/>
          <p:nvPr userDrawn="1"/>
        </p:nvSpPr>
        <p:spPr>
          <a:xfrm>
            <a:off x="449594" y="2868852"/>
            <a:ext cx="3095719" cy="646331"/>
          </a:xfrm>
          <a:prstGeom prst="rect">
            <a:avLst/>
          </a:prstGeom>
        </p:spPr>
        <p:txBody>
          <a:bodyPr wrap="none">
            <a:spAutoFit/>
          </a:bodyPr>
          <a:lstStyle/>
          <a:p>
            <a:pPr lvl="0"/>
            <a:r>
              <a:rPr lang="en-US" sz="3600" spc="-20" baseline="0">
                <a:solidFill>
                  <a:schemeClr val="bg1"/>
                </a:solidFill>
              </a:rPr>
              <a:t>for Joining Us!</a:t>
            </a:r>
          </a:p>
        </p:txBody>
      </p:sp>
    </p:spTree>
    <p:extLst>
      <p:ext uri="{BB962C8B-B14F-4D97-AF65-F5344CB8AC3E}">
        <p14:creationId xmlns:p14="http://schemas.microsoft.com/office/powerpoint/2010/main" val="4217307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ank You – State Logo">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44CF0-7EA6-3045-9869-7503EAFF27BF}"/>
              </a:ext>
            </a:extLst>
          </p:cNvPr>
          <p:cNvSpPr/>
          <p:nvPr/>
        </p:nvSpPr>
        <p:spPr>
          <a:xfrm>
            <a:off x="345518" y="2055540"/>
            <a:ext cx="3660169" cy="923330"/>
          </a:xfrm>
          <a:prstGeom prst="rect">
            <a:avLst/>
          </a:prstGeom>
        </p:spPr>
        <p:txBody>
          <a:bodyPr wrap="none">
            <a:spAutoFit/>
          </a:bodyPr>
          <a:lstStyle/>
          <a:p>
            <a:r>
              <a:rPr lang="en-US" sz="5400" b="1" spc="-100" baseline="0">
                <a:solidFill>
                  <a:schemeClr val="bg1"/>
                </a:solidFill>
              </a:rPr>
              <a:t>Thank You</a:t>
            </a:r>
          </a:p>
        </p:txBody>
      </p:sp>
      <p:sp>
        <p:nvSpPr>
          <p:cNvPr id="4" name="Rectangle 3">
            <a:extLst>
              <a:ext uri="{FF2B5EF4-FFF2-40B4-BE49-F238E27FC236}">
                <a16:creationId xmlns:a16="http://schemas.microsoft.com/office/drawing/2014/main" id="{4AF6EB94-8EB9-5D4E-A3B7-7FBD87ED61E6}"/>
              </a:ext>
            </a:extLst>
          </p:cNvPr>
          <p:cNvSpPr/>
          <p:nvPr/>
        </p:nvSpPr>
        <p:spPr>
          <a:xfrm>
            <a:off x="457028" y="2868852"/>
            <a:ext cx="3095719" cy="646331"/>
          </a:xfrm>
          <a:prstGeom prst="rect">
            <a:avLst/>
          </a:prstGeom>
        </p:spPr>
        <p:txBody>
          <a:bodyPr wrap="none">
            <a:spAutoFit/>
          </a:bodyPr>
          <a:lstStyle/>
          <a:p>
            <a:pPr lvl="0"/>
            <a:r>
              <a:rPr lang="en-US" sz="3600" spc="-20" baseline="0">
                <a:solidFill>
                  <a:schemeClr val="bg1"/>
                </a:solidFill>
              </a:rPr>
              <a:t>for Joining Us!</a:t>
            </a:r>
          </a:p>
        </p:txBody>
      </p:sp>
      <p:sp>
        <p:nvSpPr>
          <p:cNvPr id="5" name="Picture Placeholder 2">
            <a:extLst>
              <a:ext uri="{FF2B5EF4-FFF2-40B4-BE49-F238E27FC236}">
                <a16:creationId xmlns:a16="http://schemas.microsoft.com/office/drawing/2014/main" id="{81CF8699-1E91-6149-8BA0-4E9255914330}"/>
              </a:ext>
            </a:extLst>
          </p:cNvPr>
          <p:cNvSpPr>
            <a:spLocks noGrp="1"/>
          </p:cNvSpPr>
          <p:nvPr>
            <p:ph type="pic" sz="quarter" idx="10" hasCustomPrompt="1"/>
          </p:nvPr>
        </p:nvSpPr>
        <p:spPr>
          <a:xfrm>
            <a:off x="482642" y="635554"/>
            <a:ext cx="1381125" cy="701675"/>
          </a:xfrm>
        </p:spPr>
        <p:txBody>
          <a:bodyPr>
            <a:normAutofit/>
          </a:bodyPr>
          <a:lstStyle>
            <a:lvl1pPr marL="0" indent="0">
              <a:buNone/>
              <a:defRPr sz="1400"/>
            </a:lvl1pPr>
          </a:lstStyle>
          <a:p>
            <a:r>
              <a:rPr lang="en-US"/>
              <a:t>Insert AARP State Logo</a:t>
            </a:r>
          </a:p>
        </p:txBody>
      </p:sp>
      <p:sp>
        <p:nvSpPr>
          <p:cNvPr id="6" name="Rectangle 5">
            <a:extLst>
              <a:ext uri="{FF2B5EF4-FFF2-40B4-BE49-F238E27FC236}">
                <a16:creationId xmlns:a16="http://schemas.microsoft.com/office/drawing/2014/main" id="{628A77F0-B280-417E-909D-527274B0B4DF}"/>
              </a:ext>
            </a:extLst>
          </p:cNvPr>
          <p:cNvSpPr/>
          <p:nvPr userDrawn="1"/>
        </p:nvSpPr>
        <p:spPr>
          <a:xfrm>
            <a:off x="345518" y="2055540"/>
            <a:ext cx="3660169" cy="923330"/>
          </a:xfrm>
          <a:prstGeom prst="rect">
            <a:avLst/>
          </a:prstGeom>
        </p:spPr>
        <p:txBody>
          <a:bodyPr wrap="none">
            <a:spAutoFit/>
          </a:bodyPr>
          <a:lstStyle/>
          <a:p>
            <a:r>
              <a:rPr lang="en-US" sz="5400" b="1" spc="-100" baseline="0">
                <a:solidFill>
                  <a:schemeClr val="bg1"/>
                </a:solidFill>
              </a:rPr>
              <a:t>Thank You</a:t>
            </a:r>
          </a:p>
        </p:txBody>
      </p:sp>
      <p:sp>
        <p:nvSpPr>
          <p:cNvPr id="7" name="Rectangle 6">
            <a:extLst>
              <a:ext uri="{FF2B5EF4-FFF2-40B4-BE49-F238E27FC236}">
                <a16:creationId xmlns:a16="http://schemas.microsoft.com/office/drawing/2014/main" id="{63976DF7-5D32-42EA-A346-6BD7611C55C7}"/>
              </a:ext>
            </a:extLst>
          </p:cNvPr>
          <p:cNvSpPr/>
          <p:nvPr userDrawn="1"/>
        </p:nvSpPr>
        <p:spPr>
          <a:xfrm>
            <a:off x="457028" y="2868852"/>
            <a:ext cx="3095719" cy="646331"/>
          </a:xfrm>
          <a:prstGeom prst="rect">
            <a:avLst/>
          </a:prstGeom>
        </p:spPr>
        <p:txBody>
          <a:bodyPr wrap="none">
            <a:spAutoFit/>
          </a:bodyPr>
          <a:lstStyle/>
          <a:p>
            <a:pPr lvl="0"/>
            <a:r>
              <a:rPr lang="en-US" sz="3600" spc="-20" baseline="0">
                <a:solidFill>
                  <a:schemeClr val="bg1"/>
                </a:solidFill>
              </a:rPr>
              <a:t>for Joining Us!</a:t>
            </a:r>
          </a:p>
        </p:txBody>
      </p:sp>
    </p:spTree>
    <p:extLst>
      <p:ext uri="{BB962C8B-B14F-4D97-AF65-F5344CB8AC3E}">
        <p14:creationId xmlns:p14="http://schemas.microsoft.com/office/powerpoint/2010/main" val="545939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ullet Text - AARP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749433"/>
            <a:ext cx="651863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4739229"/>
            <a:ext cx="1323025" cy="271854"/>
          </a:xfrm>
          <a:prstGeom prst="rect">
            <a:avLst/>
          </a:prstGeom>
        </p:spPr>
      </p:pic>
      <p:sp>
        <p:nvSpPr>
          <p:cNvPr id="6" name="Slide Number Placeholder 7">
            <a:extLst>
              <a:ext uri="{FF2B5EF4-FFF2-40B4-BE49-F238E27FC236}">
                <a16:creationId xmlns:a16="http://schemas.microsoft.com/office/drawing/2014/main" id="{B0A7B39C-6D33-CA40-BC21-658D76AED443}"/>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5" name="Text Placeholder 4">
            <a:extLst>
              <a:ext uri="{FF2B5EF4-FFF2-40B4-BE49-F238E27FC236}">
                <a16:creationId xmlns:a16="http://schemas.microsoft.com/office/drawing/2014/main" id="{78C0C067-CE1A-804E-91EE-BA47614A3DA4}"/>
              </a:ext>
            </a:extLst>
          </p:cNvPr>
          <p:cNvSpPr>
            <a:spLocks noGrp="1"/>
          </p:cNvSpPr>
          <p:nvPr>
            <p:ph type="body" sz="quarter" idx="10" hasCustomPrompt="1"/>
          </p:nvPr>
        </p:nvSpPr>
        <p:spPr>
          <a:xfrm>
            <a:off x="457200" y="1397708"/>
            <a:ext cx="6518275"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pic>
        <p:nvPicPr>
          <p:cNvPr id="10" name="Picture 9" descr="A picture containing drawing&#10;&#10;Description automatically generated">
            <a:extLst>
              <a:ext uri="{FF2B5EF4-FFF2-40B4-BE49-F238E27FC236}">
                <a16:creationId xmlns:a16="http://schemas.microsoft.com/office/drawing/2014/main" id="{05959E26-E383-8746-8325-E1430F09D0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1650497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ullet Text – Red AARP Log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54013"/>
            <a:ext cx="6518635" cy="507651"/>
          </a:xfrm>
        </p:spPr>
        <p:txBody>
          <a:bodyPr>
            <a:noAutofit/>
          </a:bodyPr>
          <a:lstStyle>
            <a:lvl1pPr algn="l">
              <a:defRPr sz="2800" b="1" spc="-30" baseline="0">
                <a:solidFill>
                  <a:schemeClr val="bg1"/>
                </a:solidFill>
              </a:defRPr>
            </a:lvl1pPr>
          </a:lstStyle>
          <a:p>
            <a:r>
              <a:rPr lang="en-US"/>
              <a:t>Add Title 28 </a:t>
            </a:r>
            <a:r>
              <a:rPr lang="en-US" err="1"/>
              <a:t>pt</a:t>
            </a:r>
            <a:endParaRPr lang="en-US"/>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208238"/>
            <a:ext cx="1156915" cy="237722"/>
          </a:xfrm>
          <a:prstGeom prst="rect">
            <a:avLst/>
          </a:prstGeom>
        </p:spPr>
      </p:pic>
      <p:sp>
        <p:nvSpPr>
          <p:cNvPr id="6" name="Text Placeholder 4">
            <a:extLst>
              <a:ext uri="{FF2B5EF4-FFF2-40B4-BE49-F238E27FC236}">
                <a16:creationId xmlns:a16="http://schemas.microsoft.com/office/drawing/2014/main" id="{5333833B-5017-1F4F-B8C7-0FC53207AFED}"/>
              </a:ext>
            </a:extLst>
          </p:cNvPr>
          <p:cNvSpPr>
            <a:spLocks noGrp="1"/>
          </p:cNvSpPr>
          <p:nvPr>
            <p:ph type="body" sz="quarter" idx="10" hasCustomPrompt="1"/>
          </p:nvPr>
        </p:nvSpPr>
        <p:spPr>
          <a:xfrm>
            <a:off x="457200" y="1302288"/>
            <a:ext cx="6518275" cy="3394075"/>
          </a:xfrm>
        </p:spPr>
        <p:txBody>
          <a:bodyPr>
            <a:normAutofit/>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184409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ullet Text – Pink AARP Logo">
    <p:bg>
      <p:bgPr>
        <a:solidFill>
          <a:schemeClr val="accent2"/>
        </a:solidFill>
        <a:effectLst/>
      </p:bgPr>
    </p:bg>
    <p:spTree>
      <p:nvGrpSpPr>
        <p:cNvPr id="1" name=""/>
        <p:cNvGrpSpPr/>
        <p:nvPr/>
      </p:nvGrpSpPr>
      <p:grpSpPr>
        <a:xfrm>
          <a:off x="0" y="0"/>
          <a:ext cx="0" cy="0"/>
          <a:chOff x="0" y="0"/>
          <a:chExt cx="0" cy="0"/>
        </a:xfrm>
      </p:grpSpPr>
      <p:sp>
        <p:nvSpPr>
          <p:cNvPr id="11" name="Slide Number Placeholder 7">
            <a:extLst>
              <a:ext uri="{FF2B5EF4-FFF2-40B4-BE49-F238E27FC236}">
                <a16:creationId xmlns:a16="http://schemas.microsoft.com/office/drawing/2014/main" id="{E83C8F9E-8AA2-E641-B7D1-A9EFACF7537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2" name="Title 1">
            <a:extLst>
              <a:ext uri="{FF2B5EF4-FFF2-40B4-BE49-F238E27FC236}">
                <a16:creationId xmlns:a16="http://schemas.microsoft.com/office/drawing/2014/main" id="{F2FB2457-2C0A-A640-A4D6-B2180523C314}"/>
              </a:ext>
            </a:extLst>
          </p:cNvPr>
          <p:cNvSpPr>
            <a:spLocks noGrp="1"/>
          </p:cNvSpPr>
          <p:nvPr>
            <p:ph type="title" hasCustomPrompt="1"/>
          </p:nvPr>
        </p:nvSpPr>
        <p:spPr>
          <a:xfrm>
            <a:off x="385641" y="558598"/>
            <a:ext cx="7915958" cy="507651"/>
          </a:xfrm>
        </p:spPr>
        <p:txBody>
          <a:bodyPr>
            <a:noAutofit/>
          </a:bodyPr>
          <a:lstStyle>
            <a:lvl1pPr algn="l">
              <a:defRPr sz="2800" b="1" spc="-30" baseline="0">
                <a:solidFill>
                  <a:srgbClr val="EC1300"/>
                </a:solidFill>
              </a:defRPr>
            </a:lvl1pPr>
          </a:lstStyle>
          <a:p>
            <a:r>
              <a:rPr lang="en-US"/>
              <a:t>Add Title 28 </a:t>
            </a:r>
            <a:r>
              <a:rPr lang="en-US" err="1"/>
              <a:t>pt</a:t>
            </a:r>
            <a:endParaRPr lang="en-US"/>
          </a:p>
        </p:txBody>
      </p:sp>
      <p:sp>
        <p:nvSpPr>
          <p:cNvPr id="8" name="Text Placeholder 4">
            <a:extLst>
              <a:ext uri="{FF2B5EF4-FFF2-40B4-BE49-F238E27FC236}">
                <a16:creationId xmlns:a16="http://schemas.microsoft.com/office/drawing/2014/main" id="{8C97D043-1EE0-4341-9F8F-81820A2A7670}"/>
              </a:ext>
            </a:extLst>
          </p:cNvPr>
          <p:cNvSpPr>
            <a:spLocks noGrp="1"/>
          </p:cNvSpPr>
          <p:nvPr>
            <p:ph type="body" sz="quarter" idx="10" hasCustomPrompt="1"/>
          </p:nvPr>
        </p:nvSpPr>
        <p:spPr>
          <a:xfrm>
            <a:off x="385641" y="1206873"/>
            <a:ext cx="7915521"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pic>
        <p:nvPicPr>
          <p:cNvPr id="10" name="Picture 9" descr="A picture containing drawing&#10;&#10;Description automatically generated">
            <a:extLst>
              <a:ext uri="{FF2B5EF4-FFF2-40B4-BE49-F238E27FC236}">
                <a16:creationId xmlns:a16="http://schemas.microsoft.com/office/drawing/2014/main" id="{2DE5BE04-8922-1549-B5D0-46093E7A9C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2663313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ullet Text – Salmon AARP Logo">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38111"/>
            <a:ext cx="6518635" cy="507651"/>
          </a:xfrm>
        </p:spPr>
        <p:txBody>
          <a:bodyPr>
            <a:noAutofit/>
          </a:bodyPr>
          <a:lstStyle>
            <a:lvl1pPr algn="l">
              <a:defRPr sz="2800" b="1" spc="-30" baseline="0">
                <a:solidFill>
                  <a:schemeClr val="accent6"/>
                </a:solidFill>
              </a:defRPr>
            </a:lvl1pPr>
          </a:lstStyle>
          <a:p>
            <a:r>
              <a:rPr lang="en-US"/>
              <a:t>Add Title 28 </a:t>
            </a:r>
            <a:r>
              <a:rPr lang="en-US" err="1"/>
              <a:t>pt</a:t>
            </a:r>
            <a:endParaRPr lang="en-US"/>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a:p>
        </p:txBody>
      </p:sp>
      <p:sp>
        <p:nvSpPr>
          <p:cNvPr id="9" name="Text Placeholder 4">
            <a:extLst>
              <a:ext uri="{FF2B5EF4-FFF2-40B4-BE49-F238E27FC236}">
                <a16:creationId xmlns:a16="http://schemas.microsoft.com/office/drawing/2014/main" id="{D2CB997B-D680-5049-82CB-3A19A2889E49}"/>
              </a:ext>
            </a:extLst>
          </p:cNvPr>
          <p:cNvSpPr>
            <a:spLocks noGrp="1"/>
          </p:cNvSpPr>
          <p:nvPr>
            <p:ph type="body" sz="quarter" idx="11" hasCustomPrompt="1"/>
          </p:nvPr>
        </p:nvSpPr>
        <p:spPr>
          <a:xfrm>
            <a:off x="457200" y="1275234"/>
            <a:ext cx="6518275" cy="3394075"/>
          </a:xfrm>
        </p:spPr>
        <p:txBody>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pic>
        <p:nvPicPr>
          <p:cNvPr id="10" name="Picture 9" descr="A picture containing drawing&#10;&#10;Description automatically generated">
            <a:extLst>
              <a:ext uri="{FF2B5EF4-FFF2-40B4-BE49-F238E27FC236}">
                <a16:creationId xmlns:a16="http://schemas.microsoft.com/office/drawing/2014/main" id="{65FA6744-F100-664C-B18F-1AB36234819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208238"/>
            <a:ext cx="1156915" cy="237722"/>
          </a:xfrm>
          <a:prstGeom prst="rect">
            <a:avLst/>
          </a:prstGeom>
        </p:spPr>
      </p:pic>
    </p:spTree>
    <p:extLst>
      <p:ext uri="{BB962C8B-B14F-4D97-AF65-F5344CB8AC3E}">
        <p14:creationId xmlns:p14="http://schemas.microsoft.com/office/powerpoint/2010/main" val="4233188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 Logo">
    <p:spTree>
      <p:nvGrpSpPr>
        <p:cNvPr id="1" name=""/>
        <p:cNvGrpSpPr/>
        <p:nvPr/>
      </p:nvGrpSpPr>
      <p:grpSpPr>
        <a:xfrm>
          <a:off x="0" y="0"/>
          <a:ext cx="0" cy="0"/>
          <a:chOff x="0" y="0"/>
          <a:chExt cx="0" cy="0"/>
        </a:xfrm>
      </p:grpSpPr>
      <p:sp>
        <p:nvSpPr>
          <p:cNvPr id="11"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385641" y="558598"/>
            <a:ext cx="786668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sp>
        <p:nvSpPr>
          <p:cNvPr id="4" name="Content Placeholder 3">
            <a:extLst>
              <a:ext uri="{FF2B5EF4-FFF2-40B4-BE49-F238E27FC236}">
                <a16:creationId xmlns:a16="http://schemas.microsoft.com/office/drawing/2014/main" id="{858522F9-8BBA-7E4E-83BB-F32530F429FC}"/>
              </a:ext>
            </a:extLst>
          </p:cNvPr>
          <p:cNvSpPr>
            <a:spLocks noGrp="1"/>
          </p:cNvSpPr>
          <p:nvPr>
            <p:ph sz="quarter" idx="11" hasCustomPrompt="1"/>
          </p:nvPr>
        </p:nvSpPr>
        <p:spPr>
          <a:xfrm>
            <a:off x="363352" y="1200523"/>
            <a:ext cx="7866251"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pic>
        <p:nvPicPr>
          <p:cNvPr id="9" name="Picture 8" descr="A picture containing drawing&#10;&#10;Description automatically generated">
            <a:extLst>
              <a:ext uri="{FF2B5EF4-FFF2-40B4-BE49-F238E27FC236}">
                <a16:creationId xmlns:a16="http://schemas.microsoft.com/office/drawing/2014/main" id="{15768FE2-3410-F244-9D6C-4163FE782E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265975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lumn Photos –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78556"/>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5" name="Text Placeholder 4"/>
          <p:cNvSpPr>
            <a:spLocks noGrp="1"/>
          </p:cNvSpPr>
          <p:nvPr>
            <p:ph type="body" sz="quarter" idx="3" hasCustomPrompt="1"/>
          </p:nvPr>
        </p:nvSpPr>
        <p:spPr>
          <a:xfrm>
            <a:off x="4645026" y="1278556"/>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648460"/>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803482"/>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803482"/>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pic>
        <p:nvPicPr>
          <p:cNvPr id="9" name="Picture 8" descr="A picture containing drawing&#10;&#10;Description automatically generated">
            <a:extLst>
              <a:ext uri="{FF2B5EF4-FFF2-40B4-BE49-F238E27FC236}">
                <a16:creationId xmlns:a16="http://schemas.microsoft.com/office/drawing/2014/main" id="{22D5666E-CC7C-3A42-B40D-8E2C35F7EB0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1364554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umn Text –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01543" y="1238800"/>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5" name="Text Placeholder 4"/>
          <p:cNvSpPr>
            <a:spLocks noGrp="1"/>
          </p:cNvSpPr>
          <p:nvPr>
            <p:ph type="body" sz="quarter" idx="3" hasCustomPrompt="1"/>
          </p:nvPr>
        </p:nvSpPr>
        <p:spPr>
          <a:xfrm>
            <a:off x="4589369" y="1238800"/>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20-24 </a:t>
            </a:r>
            <a:r>
              <a:rPr lang="en-US" err="1"/>
              <a:t>pt</a:t>
            </a:r>
            <a:endParaRPr lang="en-US"/>
          </a:p>
        </p:txBody>
      </p:sp>
      <p:sp>
        <p:nvSpPr>
          <p:cNvPr id="4" name="Text Placeholder 3">
            <a:extLst>
              <a:ext uri="{FF2B5EF4-FFF2-40B4-BE49-F238E27FC236}">
                <a16:creationId xmlns:a16="http://schemas.microsoft.com/office/drawing/2014/main" id="{EC07FBF0-97CC-DD42-9748-15529A714E43}"/>
              </a:ext>
            </a:extLst>
          </p:cNvPr>
          <p:cNvSpPr>
            <a:spLocks noGrp="1"/>
          </p:cNvSpPr>
          <p:nvPr>
            <p:ph type="body" sz="quarter" idx="12" hasCustomPrompt="1"/>
          </p:nvPr>
        </p:nvSpPr>
        <p:spPr>
          <a:xfrm>
            <a:off x="387255" y="1762819"/>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3" name="Text Placeholder 3">
            <a:extLst>
              <a:ext uri="{FF2B5EF4-FFF2-40B4-BE49-F238E27FC236}">
                <a16:creationId xmlns:a16="http://schemas.microsoft.com/office/drawing/2014/main" id="{025E100A-F4F4-0B4F-B4C6-14FA523D1415}"/>
              </a:ext>
            </a:extLst>
          </p:cNvPr>
          <p:cNvSpPr>
            <a:spLocks noGrp="1"/>
          </p:cNvSpPr>
          <p:nvPr>
            <p:ph type="body" sz="quarter" idx="13" hasCustomPrompt="1"/>
          </p:nvPr>
        </p:nvSpPr>
        <p:spPr>
          <a:xfrm>
            <a:off x="4589369" y="1762819"/>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0" name="Text Placeholder 3">
            <a:extLst>
              <a:ext uri="{FF2B5EF4-FFF2-40B4-BE49-F238E27FC236}">
                <a16:creationId xmlns:a16="http://schemas.microsoft.com/office/drawing/2014/main" id="{8F9F467A-8E98-7346-B4E6-7FC87C735547}"/>
              </a:ext>
            </a:extLst>
          </p:cNvPr>
          <p:cNvSpPr>
            <a:spLocks noGrp="1"/>
          </p:cNvSpPr>
          <p:nvPr>
            <p:ph type="body" sz="quarter" idx="14" hasCustomPrompt="1"/>
          </p:nvPr>
        </p:nvSpPr>
        <p:spPr>
          <a:xfrm>
            <a:off x="401543" y="584850"/>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4" name="Slide Number Placeholder 7">
            <a:extLst>
              <a:ext uri="{FF2B5EF4-FFF2-40B4-BE49-F238E27FC236}">
                <a16:creationId xmlns:a16="http://schemas.microsoft.com/office/drawing/2014/main" id="{5A858944-1D8F-3B42-95E7-F085EA57C8C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pic>
        <p:nvPicPr>
          <p:cNvPr id="12" name="Picture 11" descr="A picture containing drawing&#10;&#10;Description automatically generated">
            <a:extLst>
              <a:ext uri="{FF2B5EF4-FFF2-40B4-BE49-F238E27FC236}">
                <a16:creationId xmlns:a16="http://schemas.microsoft.com/office/drawing/2014/main" id="{948FC9E1-FF56-A748-AE0F-0DD57ACD640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1090756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ic Left, Title&amp;Text Right – Logo">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EDFE468-84B4-B749-A8FB-46BED87288EE}"/>
              </a:ext>
            </a:extLst>
          </p:cNvPr>
          <p:cNvSpPr>
            <a:spLocks noGrp="1"/>
          </p:cNvSpPr>
          <p:nvPr>
            <p:ph type="title" hasCustomPrompt="1"/>
          </p:nvPr>
        </p:nvSpPr>
        <p:spPr>
          <a:xfrm>
            <a:off x="5403399" y="540690"/>
            <a:ext cx="3204891" cy="979382"/>
          </a:xfrm>
        </p:spPr>
        <p:txBody>
          <a:bodyPr anchor="b" anchorCtr="0">
            <a:normAutofit/>
          </a:bodyPr>
          <a:lstStyle>
            <a:lvl1pPr algn="l">
              <a:defRPr sz="2800" b="1" spc="-30" baseline="0">
                <a:solidFill>
                  <a:srgbClr val="EC1300"/>
                </a:solidFill>
              </a:defRPr>
            </a:lvl1pPr>
          </a:lstStyle>
          <a:p>
            <a:r>
              <a:rPr lang="en-US"/>
              <a:t>Add Title 28 </a:t>
            </a:r>
            <a:r>
              <a:rPr lang="en-US" err="1"/>
              <a:t>pt</a:t>
            </a:r>
            <a:endParaRPr lang="en-US"/>
          </a:p>
        </p:txBody>
      </p:sp>
      <p:sp>
        <p:nvSpPr>
          <p:cNvPr id="3" name="Text Placeholder 2">
            <a:extLst>
              <a:ext uri="{FF2B5EF4-FFF2-40B4-BE49-F238E27FC236}">
                <a16:creationId xmlns:a16="http://schemas.microsoft.com/office/drawing/2014/main" id="{ABDFBC2D-E460-A241-9C49-5441A1348CB8}"/>
              </a:ext>
            </a:extLst>
          </p:cNvPr>
          <p:cNvSpPr>
            <a:spLocks noGrp="1"/>
          </p:cNvSpPr>
          <p:nvPr>
            <p:ph type="body" sz="quarter" idx="10" hasCustomPrompt="1"/>
          </p:nvPr>
        </p:nvSpPr>
        <p:spPr>
          <a:xfrm>
            <a:off x="5403850" y="1689363"/>
            <a:ext cx="3204891" cy="3068637"/>
          </a:xfrm>
        </p:spPr>
        <p:txBody>
          <a:bodyPr/>
          <a:lstStyle>
            <a:lvl1pPr marL="230188" indent="-230188">
              <a:spcBef>
                <a:spcPts val="0"/>
              </a:spcBef>
              <a:tabLst/>
              <a:defRPr sz="2000" spc="-10" baseline="0"/>
            </a:lvl1pPr>
            <a:lvl2pPr>
              <a:spcBef>
                <a:spcPts val="200"/>
              </a:spcBef>
              <a:defRPr sz="1800" spc="-10" baseline="0"/>
            </a:lvl2pPr>
            <a:lvl3pPr>
              <a:defRPr sz="1800" spc="-10" baseline="0"/>
            </a:lvl3pPr>
            <a:lvl4pPr marL="1433513" indent="-230188">
              <a:spcBef>
                <a:spcPts val="200"/>
              </a:spcBef>
              <a:tabLst/>
              <a:defRPr sz="1800" spc="-10" baseline="0"/>
            </a:lvl4pPr>
          </a:lstStyle>
          <a:p>
            <a:pPr lvl="0"/>
            <a:r>
              <a:rPr lang="en-US"/>
              <a:t>Click to add bullet text 20 </a:t>
            </a:r>
            <a:r>
              <a:rPr lang="en-US" err="1"/>
              <a:t>pt</a:t>
            </a:r>
            <a:endParaRPr lang="en-US"/>
          </a:p>
          <a:p>
            <a:pPr lvl="1"/>
            <a:r>
              <a:rPr lang="en-US"/>
              <a:t>Second level</a:t>
            </a:r>
          </a:p>
          <a:p>
            <a:pPr lvl="2"/>
            <a:r>
              <a:rPr lang="en-US"/>
              <a:t>Third level</a:t>
            </a:r>
          </a:p>
          <a:p>
            <a:pPr lvl="3"/>
            <a:r>
              <a:rPr lang="en-US"/>
              <a:t>Fourth level</a:t>
            </a:r>
          </a:p>
        </p:txBody>
      </p:sp>
      <p:sp>
        <p:nvSpPr>
          <p:cNvPr id="13" name="Slide Number Placeholder 7">
            <a:extLst>
              <a:ext uri="{FF2B5EF4-FFF2-40B4-BE49-F238E27FC236}">
                <a16:creationId xmlns:a16="http://schemas.microsoft.com/office/drawing/2014/main" id="{11055843-417F-2944-9277-0FCEC3E2FAB2}"/>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7" name="Content Placeholder 3">
            <a:extLst>
              <a:ext uri="{FF2B5EF4-FFF2-40B4-BE49-F238E27FC236}">
                <a16:creationId xmlns:a16="http://schemas.microsoft.com/office/drawing/2014/main" id="{A050E5AB-616F-984D-ABBC-350C963FCD32}"/>
              </a:ext>
            </a:extLst>
          </p:cNvPr>
          <p:cNvSpPr>
            <a:spLocks noGrp="1"/>
          </p:cNvSpPr>
          <p:nvPr>
            <p:ph sz="quarter" idx="11" hasCustomPrompt="1"/>
          </p:nvPr>
        </p:nvSpPr>
        <p:spPr>
          <a:xfrm>
            <a:off x="389614" y="540690"/>
            <a:ext cx="4868959" cy="421731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pic>
        <p:nvPicPr>
          <p:cNvPr id="10" name="Picture 9" descr="A picture containing drawing&#10;&#10;Description automatically generated">
            <a:extLst>
              <a:ext uri="{FF2B5EF4-FFF2-40B4-BE49-F238E27FC236}">
                <a16:creationId xmlns:a16="http://schemas.microsoft.com/office/drawing/2014/main" id="{9D022FB8-0CFC-5C4F-9950-5B132D01AF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25301125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clusion - no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457200" y="274502"/>
            <a:ext cx="4779084" cy="4332830"/>
          </a:xfrm>
        </p:spPr>
        <p:txBody>
          <a:bodyPr>
            <a:normAutofit/>
          </a:bodyPr>
          <a:lstStyle>
            <a:lvl1pPr marL="0" indent="0">
              <a:buNone/>
              <a:defRPr sz="2400">
                <a:solidFill>
                  <a:schemeClr val="tx1">
                    <a:lumMod val="50000"/>
                    <a:lumOff val="50000"/>
                  </a:schemeClr>
                </a:solidFill>
              </a:defRPr>
            </a:lvl1pPr>
          </a:lstStyle>
          <a:p>
            <a:r>
              <a:rPr lang="en-US"/>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41021" y="1538288"/>
            <a:ext cx="3245780" cy="3068637"/>
          </a:xfrm>
        </p:spPr>
        <p:txBody>
          <a:bodyPr>
            <a:normAutofit/>
          </a:bodyPr>
          <a:lstStyle>
            <a:lvl1pPr marL="230188" indent="-230188">
              <a:tabLst/>
              <a:defRPr sz="2000">
                <a:solidFill>
                  <a:schemeClr val="tx1"/>
                </a:solidFill>
              </a:defRPr>
            </a:lvl1pPr>
          </a:lstStyle>
          <a:p>
            <a:r>
              <a:rPr lang="en-US"/>
              <a:t>Click to add bullet text 20 </a:t>
            </a:r>
            <a:r>
              <a:rPr lang="en-US" err="1"/>
              <a:t>pt</a:t>
            </a:r>
            <a:endParaRPr lang="en-US"/>
          </a:p>
        </p:txBody>
      </p:sp>
      <p:sp>
        <p:nvSpPr>
          <p:cNvPr id="2" name="Rectangle 1">
            <a:extLst>
              <a:ext uri="{FF2B5EF4-FFF2-40B4-BE49-F238E27FC236}">
                <a16:creationId xmlns:a16="http://schemas.microsoft.com/office/drawing/2014/main" id="{63F7AB2C-2DF8-1B4B-9409-DE4766264A03}"/>
              </a:ext>
            </a:extLst>
          </p:cNvPr>
          <p:cNvSpPr/>
          <p:nvPr/>
        </p:nvSpPr>
        <p:spPr>
          <a:xfrm>
            <a:off x="5403850" y="647494"/>
            <a:ext cx="3282950" cy="523220"/>
          </a:xfrm>
          <a:prstGeom prst="rect">
            <a:avLst/>
          </a:prstGeom>
        </p:spPr>
        <p:txBody>
          <a:bodyPr wrap="square" anchor="b" anchorCtr="0">
            <a:spAutoFit/>
          </a:bodyPr>
          <a:lstStyle/>
          <a:p>
            <a:r>
              <a:rPr lang="en-US" sz="2800" b="1" spc="-30" baseline="0">
                <a:solidFill>
                  <a:schemeClr val="tx2"/>
                </a:solidFill>
              </a:rPr>
              <a:t>Conclusion</a:t>
            </a:r>
            <a:endParaRPr lang="en-US" sz="2800" b="1" spc="-30" baseline="0"/>
          </a:p>
        </p:txBody>
      </p:sp>
    </p:spTree>
    <p:extLst>
      <p:ext uri="{BB962C8B-B14F-4D97-AF65-F5344CB8AC3E}">
        <p14:creationId xmlns:p14="http://schemas.microsoft.com/office/powerpoint/2010/main" val="7305130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tate Logo">
    <p:spTree>
      <p:nvGrpSpPr>
        <p:cNvPr id="1" name=""/>
        <p:cNvGrpSpPr/>
        <p:nvPr/>
      </p:nvGrpSpPr>
      <p:grpSpPr>
        <a:xfrm>
          <a:off x="0" y="0"/>
          <a:ext cx="0" cy="0"/>
          <a:chOff x="0" y="0"/>
          <a:chExt cx="0" cy="0"/>
        </a:xfrm>
      </p:grpSpPr>
      <p:sp>
        <p:nvSpPr>
          <p:cNvPr id="9" name="Slide Number Placeholder 7">
            <a:extLst>
              <a:ext uri="{FF2B5EF4-FFF2-40B4-BE49-F238E27FC236}">
                <a16:creationId xmlns:a16="http://schemas.microsoft.com/office/drawing/2014/main" id="{7F3BF294-44D6-E043-9390-9E844279974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2">
            <a:extLst>
              <a:ext uri="{FF2B5EF4-FFF2-40B4-BE49-F238E27FC236}">
                <a16:creationId xmlns:a16="http://schemas.microsoft.com/office/drawing/2014/main" id="{632E9C29-0781-964C-876D-5A8D5FDAE19A}"/>
              </a:ext>
            </a:extLst>
          </p:cNvPr>
          <p:cNvSpPr>
            <a:spLocks noGrp="1"/>
          </p:cNvSpPr>
          <p:nvPr>
            <p:ph type="pic" sz="quarter" idx="10" hasCustomPrompt="1"/>
          </p:nvPr>
        </p:nvSpPr>
        <p:spPr>
          <a:xfrm>
            <a:off x="347671" y="231452"/>
            <a:ext cx="2745386" cy="667046"/>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4079476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 no page number">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9974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All Blank –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3499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 Column Text – Whit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151335"/>
            <a:ext cx="4040188" cy="479822"/>
          </a:xfrm>
        </p:spPr>
        <p:txBody>
          <a:bodyPr anchor="b">
            <a:normAutofit/>
          </a:bodyPr>
          <a:lstStyle>
            <a:lvl1pPr marL="0" indent="0">
              <a:buNone/>
              <a:defRPr sz="20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 </a:t>
            </a:r>
            <a:r>
              <a:rPr lang="en-US" err="1"/>
              <a:t>pt</a:t>
            </a:r>
            <a:endParaRPr lang="en-US"/>
          </a:p>
        </p:txBody>
      </p:sp>
      <p:sp>
        <p:nvSpPr>
          <p:cNvPr id="5" name="Text Placeholder 4"/>
          <p:cNvSpPr>
            <a:spLocks noGrp="1"/>
          </p:cNvSpPr>
          <p:nvPr>
            <p:ph type="body" sz="quarter" idx="3" hasCustomPrompt="1"/>
          </p:nvPr>
        </p:nvSpPr>
        <p:spPr>
          <a:xfrm>
            <a:off x="4645026" y="1151335"/>
            <a:ext cx="4041775" cy="479822"/>
          </a:xfrm>
        </p:spPr>
        <p:txBody>
          <a:bodyPr anchor="b">
            <a:normAutofit/>
          </a:bodyPr>
          <a:lstStyle>
            <a:lvl1pPr marL="0" indent="0">
              <a:buNone/>
              <a:defRPr sz="20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Subtitle 20 </a:t>
            </a:r>
            <a:r>
              <a:rPr lang="en-US" err="1"/>
              <a:t>pt</a:t>
            </a:r>
            <a:endParaRPr lang="en-US"/>
          </a:p>
        </p:txBody>
      </p:sp>
      <p:sp>
        <p:nvSpPr>
          <p:cNvPr id="4" name="Text Placeholder 3">
            <a:extLst>
              <a:ext uri="{FF2B5EF4-FFF2-40B4-BE49-F238E27FC236}">
                <a16:creationId xmlns:a16="http://schemas.microsoft.com/office/drawing/2014/main" id="{EC07FBF0-97CC-DD42-9748-15529A714E43}"/>
              </a:ext>
            </a:extLst>
          </p:cNvPr>
          <p:cNvSpPr>
            <a:spLocks noGrp="1"/>
          </p:cNvSpPr>
          <p:nvPr>
            <p:ph type="body" sz="quarter" idx="12" hasCustomPrompt="1"/>
          </p:nvPr>
        </p:nvSpPr>
        <p:spPr>
          <a:xfrm>
            <a:off x="442912" y="1667670"/>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3" name="Text Placeholder 3">
            <a:extLst>
              <a:ext uri="{FF2B5EF4-FFF2-40B4-BE49-F238E27FC236}">
                <a16:creationId xmlns:a16="http://schemas.microsoft.com/office/drawing/2014/main" id="{025E100A-F4F4-0B4F-B4C6-14FA523D1415}"/>
              </a:ext>
            </a:extLst>
          </p:cNvPr>
          <p:cNvSpPr>
            <a:spLocks noGrp="1"/>
          </p:cNvSpPr>
          <p:nvPr>
            <p:ph type="body" sz="quarter" idx="13" hasCustomPrompt="1"/>
          </p:nvPr>
        </p:nvSpPr>
        <p:spPr>
          <a:xfrm>
            <a:off x="4645026" y="1667670"/>
            <a:ext cx="4040188" cy="2925763"/>
          </a:xfrm>
        </p:spPr>
        <p:txBody>
          <a:bodyPr>
            <a:normAutofit/>
          </a:bodyPr>
          <a:lstStyle>
            <a:lvl1pPr marL="230188" indent="-230188">
              <a:tabLst/>
              <a:defRPr sz="2000"/>
            </a:lvl1pPr>
            <a:lvl2pPr marL="457200" indent="0">
              <a:buNone/>
              <a:defRPr/>
            </a:lvl2pPr>
          </a:lstStyle>
          <a:p>
            <a:pPr lvl="0"/>
            <a:r>
              <a:rPr lang="en-US"/>
              <a:t>Click to add bullet text 20 </a:t>
            </a:r>
            <a:r>
              <a:rPr lang="en-US" err="1"/>
              <a:t>pt</a:t>
            </a:r>
            <a:endParaRPr lang="en-US"/>
          </a:p>
        </p:txBody>
      </p:sp>
      <p:sp>
        <p:nvSpPr>
          <p:cNvPr id="10" name="Text Placeholder 3">
            <a:extLst>
              <a:ext uri="{FF2B5EF4-FFF2-40B4-BE49-F238E27FC236}">
                <a16:creationId xmlns:a16="http://schemas.microsoft.com/office/drawing/2014/main" id="{8F9F467A-8E98-7346-B4E6-7FC87C735547}"/>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a:t>Add Title 28 </a:t>
            </a:r>
            <a:r>
              <a:rPr lang="en-US" err="1"/>
              <a:t>pt</a:t>
            </a:r>
            <a:endParaRPr lang="en-US"/>
          </a:p>
        </p:txBody>
      </p:sp>
      <p:sp>
        <p:nvSpPr>
          <p:cNvPr id="14" name="Slide Number Placeholder 7">
            <a:extLst>
              <a:ext uri="{FF2B5EF4-FFF2-40B4-BE49-F238E27FC236}">
                <a16:creationId xmlns:a16="http://schemas.microsoft.com/office/drawing/2014/main" id="{5A858944-1D8F-3B42-95E7-F085EA57C8C9}"/>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Tree>
    <p:extLst>
      <p:ext uri="{BB962C8B-B14F-4D97-AF65-F5344CB8AC3E}">
        <p14:creationId xmlns:p14="http://schemas.microsoft.com/office/powerpoint/2010/main" val="35129103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ection Page Photo Logo – White">
    <p:spTree>
      <p:nvGrpSpPr>
        <p:cNvPr id="1" name=""/>
        <p:cNvGrpSpPr/>
        <p:nvPr/>
      </p:nvGrpSpPr>
      <p:grpSpPr>
        <a:xfrm>
          <a:off x="0" y="0"/>
          <a:ext cx="0" cy="0"/>
          <a:chOff x="0" y="0"/>
          <a:chExt cx="0" cy="0"/>
        </a:xfrm>
      </p:grpSpPr>
      <p:pic>
        <p:nvPicPr>
          <p:cNvPr id="7" name="Picture 6" descr="A picture containing drawing&#10;&#10;Description automatically generated">
            <a:extLst>
              <a:ext uri="{FF2B5EF4-FFF2-40B4-BE49-F238E27FC236}">
                <a16:creationId xmlns:a16="http://schemas.microsoft.com/office/drawing/2014/main" id="{E21BE1D2-3076-AD4A-9281-ECA963C2012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4740051"/>
            <a:ext cx="1323025" cy="271854"/>
          </a:xfrm>
          <a:prstGeom prst="rect">
            <a:avLst/>
          </a:prstGeom>
        </p:spPr>
      </p:pic>
      <p:sp>
        <p:nvSpPr>
          <p:cNvPr id="10" name="Picture Placeholder 2">
            <a:extLst>
              <a:ext uri="{FF2B5EF4-FFF2-40B4-BE49-F238E27FC236}">
                <a16:creationId xmlns:a16="http://schemas.microsoft.com/office/drawing/2014/main" id="{F36B6981-A20D-CA4F-97FC-80FA71E16B7C}"/>
              </a:ext>
            </a:extLst>
          </p:cNvPr>
          <p:cNvSpPr>
            <a:spLocks noGrp="1"/>
          </p:cNvSpPr>
          <p:nvPr>
            <p:ph type="pic" idx="1" hasCustomPrompt="1"/>
          </p:nvPr>
        </p:nvSpPr>
        <p:spPr>
          <a:xfrm>
            <a:off x="279400" y="257577"/>
            <a:ext cx="8661400" cy="3288104"/>
          </a:xfrm>
        </p:spPr>
        <p:txBody>
          <a:bodyPr>
            <a:normAutofit/>
          </a:bodyPr>
          <a:lstStyle>
            <a:lvl1pPr marL="0" indent="0">
              <a:buNone/>
              <a:defRPr sz="2400">
                <a:solidFill>
                  <a:schemeClr val="bg1">
                    <a:lumMod val="75000"/>
                  </a:schemeClr>
                </a:solidFill>
              </a:defRPr>
            </a:lvl1pPr>
          </a:lstStyle>
          <a:p>
            <a:r>
              <a:rPr lang="en-US"/>
              <a:t>Click on Icon to add photo</a:t>
            </a:r>
          </a:p>
        </p:txBody>
      </p:sp>
      <p:sp>
        <p:nvSpPr>
          <p:cNvPr id="13" name="Slide Number Placeholder 7">
            <a:extLst>
              <a:ext uri="{FF2B5EF4-FFF2-40B4-BE49-F238E27FC236}">
                <a16:creationId xmlns:a16="http://schemas.microsoft.com/office/drawing/2014/main" id="{9330DB4E-31C3-654D-84D2-84EC9414743B}"/>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9" name="Title 1">
            <a:extLst>
              <a:ext uri="{FF2B5EF4-FFF2-40B4-BE49-F238E27FC236}">
                <a16:creationId xmlns:a16="http://schemas.microsoft.com/office/drawing/2014/main" id="{D92AA551-D09E-3D40-9F3B-C99E852A0D8E}"/>
              </a:ext>
            </a:extLst>
          </p:cNvPr>
          <p:cNvSpPr>
            <a:spLocks noGrp="1"/>
          </p:cNvSpPr>
          <p:nvPr>
            <p:ph type="title" hasCustomPrompt="1"/>
          </p:nvPr>
        </p:nvSpPr>
        <p:spPr>
          <a:xfrm>
            <a:off x="2654300" y="3639084"/>
            <a:ext cx="6286500" cy="425054"/>
          </a:xfrm>
        </p:spPr>
        <p:txBody>
          <a:bodyPr anchor="ctr">
            <a:noAutofit/>
          </a:bodyPr>
          <a:lstStyle>
            <a:lvl1pPr algn="l">
              <a:defRPr sz="3600" b="1" spc="-40" baseline="0">
                <a:solidFill>
                  <a:srgbClr val="EC1300"/>
                </a:solidFill>
              </a:defRPr>
            </a:lvl1pPr>
          </a:lstStyle>
          <a:p>
            <a:r>
              <a:rPr lang="en-US"/>
              <a:t>Add Section Page Title 36 </a:t>
            </a:r>
            <a:r>
              <a:rPr lang="en-US" err="1"/>
              <a:t>pt</a:t>
            </a:r>
            <a:endParaRPr lang="en-US"/>
          </a:p>
        </p:txBody>
      </p:sp>
      <p:sp>
        <p:nvSpPr>
          <p:cNvPr id="12" name="Text Placeholder 3">
            <a:extLst>
              <a:ext uri="{FF2B5EF4-FFF2-40B4-BE49-F238E27FC236}">
                <a16:creationId xmlns:a16="http://schemas.microsoft.com/office/drawing/2014/main" id="{6743DBF3-FA9C-3C4B-A173-B17381553231}"/>
              </a:ext>
            </a:extLst>
          </p:cNvPr>
          <p:cNvSpPr>
            <a:spLocks noGrp="1"/>
          </p:cNvSpPr>
          <p:nvPr>
            <p:ph type="body" sz="half" idx="2" hasCustomPrompt="1"/>
          </p:nvPr>
        </p:nvSpPr>
        <p:spPr>
          <a:xfrm>
            <a:off x="2654300" y="4064137"/>
            <a:ext cx="6286500" cy="603647"/>
          </a:xfrm>
        </p:spPr>
        <p:txBody>
          <a:bodyPr anchor="t">
            <a:normAutofit/>
          </a:bodyPr>
          <a:lstStyle>
            <a:lvl1pPr marL="0" indent="0">
              <a:buNone/>
              <a:defRPr sz="2400" spc="-30" baseline="0"/>
            </a:lvl1pPr>
          </a:lstStyle>
          <a:p>
            <a:r>
              <a:rPr lang="en-US"/>
              <a:t>Add Section Page Subtitle 24 </a:t>
            </a:r>
            <a:r>
              <a:rPr lang="en-US" err="1"/>
              <a:t>pt</a:t>
            </a:r>
            <a:endParaRPr lang="en-US"/>
          </a:p>
        </p:txBody>
      </p:sp>
    </p:spTree>
    <p:extLst>
      <p:ext uri="{BB962C8B-B14F-4D97-AF65-F5344CB8AC3E}">
        <p14:creationId xmlns:p14="http://schemas.microsoft.com/office/powerpoint/2010/main" val="2646355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Photo – White">
    <p:spTree>
      <p:nvGrpSpPr>
        <p:cNvPr id="1" name=""/>
        <p:cNvGrpSpPr/>
        <p:nvPr/>
      </p:nvGrpSpPr>
      <p:grpSpPr>
        <a:xfrm>
          <a:off x="0" y="0"/>
          <a:ext cx="0" cy="0"/>
          <a:chOff x="0" y="0"/>
          <a:chExt cx="0" cy="0"/>
        </a:xfrm>
      </p:grpSpPr>
      <p:sp>
        <p:nvSpPr>
          <p:cNvPr id="11" name="Slide Number Placeholder 7"/>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457200" y="343913"/>
            <a:ext cx="651863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pic>
        <p:nvPicPr>
          <p:cNvPr id="7" name="Picture 6" descr="A picture containing drawing&#10;&#10;Description automatically generated">
            <a:extLst>
              <a:ext uri="{FF2B5EF4-FFF2-40B4-BE49-F238E27FC236}">
                <a16:creationId xmlns:a16="http://schemas.microsoft.com/office/drawing/2014/main" id="{02AFABEE-5FA5-0848-8144-8390A1B447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4740051"/>
            <a:ext cx="1323025" cy="271854"/>
          </a:xfrm>
          <a:prstGeom prst="rect">
            <a:avLst/>
          </a:prstGeom>
        </p:spPr>
      </p:pic>
      <p:sp>
        <p:nvSpPr>
          <p:cNvPr id="4" name="Content Placeholder 3">
            <a:extLst>
              <a:ext uri="{FF2B5EF4-FFF2-40B4-BE49-F238E27FC236}">
                <a16:creationId xmlns:a16="http://schemas.microsoft.com/office/drawing/2014/main" id="{858522F9-8BBA-7E4E-83BB-F32530F429FC}"/>
              </a:ext>
            </a:extLst>
          </p:cNvPr>
          <p:cNvSpPr>
            <a:spLocks noGrp="1"/>
          </p:cNvSpPr>
          <p:nvPr>
            <p:ph sz="quarter" idx="11" hasCustomPrompt="1"/>
          </p:nvPr>
        </p:nvSpPr>
        <p:spPr>
          <a:xfrm>
            <a:off x="434911" y="985838"/>
            <a:ext cx="6518275"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on Icon to add element</a:t>
            </a:r>
          </a:p>
          <a:p>
            <a:pPr lvl="0"/>
            <a:endParaRPr lang="en-US"/>
          </a:p>
        </p:txBody>
      </p:sp>
    </p:spTree>
    <p:extLst>
      <p:ext uri="{BB962C8B-B14F-4D97-AF65-F5344CB8AC3E}">
        <p14:creationId xmlns:p14="http://schemas.microsoft.com/office/powerpoint/2010/main" val="6855392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ullet Text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3913"/>
            <a:ext cx="6518635" cy="507651"/>
          </a:xfrm>
        </p:spPr>
        <p:txBody>
          <a:bodyPr>
            <a:noAutofit/>
          </a:bodyPr>
          <a:lstStyle>
            <a:lvl1pPr algn="l">
              <a:defRPr sz="2800" b="1" spc="-30" baseline="0">
                <a:solidFill>
                  <a:schemeClr val="tx2"/>
                </a:solidFill>
              </a:defRPr>
            </a:lvl1pPr>
          </a:lstStyle>
          <a:p>
            <a:r>
              <a:rPr lang="en-US"/>
              <a:t>Add Title 28 </a:t>
            </a:r>
            <a:r>
              <a:rPr lang="en-US" err="1"/>
              <a:t>pt</a:t>
            </a:r>
            <a:endParaRPr lang="en-US"/>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4739229"/>
            <a:ext cx="1323025" cy="271854"/>
          </a:xfrm>
          <a:prstGeom prst="rect">
            <a:avLst/>
          </a:prstGeom>
        </p:spPr>
      </p:pic>
      <p:sp>
        <p:nvSpPr>
          <p:cNvPr id="6" name="Slide Number Placeholder 7">
            <a:extLst>
              <a:ext uri="{FF2B5EF4-FFF2-40B4-BE49-F238E27FC236}">
                <a16:creationId xmlns:a16="http://schemas.microsoft.com/office/drawing/2014/main" id="{B0A7B39C-6D33-CA40-BC21-658D76AED443}"/>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pic>
        <p:nvPicPr>
          <p:cNvPr id="9" name="Picture 8" descr="A picture containing drawing&#10;&#10;Description automatically generated">
            <a:extLst>
              <a:ext uri="{FF2B5EF4-FFF2-40B4-BE49-F238E27FC236}">
                <a16:creationId xmlns:a16="http://schemas.microsoft.com/office/drawing/2014/main" id="{CDFE4FAB-702C-0B42-AFF2-880C55C867E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200" y="4740051"/>
            <a:ext cx="1323025" cy="271854"/>
          </a:xfrm>
          <a:prstGeom prst="rect">
            <a:avLst/>
          </a:prstGeom>
        </p:spPr>
      </p:pic>
      <p:sp>
        <p:nvSpPr>
          <p:cNvPr id="5" name="Text Placeholder 4">
            <a:extLst>
              <a:ext uri="{FF2B5EF4-FFF2-40B4-BE49-F238E27FC236}">
                <a16:creationId xmlns:a16="http://schemas.microsoft.com/office/drawing/2014/main" id="{78C0C067-CE1A-804E-91EE-BA47614A3DA4}"/>
              </a:ext>
            </a:extLst>
          </p:cNvPr>
          <p:cNvSpPr>
            <a:spLocks noGrp="1"/>
          </p:cNvSpPr>
          <p:nvPr>
            <p:ph type="body" sz="quarter" idx="10" hasCustomPrompt="1"/>
          </p:nvPr>
        </p:nvSpPr>
        <p:spPr>
          <a:xfrm>
            <a:off x="457200" y="992188"/>
            <a:ext cx="6518275" cy="3394075"/>
          </a:xfrm>
        </p:spPr>
        <p:txBody>
          <a:bodyPr/>
          <a:lstStyle>
            <a:lvl1pPr marL="230188" indent="-230188">
              <a:tabLst/>
              <a:defRPr sz="2400" spc="-10" baseline="0"/>
            </a:lvl1pPr>
            <a:lvl2pPr marL="571500" indent="-282575">
              <a:tabLst/>
              <a:defRPr sz="2400" spc="-10" baseline="0"/>
            </a:lvl2pPr>
            <a:lvl3pPr marL="860425" indent="-230188">
              <a:tabLst/>
              <a:defRPr sz="2000" spc="-10" baseline="0"/>
            </a:lvl3pPr>
            <a:lvl4pPr marL="1090613" indent="-230188">
              <a:tabLst/>
              <a:defRPr sz="2000" spc="-10" baseline="0"/>
            </a:lvl4pPr>
          </a:lstStyle>
          <a:p>
            <a:pPr lvl="0"/>
            <a:r>
              <a:rPr lang="en-US"/>
              <a:t>Click to add bullet text 24 </a:t>
            </a:r>
            <a:r>
              <a:rPr lang="en-US" err="1"/>
              <a:t>pt</a:t>
            </a:r>
            <a:endParaRPr lang="en-US"/>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89678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clusion">
    <p:spTree>
      <p:nvGrpSpPr>
        <p:cNvPr id="1" name=""/>
        <p:cNvGrpSpPr/>
        <p:nvPr/>
      </p:nvGrpSpPr>
      <p:grpSpPr>
        <a:xfrm>
          <a:off x="0" y="0"/>
          <a:ext cx="0" cy="0"/>
          <a:chOff x="0" y="0"/>
          <a:chExt cx="0" cy="0"/>
        </a:xfrm>
      </p:grpSpPr>
      <p:pic>
        <p:nvPicPr>
          <p:cNvPr id="7" name="Picture 6" descr="A picture containing drawing&#10;&#10;Description automatically generated">
            <a:extLst>
              <a:ext uri="{FF2B5EF4-FFF2-40B4-BE49-F238E27FC236}">
                <a16:creationId xmlns:a16="http://schemas.microsoft.com/office/drawing/2014/main" id="{43EE36AB-A1D8-E940-BE4B-7D782541AA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4740051"/>
            <a:ext cx="1323025" cy="271854"/>
          </a:xfrm>
          <a:prstGeom prst="rect">
            <a:avLst/>
          </a:prstGeom>
        </p:spPr>
      </p:pic>
      <p:sp>
        <p:nvSpPr>
          <p:cNvPr id="3" name="Slide Number Placeholder 7">
            <a:extLst>
              <a:ext uri="{FF2B5EF4-FFF2-40B4-BE49-F238E27FC236}">
                <a16:creationId xmlns:a16="http://schemas.microsoft.com/office/drawing/2014/main" id="{3D8713C6-55F0-2F46-9D8A-8AA7B06B8AAC}"/>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457200" y="274502"/>
            <a:ext cx="4779084" cy="4332830"/>
          </a:xfrm>
        </p:spPr>
        <p:txBody>
          <a:bodyPr>
            <a:normAutofit/>
          </a:bodyPr>
          <a:lstStyle>
            <a:lvl1pPr marL="0" indent="0">
              <a:buNone/>
              <a:defRPr sz="2400">
                <a:solidFill>
                  <a:schemeClr val="tx1">
                    <a:lumMod val="50000"/>
                    <a:lumOff val="50000"/>
                  </a:schemeClr>
                </a:solidFill>
              </a:defRPr>
            </a:lvl1pPr>
          </a:lstStyle>
          <a:p>
            <a:r>
              <a:rPr lang="en-US"/>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41021" y="1538288"/>
            <a:ext cx="3245780" cy="3068637"/>
          </a:xfrm>
        </p:spPr>
        <p:txBody>
          <a:bodyPr>
            <a:normAutofit/>
          </a:bodyPr>
          <a:lstStyle>
            <a:lvl1pPr marL="230188" indent="-230188">
              <a:tabLst/>
              <a:defRPr sz="2000">
                <a:solidFill>
                  <a:schemeClr val="tx1"/>
                </a:solidFill>
              </a:defRPr>
            </a:lvl1pPr>
          </a:lstStyle>
          <a:p>
            <a:r>
              <a:rPr lang="en-US"/>
              <a:t>Click to add bullet text 20 </a:t>
            </a:r>
            <a:r>
              <a:rPr lang="en-US" err="1"/>
              <a:t>pt</a:t>
            </a:r>
            <a:endParaRPr lang="en-US"/>
          </a:p>
        </p:txBody>
      </p:sp>
      <p:sp>
        <p:nvSpPr>
          <p:cNvPr id="2" name="Rectangle 1">
            <a:extLst>
              <a:ext uri="{FF2B5EF4-FFF2-40B4-BE49-F238E27FC236}">
                <a16:creationId xmlns:a16="http://schemas.microsoft.com/office/drawing/2014/main" id="{63F7AB2C-2DF8-1B4B-9409-DE4766264A03}"/>
              </a:ext>
            </a:extLst>
          </p:cNvPr>
          <p:cNvSpPr/>
          <p:nvPr userDrawn="1"/>
        </p:nvSpPr>
        <p:spPr>
          <a:xfrm>
            <a:off x="5403850" y="647494"/>
            <a:ext cx="3282950" cy="523220"/>
          </a:xfrm>
          <a:prstGeom prst="rect">
            <a:avLst/>
          </a:prstGeom>
        </p:spPr>
        <p:txBody>
          <a:bodyPr wrap="square">
            <a:spAutoFit/>
          </a:bodyPr>
          <a:lstStyle/>
          <a:p>
            <a:r>
              <a:rPr lang="en-US" sz="2800" b="1" spc="-30" baseline="0">
                <a:solidFill>
                  <a:schemeClr val="tx2"/>
                </a:solidFill>
              </a:rPr>
              <a:t>Conclusion</a:t>
            </a:r>
            <a:endParaRPr lang="en-US" sz="2800" b="1" spc="-30" baseline="0"/>
          </a:p>
        </p:txBody>
      </p:sp>
    </p:spTree>
    <p:extLst>
      <p:ext uri="{BB962C8B-B14F-4D97-AF65-F5344CB8AC3E}">
        <p14:creationId xmlns:p14="http://schemas.microsoft.com/office/powerpoint/2010/main" val="2080709716"/>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Black State Logo + Pg #">
    <p:spTree>
      <p:nvGrpSpPr>
        <p:cNvPr id="1" name=""/>
        <p:cNvGrpSpPr/>
        <p:nvPr/>
      </p:nvGrpSpPr>
      <p:grpSpPr>
        <a:xfrm>
          <a:off x="0" y="0"/>
          <a:ext cx="0" cy="0"/>
          <a:chOff x="0" y="0"/>
          <a:chExt cx="0" cy="0"/>
        </a:xfrm>
      </p:grpSpPr>
      <p:sp>
        <p:nvSpPr>
          <p:cNvPr id="9" name="Slide Number Placeholder 7">
            <a:extLst>
              <a:ext uri="{FF2B5EF4-FFF2-40B4-BE49-F238E27FC236}">
                <a16:creationId xmlns:a16="http://schemas.microsoft.com/office/drawing/2014/main" id="{7F3BF294-44D6-E043-9390-9E8442799749}"/>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a:solidFill>
                <a:srgbClr val="EC1300"/>
              </a:solidFill>
            </a:endParaRPr>
          </a:p>
        </p:txBody>
      </p:sp>
      <p:sp>
        <p:nvSpPr>
          <p:cNvPr id="4" name="Picture Placeholder 2">
            <a:extLst>
              <a:ext uri="{FF2B5EF4-FFF2-40B4-BE49-F238E27FC236}">
                <a16:creationId xmlns:a16="http://schemas.microsoft.com/office/drawing/2014/main" id="{632E9C29-0781-964C-876D-5A8D5FDAE19A}"/>
              </a:ext>
            </a:extLst>
          </p:cNvPr>
          <p:cNvSpPr>
            <a:spLocks noGrp="1"/>
          </p:cNvSpPr>
          <p:nvPr>
            <p:ph type="pic" sz="quarter" idx="10" hasCustomPrompt="1"/>
          </p:nvPr>
        </p:nvSpPr>
        <p:spPr>
          <a:xfrm>
            <a:off x="474892" y="4175298"/>
            <a:ext cx="1381125" cy="701675"/>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1313954588"/>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Keep in Touch – State Logo">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ED151345-F5BD-DE40-8392-7AD5DA6BAFC7}"/>
              </a:ext>
            </a:extLst>
          </p:cNvPr>
          <p:cNvSpPr txBox="1">
            <a:spLocks/>
          </p:cNvSpPr>
          <p:nvPr userDrawn="1"/>
        </p:nvSpPr>
        <p:spPr>
          <a:xfrm>
            <a:off x="457200" y="1698774"/>
            <a:ext cx="985870" cy="1139722"/>
          </a:xfrm>
          <a:prstGeom prst="rect">
            <a:avLst/>
          </a:prstGeom>
        </p:spPr>
        <p:txBody>
          <a:bodyPr>
            <a:norm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1998" spc="-20">
                <a:solidFill>
                  <a:srgbClr val="000000"/>
                </a:solidFill>
                <a:latin typeface="+mn-lt"/>
                <a:ea typeface="Roboto Light" panose="02000000000000000000" pitchFamily="2" charset="0"/>
                <a:cs typeface="Arial Narrow" panose="020B0604020202020204" pitchFamily="34" charset="0"/>
              </a:rPr>
              <a:t>	Email:</a:t>
            </a:r>
          </a:p>
          <a:p>
            <a:pPr>
              <a:tabLst>
                <a:tab pos="796208" algn="r"/>
                <a:tab pos="964331" algn="l"/>
              </a:tabLst>
            </a:pPr>
            <a:r>
              <a:rPr lang="en-US" sz="1998" spc="-20">
                <a:solidFill>
                  <a:srgbClr val="000000"/>
                </a:solidFill>
                <a:latin typeface="+mn-lt"/>
                <a:ea typeface="Roboto Light" panose="02000000000000000000" pitchFamily="2" charset="0"/>
                <a:cs typeface="Arial Narrow" panose="020B0604020202020204" pitchFamily="34" charset="0"/>
              </a:rPr>
              <a:t>	Phone:</a:t>
            </a:r>
          </a:p>
          <a:p>
            <a:pPr>
              <a:tabLst>
                <a:tab pos="796208" algn="r"/>
                <a:tab pos="964331" algn="l"/>
              </a:tabLst>
            </a:pPr>
            <a:r>
              <a:rPr lang="en-US" sz="1998" spc="-50">
                <a:solidFill>
                  <a:srgbClr val="000000"/>
                </a:solidFill>
                <a:latin typeface="+mn-lt"/>
                <a:ea typeface="Roboto Light" panose="02000000000000000000" pitchFamily="2" charset="0"/>
                <a:cs typeface="Arial Narrow" panose="020B0604020202020204" pitchFamily="34" charset="0"/>
              </a:rPr>
              <a:t>	Web:</a:t>
            </a:r>
            <a:endParaRPr lang="en-US" sz="1998" spc="-20">
              <a:solidFill>
                <a:srgbClr val="000000"/>
              </a:solidFill>
              <a:latin typeface="+mn-lt"/>
              <a:ea typeface="Roboto Light" panose="02000000000000000000" pitchFamily="2" charset="0"/>
              <a:cs typeface="Arial Narrow" panose="020B0604020202020204" pitchFamily="34" charset="0"/>
            </a:endParaRPr>
          </a:p>
        </p:txBody>
      </p:sp>
      <p:sp>
        <p:nvSpPr>
          <p:cNvPr id="4" name="Text Placeholder 3">
            <a:extLst>
              <a:ext uri="{FF2B5EF4-FFF2-40B4-BE49-F238E27FC236}">
                <a16:creationId xmlns:a16="http://schemas.microsoft.com/office/drawing/2014/main" id="{2ABAD095-B39B-BA4F-A53A-57129045829D}"/>
              </a:ext>
            </a:extLst>
          </p:cNvPr>
          <p:cNvSpPr>
            <a:spLocks noGrp="1"/>
          </p:cNvSpPr>
          <p:nvPr>
            <p:ph type="body" sz="quarter" idx="10" hasCustomPrompt="1"/>
          </p:nvPr>
        </p:nvSpPr>
        <p:spPr>
          <a:xfrm>
            <a:off x="1362624" y="3347119"/>
            <a:ext cx="4005262" cy="355271"/>
          </a:xfrm>
        </p:spPr>
        <p:txBody>
          <a:bodyP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a:solidFill>
                  <a:srgbClr val="000000"/>
                </a:solidFill>
                <a:latin typeface="+mn-lt"/>
                <a:ea typeface="Roboto Light" panose="02000000000000000000" pitchFamily="2" charset="0"/>
                <a:cs typeface="Arial Narrow" panose="020B0604020202020204" pitchFamily="34" charset="0"/>
              </a:rPr>
              <a:t>https://</a:t>
            </a:r>
            <a:r>
              <a:rPr lang="en-US" err="1">
                <a:solidFill>
                  <a:srgbClr val="000000"/>
                </a:solidFill>
                <a:latin typeface="+mn-lt"/>
                <a:ea typeface="Roboto Light" panose="02000000000000000000" pitchFamily="2" charset="0"/>
                <a:cs typeface="Arial Narrow" panose="020B0604020202020204" pitchFamily="34" charset="0"/>
              </a:rPr>
              <a:t>twitter.com</a:t>
            </a:r>
            <a:r>
              <a:rPr lang="en-US">
                <a:solidFill>
                  <a:srgbClr val="000000"/>
                </a:solidFill>
                <a:latin typeface="+mn-lt"/>
                <a:ea typeface="Roboto Light" panose="02000000000000000000" pitchFamily="2" charset="0"/>
                <a:cs typeface="Arial Narrow" panose="020B0604020202020204" pitchFamily="34" charset="0"/>
              </a:rPr>
              <a:t>/</a:t>
            </a:r>
            <a:r>
              <a:rPr lang="en-US" err="1">
                <a:solidFill>
                  <a:srgbClr val="000000"/>
                </a:solidFill>
                <a:latin typeface="+mn-lt"/>
                <a:ea typeface="Roboto Light" panose="02000000000000000000" pitchFamily="2" charset="0"/>
                <a:cs typeface="Arial Narrow" panose="020B0604020202020204" pitchFamily="34" charset="0"/>
              </a:rPr>
              <a:t>aarpxx</a:t>
            </a:r>
            <a:endParaRPr lang="en-US">
              <a:solidFill>
                <a:srgbClr val="000000"/>
              </a:solidFill>
              <a:latin typeface="+mn-lt"/>
              <a:ea typeface="Roboto Light" panose="02000000000000000000" pitchFamily="2" charset="0"/>
              <a:cs typeface="Arial Narrow" panose="020B0604020202020204" pitchFamily="34" charset="0"/>
            </a:endParaRPr>
          </a:p>
          <a:p>
            <a:pPr lvl="0"/>
            <a:endParaRPr lang="en-US"/>
          </a:p>
        </p:txBody>
      </p:sp>
      <p:sp>
        <p:nvSpPr>
          <p:cNvPr id="24" name="Text Placeholder 3">
            <a:extLst>
              <a:ext uri="{FF2B5EF4-FFF2-40B4-BE49-F238E27FC236}">
                <a16:creationId xmlns:a16="http://schemas.microsoft.com/office/drawing/2014/main" id="{22D30D90-8742-014F-A19F-150857FEAA7B}"/>
              </a:ext>
            </a:extLst>
          </p:cNvPr>
          <p:cNvSpPr>
            <a:spLocks noGrp="1"/>
          </p:cNvSpPr>
          <p:nvPr>
            <p:ph type="body" sz="quarter" idx="11" hasCustomPrompt="1"/>
          </p:nvPr>
        </p:nvSpPr>
        <p:spPr>
          <a:xfrm>
            <a:off x="1358255" y="2875846"/>
            <a:ext cx="4005262" cy="355271"/>
          </a:xfrm>
        </p:spPr>
        <p:txBody>
          <a:bodyP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r>
              <a:rPr lang="en-US" err="1">
                <a:solidFill>
                  <a:srgbClr val="000000"/>
                </a:solidFill>
                <a:latin typeface="+mn-lt"/>
                <a:ea typeface="Roboto Light" panose="02000000000000000000" pitchFamily="2" charset="0"/>
                <a:cs typeface="Arial Narrow" panose="020B0604020202020204" pitchFamily="34" charset="0"/>
              </a:rPr>
              <a:t>www.facebook.com</a:t>
            </a:r>
            <a:r>
              <a:rPr lang="en-US">
                <a:solidFill>
                  <a:srgbClr val="000000"/>
                </a:solidFill>
                <a:latin typeface="+mn-lt"/>
                <a:ea typeface="Roboto Light" panose="02000000000000000000" pitchFamily="2" charset="0"/>
                <a:cs typeface="Arial Narrow" panose="020B0604020202020204" pitchFamily="34" charset="0"/>
              </a:rPr>
              <a:t>/</a:t>
            </a:r>
            <a:r>
              <a:rPr lang="en-US" err="1">
                <a:solidFill>
                  <a:srgbClr val="000000"/>
                </a:solidFill>
                <a:latin typeface="+mn-lt"/>
                <a:ea typeface="Roboto Light" panose="02000000000000000000" pitchFamily="2" charset="0"/>
                <a:cs typeface="Arial Narrow" panose="020B0604020202020204" pitchFamily="34" charset="0"/>
              </a:rPr>
              <a:t>aarpxx</a:t>
            </a:r>
            <a:endParaRPr lang="en-US">
              <a:solidFill>
                <a:srgbClr val="000000"/>
              </a:solidFill>
              <a:latin typeface="+mn-lt"/>
              <a:ea typeface="Roboto Light" panose="02000000000000000000" pitchFamily="2" charset="0"/>
              <a:cs typeface="Arial Narrow" panose="020B0604020202020204" pitchFamily="34" charset="0"/>
            </a:endParaRPr>
          </a:p>
          <a:p>
            <a:pPr lvl="0"/>
            <a:endParaRPr lang="en-US"/>
          </a:p>
        </p:txBody>
      </p:sp>
      <p:sp>
        <p:nvSpPr>
          <p:cNvPr id="29" name="Text Placeholder 3">
            <a:extLst>
              <a:ext uri="{FF2B5EF4-FFF2-40B4-BE49-F238E27FC236}">
                <a16:creationId xmlns:a16="http://schemas.microsoft.com/office/drawing/2014/main" id="{01868363-1B4C-4441-B9A4-30914D7B26B3}"/>
              </a:ext>
            </a:extLst>
          </p:cNvPr>
          <p:cNvSpPr>
            <a:spLocks noGrp="1"/>
          </p:cNvSpPr>
          <p:nvPr>
            <p:ph type="body" sz="quarter" idx="12" hasCustomPrompt="1"/>
          </p:nvPr>
        </p:nvSpPr>
        <p:spPr>
          <a:xfrm>
            <a:off x="1394645" y="1732073"/>
            <a:ext cx="4005262" cy="355271"/>
          </a:xfrm>
        </p:spPr>
        <p:txBody>
          <a:bodyP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20" err="1">
                <a:solidFill>
                  <a:srgbClr val="000000"/>
                </a:solidFill>
                <a:latin typeface="+mn-lt"/>
                <a:ea typeface="Roboto Light" panose="02000000000000000000" pitchFamily="2" charset="0"/>
                <a:cs typeface="Arial Narrow" panose="020B0604020202020204" pitchFamily="34" charset="0"/>
              </a:rPr>
              <a:t>name@</a:t>
            </a:r>
            <a:r>
              <a:rPr lang="en-US" sz="1998" err="1">
                <a:solidFill>
                  <a:srgbClr val="000000"/>
                </a:solidFill>
                <a:latin typeface="+mn-lt"/>
                <a:ea typeface="Roboto Light" panose="02000000000000000000" pitchFamily="2" charset="0"/>
                <a:cs typeface="Arial Narrow" panose="020B0604020202020204" pitchFamily="34" charset="0"/>
              </a:rPr>
              <a:t>aarpxx.org</a:t>
            </a:r>
            <a:endParaRPr lang="en-US"/>
          </a:p>
        </p:txBody>
      </p:sp>
      <p:sp>
        <p:nvSpPr>
          <p:cNvPr id="30" name="Text Placeholder 3">
            <a:extLst>
              <a:ext uri="{FF2B5EF4-FFF2-40B4-BE49-F238E27FC236}">
                <a16:creationId xmlns:a16="http://schemas.microsoft.com/office/drawing/2014/main" id="{3DB11D24-C039-7440-8CF5-0B2CF82B8544}"/>
              </a:ext>
            </a:extLst>
          </p:cNvPr>
          <p:cNvSpPr>
            <a:spLocks noGrp="1"/>
          </p:cNvSpPr>
          <p:nvPr>
            <p:ph type="body" sz="quarter" idx="13" hasCustomPrompt="1"/>
          </p:nvPr>
        </p:nvSpPr>
        <p:spPr>
          <a:xfrm>
            <a:off x="1388295" y="2036505"/>
            <a:ext cx="4005262" cy="355271"/>
          </a:xfrm>
        </p:spPr>
        <p:txBody>
          <a:bodyP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err="1">
                <a:solidFill>
                  <a:srgbClr val="000000"/>
                </a:solidFill>
                <a:latin typeface="+mn-lt"/>
                <a:ea typeface="Roboto Light" panose="02000000000000000000" pitchFamily="2" charset="0"/>
                <a:cs typeface="Arial Narrow" panose="020B0604020202020204" pitchFamily="34" charset="0"/>
              </a:rPr>
              <a:t>xxx.xxx.xxxx</a:t>
            </a:r>
            <a:endParaRPr lang="en-US">
              <a:solidFill>
                <a:srgbClr val="000000"/>
              </a:solidFill>
              <a:latin typeface="+mn-lt"/>
              <a:ea typeface="Roboto Light" panose="02000000000000000000" pitchFamily="2" charset="0"/>
              <a:cs typeface="Arial Narrow" panose="020B0604020202020204" pitchFamily="34" charset="0"/>
            </a:endParaRPr>
          </a:p>
          <a:p>
            <a:pPr lvl="0"/>
            <a:endParaRPr lang="en-US"/>
          </a:p>
        </p:txBody>
      </p:sp>
      <p:sp>
        <p:nvSpPr>
          <p:cNvPr id="35" name="Text Placeholder 3">
            <a:extLst>
              <a:ext uri="{FF2B5EF4-FFF2-40B4-BE49-F238E27FC236}">
                <a16:creationId xmlns:a16="http://schemas.microsoft.com/office/drawing/2014/main" id="{F3D73718-AC7E-1B4F-BD47-70D81C9D9193}"/>
              </a:ext>
            </a:extLst>
          </p:cNvPr>
          <p:cNvSpPr>
            <a:spLocks noGrp="1"/>
          </p:cNvSpPr>
          <p:nvPr>
            <p:ph type="body" sz="quarter" idx="14" hasCustomPrompt="1"/>
          </p:nvPr>
        </p:nvSpPr>
        <p:spPr>
          <a:xfrm>
            <a:off x="1381945" y="2352813"/>
            <a:ext cx="4005262" cy="276282"/>
          </a:xfrm>
        </p:spPr>
        <p:txBody>
          <a:bodyP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5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50" err="1">
                <a:solidFill>
                  <a:srgbClr val="000000"/>
                </a:solidFill>
                <a:latin typeface="+mn-lt"/>
                <a:ea typeface="Roboto Light" panose="02000000000000000000" pitchFamily="2" charset="0"/>
                <a:cs typeface="Arial Narrow" panose="020B0604020202020204" pitchFamily="34" charset="0"/>
              </a:rPr>
              <a:t>aarp.org</a:t>
            </a:r>
            <a:r>
              <a:rPr lang="en-US" sz="1998" spc="-50">
                <a:solidFill>
                  <a:srgbClr val="000000"/>
                </a:solidFill>
                <a:latin typeface="+mn-lt"/>
                <a:ea typeface="Roboto Light" panose="02000000000000000000" pitchFamily="2" charset="0"/>
                <a:cs typeface="Arial Narrow" panose="020B0604020202020204" pitchFamily="34" charset="0"/>
              </a:rPr>
              <a:t>/xx</a:t>
            </a:r>
            <a:endParaRPr lang="en-US"/>
          </a:p>
        </p:txBody>
      </p:sp>
      <p:sp>
        <p:nvSpPr>
          <p:cNvPr id="2" name="Rectangle 1">
            <a:extLst>
              <a:ext uri="{FF2B5EF4-FFF2-40B4-BE49-F238E27FC236}">
                <a16:creationId xmlns:a16="http://schemas.microsoft.com/office/drawing/2014/main" id="{72AB592A-3FC2-B142-9E90-C34C7DEF1533}"/>
              </a:ext>
            </a:extLst>
          </p:cNvPr>
          <p:cNvSpPr/>
          <p:nvPr userDrawn="1"/>
        </p:nvSpPr>
        <p:spPr>
          <a:xfrm>
            <a:off x="456082" y="527571"/>
            <a:ext cx="6460177" cy="523220"/>
          </a:xfrm>
          <a:prstGeom prst="rect">
            <a:avLst/>
          </a:prstGeom>
        </p:spPr>
        <p:txBody>
          <a:bodyPr wrap="square">
            <a:spAutoFit/>
          </a:bodyPr>
          <a:lstStyle/>
          <a:p>
            <a:r>
              <a:rPr lang="en-US" sz="2800" b="1" spc="-30" baseline="0">
                <a:solidFill>
                  <a:schemeClr val="tx2"/>
                </a:solidFill>
              </a:rPr>
              <a:t>Keep in Touch with Us</a:t>
            </a:r>
          </a:p>
        </p:txBody>
      </p:sp>
      <p:sp>
        <p:nvSpPr>
          <p:cNvPr id="13" name="Picture Placeholder 2">
            <a:extLst>
              <a:ext uri="{FF2B5EF4-FFF2-40B4-BE49-F238E27FC236}">
                <a16:creationId xmlns:a16="http://schemas.microsoft.com/office/drawing/2014/main" id="{8D1AC340-B887-304A-AAEC-EEA7EB42EB2C}"/>
              </a:ext>
            </a:extLst>
          </p:cNvPr>
          <p:cNvSpPr>
            <a:spLocks noGrp="1"/>
          </p:cNvSpPr>
          <p:nvPr>
            <p:ph type="pic" sz="quarter" idx="15" hasCustomPrompt="1"/>
          </p:nvPr>
        </p:nvSpPr>
        <p:spPr>
          <a:xfrm>
            <a:off x="484977" y="4226239"/>
            <a:ext cx="1381125" cy="701675"/>
          </a:xfrm>
        </p:spPr>
        <p:txBody>
          <a:bodyPr>
            <a:normAutofit/>
          </a:bodyPr>
          <a:lstStyle>
            <a:lvl1pPr marL="0" indent="0">
              <a:buNone/>
              <a:defRPr sz="1400"/>
            </a:lvl1pPr>
          </a:lstStyle>
          <a:p>
            <a:r>
              <a:rPr lang="en-US"/>
              <a:t>Insert AARP State Logo</a:t>
            </a:r>
          </a:p>
        </p:txBody>
      </p:sp>
      <p:pic>
        <p:nvPicPr>
          <p:cNvPr id="15" name="Picture 14" descr="A drawing of a cartoon character&#10;&#10;Description automatically generated">
            <a:extLst>
              <a:ext uri="{FF2B5EF4-FFF2-40B4-BE49-F238E27FC236}">
                <a16:creationId xmlns:a16="http://schemas.microsoft.com/office/drawing/2014/main" id="{1E42DBE0-9309-9B41-80AB-BC5A74D8EE1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344" y="3308409"/>
            <a:ext cx="356140" cy="356140"/>
          </a:xfrm>
          <a:prstGeom prst="rect">
            <a:avLst/>
          </a:prstGeom>
        </p:spPr>
      </p:pic>
      <p:pic>
        <p:nvPicPr>
          <p:cNvPr id="16" name="Picture 15" descr="A drawing of a person&#10;&#10;Description automatically generated">
            <a:extLst>
              <a:ext uri="{FF2B5EF4-FFF2-40B4-BE49-F238E27FC236}">
                <a16:creationId xmlns:a16="http://schemas.microsoft.com/office/drawing/2014/main" id="{21DEBA30-513B-4046-8B55-E4431F969D6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343" y="2877850"/>
            <a:ext cx="356141" cy="351262"/>
          </a:xfrm>
          <a:prstGeom prst="rect">
            <a:avLst/>
          </a:prstGeom>
        </p:spPr>
      </p:pic>
    </p:spTree>
    <p:extLst>
      <p:ext uri="{BB962C8B-B14F-4D97-AF65-F5344CB8AC3E}">
        <p14:creationId xmlns:p14="http://schemas.microsoft.com/office/powerpoint/2010/main" val="2562951435"/>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hank You – State Logo White 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44CF0-7EA6-3045-9869-7503EAFF27BF}"/>
              </a:ext>
            </a:extLst>
          </p:cNvPr>
          <p:cNvSpPr/>
          <p:nvPr userDrawn="1"/>
        </p:nvSpPr>
        <p:spPr>
          <a:xfrm>
            <a:off x="345518" y="2055540"/>
            <a:ext cx="3660169" cy="923330"/>
          </a:xfrm>
          <a:prstGeom prst="rect">
            <a:avLst/>
          </a:prstGeom>
        </p:spPr>
        <p:txBody>
          <a:bodyPr wrap="none">
            <a:spAutoFit/>
          </a:bodyPr>
          <a:lstStyle/>
          <a:p>
            <a:r>
              <a:rPr lang="en-US" sz="5400" b="1" spc="-100" baseline="0">
                <a:solidFill>
                  <a:schemeClr val="tx2"/>
                </a:solidFill>
              </a:rPr>
              <a:t>Thank You</a:t>
            </a:r>
          </a:p>
        </p:txBody>
      </p:sp>
      <p:sp>
        <p:nvSpPr>
          <p:cNvPr id="4" name="Rectangle 3">
            <a:extLst>
              <a:ext uri="{FF2B5EF4-FFF2-40B4-BE49-F238E27FC236}">
                <a16:creationId xmlns:a16="http://schemas.microsoft.com/office/drawing/2014/main" id="{4AF6EB94-8EB9-5D4E-A3B7-7FBD87ED61E6}"/>
              </a:ext>
            </a:extLst>
          </p:cNvPr>
          <p:cNvSpPr/>
          <p:nvPr userDrawn="1"/>
        </p:nvSpPr>
        <p:spPr>
          <a:xfrm>
            <a:off x="457028" y="2868852"/>
            <a:ext cx="3095719" cy="646331"/>
          </a:xfrm>
          <a:prstGeom prst="rect">
            <a:avLst/>
          </a:prstGeom>
        </p:spPr>
        <p:txBody>
          <a:bodyPr wrap="none">
            <a:spAutoFit/>
          </a:bodyPr>
          <a:lstStyle/>
          <a:p>
            <a:pPr lvl="0"/>
            <a:r>
              <a:rPr lang="en-US" sz="3600" spc="-20" baseline="0">
                <a:solidFill>
                  <a:schemeClr val="tx2"/>
                </a:solidFill>
              </a:rPr>
              <a:t>for Joining Us!</a:t>
            </a:r>
          </a:p>
        </p:txBody>
      </p:sp>
      <p:sp>
        <p:nvSpPr>
          <p:cNvPr id="6" name="Picture Placeholder 2">
            <a:extLst>
              <a:ext uri="{FF2B5EF4-FFF2-40B4-BE49-F238E27FC236}">
                <a16:creationId xmlns:a16="http://schemas.microsoft.com/office/drawing/2014/main" id="{2BD96D9E-7382-5441-ABB7-97016EB0E3C1}"/>
              </a:ext>
            </a:extLst>
          </p:cNvPr>
          <p:cNvSpPr>
            <a:spLocks noGrp="1"/>
          </p:cNvSpPr>
          <p:nvPr>
            <p:ph type="pic" sz="quarter" idx="10" hasCustomPrompt="1"/>
          </p:nvPr>
        </p:nvSpPr>
        <p:spPr>
          <a:xfrm>
            <a:off x="482642" y="635554"/>
            <a:ext cx="1381125" cy="701675"/>
          </a:xfrm>
        </p:spPr>
        <p:txBody>
          <a:bodyPr>
            <a:normAutofit/>
          </a:bodyPr>
          <a:lstStyle>
            <a:lvl1pPr marL="0" indent="0">
              <a:buNone/>
              <a:defRPr sz="1400"/>
            </a:lvl1pPr>
          </a:lstStyle>
          <a:p>
            <a:r>
              <a:rPr lang="en-US"/>
              <a:t>Insert AARP State Logo</a:t>
            </a:r>
          </a:p>
        </p:txBody>
      </p:sp>
    </p:spTree>
    <p:extLst>
      <p:ext uri="{BB962C8B-B14F-4D97-AF65-F5344CB8AC3E}">
        <p14:creationId xmlns:p14="http://schemas.microsoft.com/office/powerpoint/2010/main" val="37088765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lide – AARP Logo">
    <p:bg>
      <p:bgPr>
        <a:solidFill>
          <a:schemeClr val="tx2"/>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7C700F1-61B0-FB4A-9B52-91B8FE33A4A9}"/>
              </a:ext>
            </a:extLst>
          </p:cNvPr>
          <p:cNvSpPr>
            <a:spLocks noGrp="1"/>
          </p:cNvSpPr>
          <p:nvPr>
            <p:ph type="title" hasCustomPrompt="1"/>
          </p:nvPr>
        </p:nvSpPr>
        <p:spPr>
          <a:xfrm>
            <a:off x="345518" y="1310325"/>
            <a:ext cx="8014711" cy="1668545"/>
          </a:xfrm>
        </p:spPr>
        <p:txBody>
          <a:bodyPr anchor="b">
            <a:noAutofit/>
          </a:bodyPr>
          <a:lstStyle>
            <a:lvl1pPr algn="l">
              <a:lnSpc>
                <a:spcPct val="90000"/>
              </a:lnSpc>
              <a:defRPr sz="5400" b="1" cap="none">
                <a:solidFill>
                  <a:schemeClr val="accent6"/>
                </a:solidFill>
              </a:defRPr>
            </a:lvl1pPr>
          </a:lstStyle>
          <a:p>
            <a:r>
              <a:rPr lang="en-US" dirty="0"/>
              <a:t>Insert Title Text</a:t>
            </a:r>
            <a:br>
              <a:rPr lang="en-US" dirty="0"/>
            </a:br>
            <a:r>
              <a:rPr lang="en-US" dirty="0"/>
              <a:t>Here 54 </a:t>
            </a:r>
            <a:r>
              <a:rPr lang="en-US" dirty="0" err="1"/>
              <a:t>pt</a:t>
            </a:r>
            <a:r>
              <a:rPr lang="en-US" dirty="0"/>
              <a:t> Bold</a:t>
            </a:r>
          </a:p>
        </p:txBody>
      </p:sp>
      <p:sp>
        <p:nvSpPr>
          <p:cNvPr id="17" name="Text Placeholder 2">
            <a:extLst>
              <a:ext uri="{FF2B5EF4-FFF2-40B4-BE49-F238E27FC236}">
                <a16:creationId xmlns:a16="http://schemas.microsoft.com/office/drawing/2014/main" id="{11E97F76-27B7-D649-8B30-725CFB08EC07}"/>
              </a:ext>
            </a:extLst>
          </p:cNvPr>
          <p:cNvSpPr>
            <a:spLocks noGrp="1"/>
          </p:cNvSpPr>
          <p:nvPr>
            <p:ph type="body" idx="1" hasCustomPrompt="1"/>
          </p:nvPr>
        </p:nvSpPr>
        <p:spPr>
          <a:xfrm>
            <a:off x="345518" y="3185743"/>
            <a:ext cx="7082498" cy="854664"/>
          </a:xfrm>
        </p:spPr>
        <p:txBody>
          <a:bodyPr lIns="91440" tIns="182880" rIns="91440" bIns="0" anchor="ctr">
            <a:normAutofit/>
          </a:bodyPr>
          <a:lstStyle>
            <a:lvl1pPr marL="0" indent="0">
              <a:lnSpc>
                <a:spcPct val="8000"/>
              </a:lnSpc>
              <a:buNone/>
              <a:defRPr sz="3600">
                <a:solidFill>
                  <a:schemeClr val="accent6"/>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Insert Subtitle Here 36 </a:t>
            </a:r>
            <a:r>
              <a:rPr lang="en-US" dirty="0" err="1"/>
              <a:t>pt</a:t>
            </a:r>
            <a:r>
              <a:rPr lang="en-US" dirty="0"/>
              <a:t> Regular</a:t>
            </a:r>
          </a:p>
        </p:txBody>
      </p:sp>
      <p:pic>
        <p:nvPicPr>
          <p:cNvPr id="5" name="Picture 4" descr="A picture containing drawing&#10;&#10;Description automatically generated">
            <a:extLst>
              <a:ext uri="{FF2B5EF4-FFF2-40B4-BE49-F238E27FC236}">
                <a16:creationId xmlns:a16="http://schemas.microsoft.com/office/drawing/2014/main" id="{D5238810-4ED9-422F-9449-6D46143BD8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5518" y="696439"/>
            <a:ext cx="1323025" cy="271854"/>
          </a:xfrm>
          <a:prstGeom prst="rect">
            <a:avLst/>
          </a:prstGeom>
          <a:ln>
            <a:noFill/>
          </a:ln>
        </p:spPr>
      </p:pic>
      <p:pic>
        <p:nvPicPr>
          <p:cNvPr id="6" name="Picture 5" descr="A picture containing drawing&#10;&#10;Description automatically generated">
            <a:extLst>
              <a:ext uri="{FF2B5EF4-FFF2-40B4-BE49-F238E27FC236}">
                <a16:creationId xmlns:a16="http://schemas.microsoft.com/office/drawing/2014/main" id="{49CDE0C2-112B-C9D1-3B63-E7EA346E4F2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45518" y="348967"/>
            <a:ext cx="1323025" cy="271854"/>
          </a:xfrm>
          <a:prstGeom prst="rect">
            <a:avLst/>
          </a:prstGeom>
        </p:spPr>
      </p:pic>
    </p:spTree>
    <p:extLst>
      <p:ext uri="{BB962C8B-B14F-4D97-AF65-F5344CB8AC3E}">
        <p14:creationId xmlns:p14="http://schemas.microsoft.com/office/powerpoint/2010/main" val="13760239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 State Logo">
    <p:bg>
      <p:bgPr>
        <a:solidFill>
          <a:schemeClr val="tx2"/>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7C700F1-61B0-FB4A-9B52-91B8FE33A4A9}"/>
              </a:ext>
            </a:extLst>
          </p:cNvPr>
          <p:cNvSpPr>
            <a:spLocks noGrp="1"/>
          </p:cNvSpPr>
          <p:nvPr>
            <p:ph type="title" hasCustomPrompt="1"/>
          </p:nvPr>
        </p:nvSpPr>
        <p:spPr>
          <a:xfrm>
            <a:off x="345518" y="1310325"/>
            <a:ext cx="7914818" cy="1668545"/>
          </a:xfrm>
        </p:spPr>
        <p:txBody>
          <a:bodyPr anchor="b">
            <a:noAutofit/>
          </a:bodyPr>
          <a:lstStyle>
            <a:lvl1pPr algn="l">
              <a:lnSpc>
                <a:spcPct val="90000"/>
              </a:lnSpc>
              <a:defRPr sz="5400" b="1" cap="none">
                <a:solidFill>
                  <a:schemeClr val="accent6"/>
                </a:solidFill>
              </a:defRPr>
            </a:lvl1pPr>
          </a:lstStyle>
          <a:p>
            <a:r>
              <a:rPr lang="en-US" dirty="0"/>
              <a:t>Insert Title Text</a:t>
            </a:r>
            <a:br>
              <a:rPr lang="en-US" dirty="0"/>
            </a:br>
            <a:r>
              <a:rPr lang="en-US" dirty="0"/>
              <a:t>Here 54 </a:t>
            </a:r>
            <a:r>
              <a:rPr lang="en-US" dirty="0" err="1"/>
              <a:t>pt</a:t>
            </a:r>
            <a:r>
              <a:rPr lang="en-US" dirty="0"/>
              <a:t> Bold</a:t>
            </a:r>
          </a:p>
        </p:txBody>
      </p:sp>
      <p:sp>
        <p:nvSpPr>
          <p:cNvPr id="17" name="Text Placeholder 2">
            <a:extLst>
              <a:ext uri="{FF2B5EF4-FFF2-40B4-BE49-F238E27FC236}">
                <a16:creationId xmlns:a16="http://schemas.microsoft.com/office/drawing/2014/main" id="{11E97F76-27B7-D649-8B30-725CFB08EC07}"/>
              </a:ext>
            </a:extLst>
          </p:cNvPr>
          <p:cNvSpPr>
            <a:spLocks noGrp="1"/>
          </p:cNvSpPr>
          <p:nvPr>
            <p:ph type="body" idx="1" hasCustomPrompt="1"/>
          </p:nvPr>
        </p:nvSpPr>
        <p:spPr>
          <a:xfrm>
            <a:off x="345518" y="3185743"/>
            <a:ext cx="7082498" cy="854664"/>
          </a:xfrm>
        </p:spPr>
        <p:txBody>
          <a:bodyPr lIns="91440" tIns="182880" rIns="91440" bIns="0" anchor="ctr">
            <a:normAutofit/>
          </a:bodyPr>
          <a:lstStyle>
            <a:lvl1pPr marL="0" indent="0">
              <a:lnSpc>
                <a:spcPct val="8000"/>
              </a:lnSpc>
              <a:buNone/>
              <a:defRPr sz="3600">
                <a:solidFill>
                  <a:schemeClr val="accent6"/>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Insert Subtitle Here 36 </a:t>
            </a:r>
            <a:r>
              <a:rPr lang="en-US" dirty="0" err="1"/>
              <a:t>pt</a:t>
            </a:r>
            <a:r>
              <a:rPr lang="en-US" dirty="0"/>
              <a:t> Regular</a:t>
            </a:r>
          </a:p>
        </p:txBody>
      </p:sp>
      <p:sp>
        <p:nvSpPr>
          <p:cNvPr id="3" name="Picture Placeholder 2">
            <a:extLst>
              <a:ext uri="{FF2B5EF4-FFF2-40B4-BE49-F238E27FC236}">
                <a16:creationId xmlns:a16="http://schemas.microsoft.com/office/drawing/2014/main" id="{363E87A6-60D9-704B-B8C2-0E228EBB3AC7}"/>
              </a:ext>
            </a:extLst>
          </p:cNvPr>
          <p:cNvSpPr>
            <a:spLocks noGrp="1"/>
          </p:cNvSpPr>
          <p:nvPr>
            <p:ph type="pic" sz="quarter" idx="10" hasCustomPrompt="1"/>
          </p:nvPr>
        </p:nvSpPr>
        <p:spPr>
          <a:xfrm>
            <a:off x="482642" y="293586"/>
            <a:ext cx="1381125" cy="701675"/>
          </a:xfrm>
        </p:spPr>
        <p:txBody>
          <a:bodyPr>
            <a:normAutofit/>
          </a:bodyPr>
          <a:lstStyle>
            <a:lvl1pPr marL="0" indent="0">
              <a:buNone/>
              <a:defRPr sz="1400"/>
            </a:lvl1pPr>
          </a:lstStyle>
          <a:p>
            <a:r>
              <a:rPr lang="en-US" dirty="0"/>
              <a:t>Insert AARP State Logo</a:t>
            </a:r>
          </a:p>
        </p:txBody>
      </p:sp>
    </p:spTree>
    <p:extLst>
      <p:ext uri="{BB962C8B-B14F-4D97-AF65-F5344CB8AC3E}">
        <p14:creationId xmlns:p14="http://schemas.microsoft.com/office/powerpoint/2010/main" val="37636621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genda AARP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35463"/>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365760" y="473284"/>
            <a:ext cx="4870524" cy="4332830"/>
          </a:xfrm>
        </p:spPr>
        <p:txBody>
          <a:bodyPr>
            <a:normAutofit/>
          </a:bodyPr>
          <a:lstStyle>
            <a:lvl1pPr marL="0" indent="0">
              <a:buNone/>
              <a:defRPr sz="2400">
                <a:solidFill>
                  <a:schemeClr val="tx1">
                    <a:lumMod val="50000"/>
                    <a:lumOff val="50000"/>
                  </a:schemeClr>
                </a:solidFill>
              </a:defRPr>
            </a:lvl1pPr>
          </a:lstStyle>
          <a:p>
            <a:r>
              <a:rPr lang="en-US" dirty="0"/>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03850" y="1737070"/>
            <a:ext cx="3190023" cy="3068637"/>
          </a:xfrm>
        </p:spPr>
        <p:txBody>
          <a:bodyPr>
            <a:normAutofit/>
          </a:bodyPr>
          <a:lstStyle>
            <a:lvl1pPr marL="230188" indent="-230188">
              <a:tabLst/>
              <a:defRPr sz="2000">
                <a:solidFill>
                  <a:schemeClr val="tx1"/>
                </a:solidFill>
              </a:defRPr>
            </a:lvl1pPr>
          </a:lstStyle>
          <a:p>
            <a:r>
              <a:rPr lang="en-US" dirty="0"/>
              <a:t>Click to add bullet text 20 </a:t>
            </a:r>
            <a:r>
              <a:rPr lang="en-US" dirty="0" err="1"/>
              <a:t>pt</a:t>
            </a:r>
            <a:endParaRPr lang="en-US" dirty="0"/>
          </a:p>
        </p:txBody>
      </p:sp>
      <p:sp>
        <p:nvSpPr>
          <p:cNvPr id="2" name="Rectangle 1">
            <a:extLst>
              <a:ext uri="{FF2B5EF4-FFF2-40B4-BE49-F238E27FC236}">
                <a16:creationId xmlns:a16="http://schemas.microsoft.com/office/drawing/2014/main" id="{63F7AB2C-2DF8-1B4B-9409-DE4766264A03}"/>
              </a:ext>
            </a:extLst>
          </p:cNvPr>
          <p:cNvSpPr/>
          <p:nvPr/>
        </p:nvSpPr>
        <p:spPr>
          <a:xfrm>
            <a:off x="5403850" y="846276"/>
            <a:ext cx="3282950" cy="523220"/>
          </a:xfrm>
          <a:prstGeom prst="rect">
            <a:avLst/>
          </a:prstGeom>
        </p:spPr>
        <p:txBody>
          <a:bodyPr wrap="square" anchor="b" anchorCtr="0">
            <a:spAutoFit/>
          </a:bodyPr>
          <a:lstStyle/>
          <a:p>
            <a:r>
              <a:rPr lang="en-US" sz="2800" b="1" spc="-30" baseline="0" dirty="0">
                <a:solidFill>
                  <a:schemeClr val="tx2"/>
                </a:solidFill>
              </a:rPr>
              <a:t>Agenda</a:t>
            </a:r>
            <a:endParaRPr lang="en-US" sz="2800" b="1" spc="-30" baseline="0" dirty="0"/>
          </a:p>
        </p:txBody>
      </p:sp>
      <p:pic>
        <p:nvPicPr>
          <p:cNvPr id="8" name="Picture 7" descr="A picture containing drawing&#10;&#10;Description automatically generated">
            <a:extLst>
              <a:ext uri="{FF2B5EF4-FFF2-40B4-BE49-F238E27FC236}">
                <a16:creationId xmlns:a16="http://schemas.microsoft.com/office/drawing/2014/main" id="{2AAEFB0C-86C7-7147-ABCA-B90EB70DB6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5867734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Break Slide">
    <p:spTree>
      <p:nvGrpSpPr>
        <p:cNvPr id="1" name=""/>
        <p:cNvGrpSpPr/>
        <p:nvPr/>
      </p:nvGrpSpPr>
      <p:grpSpPr>
        <a:xfrm>
          <a:off x="0" y="0"/>
          <a:ext cx="0" cy="0"/>
          <a:chOff x="0" y="0"/>
          <a:chExt cx="0" cy="0"/>
        </a:xfrm>
      </p:grpSpPr>
      <p:pic>
        <p:nvPicPr>
          <p:cNvPr id="7" name="Picture 6" descr="A picture containing drawing&#10;&#10;Description automatically generated">
            <a:extLst>
              <a:ext uri="{FF2B5EF4-FFF2-40B4-BE49-F238E27FC236}">
                <a16:creationId xmlns:a16="http://schemas.microsoft.com/office/drawing/2014/main" id="{E21BE1D2-3076-AD4A-9281-ECA963C2012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1196" y="253039"/>
            <a:ext cx="1323025" cy="271854"/>
          </a:xfrm>
          <a:prstGeom prst="rect">
            <a:avLst/>
          </a:prstGeom>
        </p:spPr>
      </p:pic>
      <p:sp>
        <p:nvSpPr>
          <p:cNvPr id="10" name="Picture Placeholder 2">
            <a:extLst>
              <a:ext uri="{FF2B5EF4-FFF2-40B4-BE49-F238E27FC236}">
                <a16:creationId xmlns:a16="http://schemas.microsoft.com/office/drawing/2014/main" id="{F36B6981-A20D-CA4F-97FC-80FA71E16B7C}"/>
              </a:ext>
            </a:extLst>
          </p:cNvPr>
          <p:cNvSpPr>
            <a:spLocks noGrp="1"/>
          </p:cNvSpPr>
          <p:nvPr>
            <p:ph type="pic" idx="1" hasCustomPrompt="1"/>
          </p:nvPr>
        </p:nvSpPr>
        <p:spPr>
          <a:xfrm>
            <a:off x="240980" y="650602"/>
            <a:ext cx="8661400" cy="3062657"/>
          </a:xfrm>
        </p:spPr>
        <p:txBody>
          <a:bodyPr>
            <a:normAutofit/>
          </a:bodyPr>
          <a:lstStyle>
            <a:lvl1pPr marL="0" indent="0">
              <a:buNone/>
              <a:defRPr sz="2400">
                <a:solidFill>
                  <a:schemeClr val="bg1">
                    <a:lumMod val="75000"/>
                  </a:schemeClr>
                </a:solidFill>
              </a:defRPr>
            </a:lvl1pPr>
          </a:lstStyle>
          <a:p>
            <a:r>
              <a:rPr lang="en-US" dirty="0"/>
              <a:t>Click on Icon to add photo</a:t>
            </a:r>
          </a:p>
        </p:txBody>
      </p:sp>
      <p:sp>
        <p:nvSpPr>
          <p:cNvPr id="13" name="Slide Number Placeholder 7">
            <a:extLst>
              <a:ext uri="{FF2B5EF4-FFF2-40B4-BE49-F238E27FC236}">
                <a16:creationId xmlns:a16="http://schemas.microsoft.com/office/drawing/2014/main" id="{9330DB4E-31C3-654D-84D2-84EC9414743B}"/>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9" name="Title 1">
            <a:extLst>
              <a:ext uri="{FF2B5EF4-FFF2-40B4-BE49-F238E27FC236}">
                <a16:creationId xmlns:a16="http://schemas.microsoft.com/office/drawing/2014/main" id="{D92AA551-D09E-3D40-9F3B-C99E852A0D8E}"/>
              </a:ext>
            </a:extLst>
          </p:cNvPr>
          <p:cNvSpPr>
            <a:spLocks noGrp="1"/>
          </p:cNvSpPr>
          <p:nvPr>
            <p:ph type="title" hasCustomPrompt="1"/>
          </p:nvPr>
        </p:nvSpPr>
        <p:spPr>
          <a:xfrm>
            <a:off x="2654300" y="3775379"/>
            <a:ext cx="6286500" cy="425054"/>
          </a:xfrm>
        </p:spPr>
        <p:txBody>
          <a:bodyPr anchor="ctr">
            <a:noAutofit/>
          </a:bodyPr>
          <a:lstStyle>
            <a:lvl1pPr algn="l">
              <a:defRPr sz="3600" b="1" spc="-40" baseline="0">
                <a:solidFill>
                  <a:srgbClr val="EC1300"/>
                </a:solidFill>
              </a:defRPr>
            </a:lvl1pPr>
          </a:lstStyle>
          <a:p>
            <a:r>
              <a:rPr lang="en-US" dirty="0"/>
              <a:t>Add Section Page Title 36 </a:t>
            </a:r>
            <a:r>
              <a:rPr lang="en-US" dirty="0" err="1"/>
              <a:t>pt</a:t>
            </a:r>
            <a:endParaRPr lang="en-US" dirty="0"/>
          </a:p>
        </p:txBody>
      </p:sp>
      <p:sp>
        <p:nvSpPr>
          <p:cNvPr id="12" name="Text Placeholder 3">
            <a:extLst>
              <a:ext uri="{FF2B5EF4-FFF2-40B4-BE49-F238E27FC236}">
                <a16:creationId xmlns:a16="http://schemas.microsoft.com/office/drawing/2014/main" id="{6743DBF3-FA9C-3C4B-A173-B17381553231}"/>
              </a:ext>
            </a:extLst>
          </p:cNvPr>
          <p:cNvSpPr>
            <a:spLocks noGrp="1"/>
          </p:cNvSpPr>
          <p:nvPr>
            <p:ph type="body" sz="half" idx="2" hasCustomPrompt="1"/>
          </p:nvPr>
        </p:nvSpPr>
        <p:spPr>
          <a:xfrm>
            <a:off x="2654300" y="4200432"/>
            <a:ext cx="6286500" cy="603647"/>
          </a:xfrm>
        </p:spPr>
        <p:txBody>
          <a:bodyPr anchor="t">
            <a:normAutofit/>
          </a:bodyPr>
          <a:lstStyle>
            <a:lvl1pPr marL="0" indent="0">
              <a:buNone/>
              <a:defRPr sz="2400" spc="-10" baseline="0"/>
            </a:lvl1pPr>
          </a:lstStyle>
          <a:p>
            <a:r>
              <a:rPr lang="en-US" dirty="0"/>
              <a:t>Add Section Page Subtitle 24 </a:t>
            </a:r>
            <a:r>
              <a:rPr lang="en-US" dirty="0" err="1"/>
              <a:t>pt</a:t>
            </a:r>
            <a:endParaRPr lang="en-US" dirty="0"/>
          </a:p>
        </p:txBody>
      </p:sp>
    </p:spTree>
    <p:extLst>
      <p:ext uri="{BB962C8B-B14F-4D97-AF65-F5344CB8AC3E}">
        <p14:creationId xmlns:p14="http://schemas.microsoft.com/office/powerpoint/2010/main" val="36089496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ullet Text - no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93579"/>
            <a:ext cx="6518635" cy="507651"/>
          </a:xfrm>
        </p:spPr>
        <p:txBody>
          <a:bodyPr>
            <a:noAutofit/>
          </a:bodyPr>
          <a:lstStyle>
            <a:lvl1pPr algn="l">
              <a:defRPr sz="2800" b="1" spc="-30" baseline="0">
                <a:solidFill>
                  <a:schemeClr val="tx2"/>
                </a:solidFill>
              </a:defRPr>
            </a:lvl1pPr>
          </a:lstStyle>
          <a:p>
            <a:r>
              <a:rPr lang="en-US" dirty="0"/>
              <a:t>Add Title 28 </a:t>
            </a:r>
            <a:r>
              <a:rPr lang="en-US" dirty="0" err="1"/>
              <a:t>pt</a:t>
            </a:r>
            <a:endParaRPr lang="en-US" dirty="0"/>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4739229"/>
            <a:ext cx="1323025" cy="271854"/>
          </a:xfrm>
          <a:prstGeom prst="rect">
            <a:avLst/>
          </a:prstGeom>
        </p:spPr>
      </p:pic>
      <p:sp>
        <p:nvSpPr>
          <p:cNvPr id="6" name="Slide Number Placeholder 7">
            <a:extLst>
              <a:ext uri="{FF2B5EF4-FFF2-40B4-BE49-F238E27FC236}">
                <a16:creationId xmlns:a16="http://schemas.microsoft.com/office/drawing/2014/main" id="{B0A7B39C-6D33-CA40-BC21-658D76AED443}"/>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5" name="Text Placeholder 4">
            <a:extLst>
              <a:ext uri="{FF2B5EF4-FFF2-40B4-BE49-F238E27FC236}">
                <a16:creationId xmlns:a16="http://schemas.microsoft.com/office/drawing/2014/main" id="{78C0C067-CE1A-804E-91EE-BA47614A3DA4}"/>
              </a:ext>
            </a:extLst>
          </p:cNvPr>
          <p:cNvSpPr>
            <a:spLocks noGrp="1"/>
          </p:cNvSpPr>
          <p:nvPr>
            <p:ph type="body" sz="quarter" idx="10" hasCustomPrompt="1"/>
          </p:nvPr>
        </p:nvSpPr>
        <p:spPr>
          <a:xfrm>
            <a:off x="457200" y="1132114"/>
            <a:ext cx="6518275" cy="3659669"/>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070462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 No Logo">
    <p:spTree>
      <p:nvGrpSpPr>
        <p:cNvPr id="1" name=""/>
        <p:cNvGrpSpPr/>
        <p:nvPr/>
      </p:nvGrpSpPr>
      <p:grpSpPr>
        <a:xfrm>
          <a:off x="0" y="0"/>
          <a:ext cx="0" cy="0"/>
          <a:chOff x="0" y="0"/>
          <a:chExt cx="0" cy="0"/>
        </a:xfrm>
      </p:grpSpPr>
      <p:sp>
        <p:nvSpPr>
          <p:cNvPr id="11"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433347" y="375717"/>
            <a:ext cx="7818975" cy="507651"/>
          </a:xfrm>
        </p:spPr>
        <p:txBody>
          <a:bodyPr>
            <a:noAutofit/>
          </a:bodyPr>
          <a:lstStyle>
            <a:lvl1pPr algn="l">
              <a:defRPr sz="2800" b="1" spc="-30" baseline="0">
                <a:solidFill>
                  <a:schemeClr val="tx2"/>
                </a:solidFill>
              </a:defRPr>
            </a:lvl1pPr>
          </a:lstStyle>
          <a:p>
            <a:r>
              <a:rPr lang="en-US" dirty="0"/>
              <a:t>Add Title 28 </a:t>
            </a:r>
            <a:r>
              <a:rPr lang="en-US" dirty="0" err="1"/>
              <a:t>pt</a:t>
            </a:r>
            <a:endParaRPr lang="en-US" dirty="0"/>
          </a:p>
        </p:txBody>
      </p:sp>
      <p:sp>
        <p:nvSpPr>
          <p:cNvPr id="4" name="Content Placeholder 3">
            <a:extLst>
              <a:ext uri="{FF2B5EF4-FFF2-40B4-BE49-F238E27FC236}">
                <a16:creationId xmlns:a16="http://schemas.microsoft.com/office/drawing/2014/main" id="{858522F9-8BBA-7E4E-83BB-F32530F429FC}"/>
              </a:ext>
            </a:extLst>
          </p:cNvPr>
          <p:cNvSpPr>
            <a:spLocks noGrp="1"/>
          </p:cNvSpPr>
          <p:nvPr>
            <p:ph sz="quarter" idx="11" hasCustomPrompt="1"/>
          </p:nvPr>
        </p:nvSpPr>
        <p:spPr>
          <a:xfrm>
            <a:off x="434911" y="1017642"/>
            <a:ext cx="7818543"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21349744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 Left, Title&amp;Text Right – No logo">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EDFE468-84B4-B749-A8FB-46BED87288EE}"/>
              </a:ext>
            </a:extLst>
          </p:cNvPr>
          <p:cNvSpPr>
            <a:spLocks noGrp="1"/>
          </p:cNvSpPr>
          <p:nvPr>
            <p:ph type="title" hasCustomPrompt="1"/>
          </p:nvPr>
        </p:nvSpPr>
        <p:spPr>
          <a:xfrm>
            <a:off x="5403399" y="540690"/>
            <a:ext cx="3204891" cy="979382"/>
          </a:xfrm>
        </p:spPr>
        <p:txBody>
          <a:bodyPr anchor="b" anchorCtr="0">
            <a:norm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3" name="Text Placeholder 2">
            <a:extLst>
              <a:ext uri="{FF2B5EF4-FFF2-40B4-BE49-F238E27FC236}">
                <a16:creationId xmlns:a16="http://schemas.microsoft.com/office/drawing/2014/main" id="{ABDFBC2D-E460-A241-9C49-5441A1348CB8}"/>
              </a:ext>
            </a:extLst>
          </p:cNvPr>
          <p:cNvSpPr>
            <a:spLocks noGrp="1"/>
          </p:cNvSpPr>
          <p:nvPr>
            <p:ph type="body" sz="quarter" idx="10" hasCustomPrompt="1"/>
          </p:nvPr>
        </p:nvSpPr>
        <p:spPr>
          <a:xfrm>
            <a:off x="5403850" y="1689363"/>
            <a:ext cx="3204891" cy="3068637"/>
          </a:xfrm>
        </p:spPr>
        <p:txBody>
          <a:bodyPr/>
          <a:lstStyle>
            <a:lvl1pPr marL="230188" indent="-230188">
              <a:spcBef>
                <a:spcPts val="0"/>
              </a:spcBef>
              <a:tabLst/>
              <a:defRPr sz="2000" spc="-10" baseline="0"/>
            </a:lvl1pPr>
            <a:lvl2pPr>
              <a:spcBef>
                <a:spcPts val="200"/>
              </a:spcBef>
              <a:defRPr sz="1800" spc="-10" baseline="0"/>
            </a:lvl2pPr>
            <a:lvl3pPr>
              <a:defRPr sz="1800" spc="-10" baseline="0"/>
            </a:lvl3pPr>
            <a:lvl4pPr marL="1433513" indent="-230188">
              <a:spcBef>
                <a:spcPts val="200"/>
              </a:spcBef>
              <a:tabLst/>
              <a:defRPr sz="1800" spc="-10" baseline="0"/>
            </a:lvl4pPr>
          </a:lstStyle>
          <a:p>
            <a:pPr lvl="0"/>
            <a:r>
              <a:rPr lang="en-US" dirty="0"/>
              <a:t>Click to add bullet text 20 </a:t>
            </a:r>
            <a:r>
              <a:rPr lang="en-US" dirty="0" err="1"/>
              <a:t>pt</a:t>
            </a:r>
            <a:endParaRPr lang="en-US" dirty="0"/>
          </a:p>
          <a:p>
            <a:pPr lvl="1"/>
            <a:r>
              <a:rPr lang="en-US" dirty="0"/>
              <a:t>Second level</a:t>
            </a:r>
          </a:p>
          <a:p>
            <a:pPr lvl="2"/>
            <a:r>
              <a:rPr lang="en-US" dirty="0"/>
              <a:t>Third level</a:t>
            </a:r>
          </a:p>
          <a:p>
            <a:pPr lvl="3"/>
            <a:r>
              <a:rPr lang="en-US" dirty="0"/>
              <a:t>Fourth level</a:t>
            </a:r>
          </a:p>
        </p:txBody>
      </p:sp>
      <p:sp>
        <p:nvSpPr>
          <p:cNvPr id="13" name="Slide Number Placeholder 7">
            <a:extLst>
              <a:ext uri="{FF2B5EF4-FFF2-40B4-BE49-F238E27FC236}">
                <a16:creationId xmlns:a16="http://schemas.microsoft.com/office/drawing/2014/main" id="{11055843-417F-2944-9277-0FCEC3E2FAB2}"/>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7" name="Content Placeholder 3">
            <a:extLst>
              <a:ext uri="{FF2B5EF4-FFF2-40B4-BE49-F238E27FC236}">
                <a16:creationId xmlns:a16="http://schemas.microsoft.com/office/drawing/2014/main" id="{A050E5AB-616F-984D-ABBC-350C963FCD32}"/>
              </a:ext>
            </a:extLst>
          </p:cNvPr>
          <p:cNvSpPr>
            <a:spLocks noGrp="1"/>
          </p:cNvSpPr>
          <p:nvPr>
            <p:ph sz="quarter" idx="11" hasCustomPrompt="1"/>
          </p:nvPr>
        </p:nvSpPr>
        <p:spPr>
          <a:xfrm>
            <a:off x="389614" y="540690"/>
            <a:ext cx="4868959" cy="421731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31328080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Column Text – No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41298" y="1151335"/>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5" name="Text Placeholder 4"/>
          <p:cNvSpPr>
            <a:spLocks noGrp="1"/>
          </p:cNvSpPr>
          <p:nvPr>
            <p:ph type="body" sz="quarter" idx="3" hasCustomPrompt="1"/>
          </p:nvPr>
        </p:nvSpPr>
        <p:spPr>
          <a:xfrm>
            <a:off x="4645026" y="1151335"/>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4" name="Text Placeholder 3">
            <a:extLst>
              <a:ext uri="{FF2B5EF4-FFF2-40B4-BE49-F238E27FC236}">
                <a16:creationId xmlns:a16="http://schemas.microsoft.com/office/drawing/2014/main" id="{EC07FBF0-97CC-DD42-9748-15529A714E43}"/>
              </a:ext>
            </a:extLst>
          </p:cNvPr>
          <p:cNvSpPr>
            <a:spLocks noGrp="1"/>
          </p:cNvSpPr>
          <p:nvPr>
            <p:ph type="body" sz="quarter" idx="12" hasCustomPrompt="1"/>
          </p:nvPr>
        </p:nvSpPr>
        <p:spPr>
          <a:xfrm>
            <a:off x="442912" y="1675354"/>
            <a:ext cx="4040188" cy="2925763"/>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
        <p:nvSpPr>
          <p:cNvPr id="13" name="Text Placeholder 3">
            <a:extLst>
              <a:ext uri="{FF2B5EF4-FFF2-40B4-BE49-F238E27FC236}">
                <a16:creationId xmlns:a16="http://schemas.microsoft.com/office/drawing/2014/main" id="{025E100A-F4F4-0B4F-B4C6-14FA523D1415}"/>
              </a:ext>
            </a:extLst>
          </p:cNvPr>
          <p:cNvSpPr>
            <a:spLocks noGrp="1"/>
          </p:cNvSpPr>
          <p:nvPr>
            <p:ph type="body" sz="quarter" idx="13" hasCustomPrompt="1"/>
          </p:nvPr>
        </p:nvSpPr>
        <p:spPr>
          <a:xfrm>
            <a:off x="4645026" y="1675354"/>
            <a:ext cx="4040188" cy="2925763"/>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
        <p:nvSpPr>
          <p:cNvPr id="10" name="Text Placeholder 3">
            <a:extLst>
              <a:ext uri="{FF2B5EF4-FFF2-40B4-BE49-F238E27FC236}">
                <a16:creationId xmlns:a16="http://schemas.microsoft.com/office/drawing/2014/main" id="{8F9F467A-8E98-7346-B4E6-7FC87C735547}"/>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4" name="Slide Number Placeholder 7">
            <a:extLst>
              <a:ext uri="{FF2B5EF4-FFF2-40B4-BE49-F238E27FC236}">
                <a16:creationId xmlns:a16="http://schemas.microsoft.com/office/drawing/2014/main" id="{5A858944-1D8F-3B42-95E7-F085EA57C8C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Tree>
    <p:extLst>
      <p:ext uri="{BB962C8B-B14F-4D97-AF65-F5344CB8AC3E}">
        <p14:creationId xmlns:p14="http://schemas.microsoft.com/office/powerpoint/2010/main" val="24192359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lumn Photos – No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151335"/>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5" name="Text Placeholder 4"/>
          <p:cNvSpPr>
            <a:spLocks noGrp="1"/>
          </p:cNvSpPr>
          <p:nvPr>
            <p:ph type="body" sz="quarter" idx="3" hasCustomPrompt="1"/>
          </p:nvPr>
        </p:nvSpPr>
        <p:spPr>
          <a:xfrm>
            <a:off x="4645026" y="1151335"/>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676261"/>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676261"/>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21230976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no tex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230085"/>
            <a:ext cx="4040189" cy="3335999"/>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230085"/>
            <a:ext cx="4040189" cy="333600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7224419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text righ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186543"/>
            <a:ext cx="4040189" cy="3379542"/>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4589369" y="1186544"/>
            <a:ext cx="4095844" cy="3379542"/>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Tree>
    <p:extLst>
      <p:ext uri="{BB962C8B-B14F-4D97-AF65-F5344CB8AC3E}">
        <p14:creationId xmlns:p14="http://schemas.microsoft.com/office/powerpoint/2010/main" val="17653405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ntent text left – No Logo">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394018"/>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645024" y="1117174"/>
            <a:ext cx="4040189" cy="3379542"/>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457200" y="1117174"/>
            <a:ext cx="4040189" cy="3379542"/>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Tree>
    <p:extLst>
      <p:ext uri="{BB962C8B-B14F-4D97-AF65-F5344CB8AC3E}">
        <p14:creationId xmlns:p14="http://schemas.microsoft.com/office/powerpoint/2010/main" val="36409789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ullet Text – Red No Log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6840" y="447137"/>
            <a:ext cx="6518635" cy="507651"/>
          </a:xfrm>
        </p:spPr>
        <p:txBody>
          <a:bodyPr>
            <a:noAutofit/>
          </a:bodyPr>
          <a:lstStyle>
            <a:lvl1pPr algn="l">
              <a:defRPr sz="2800" b="1" spc="-30" baseline="0">
                <a:solidFill>
                  <a:schemeClr val="bg1"/>
                </a:solidFill>
              </a:defRPr>
            </a:lvl1pPr>
          </a:lstStyle>
          <a:p>
            <a:r>
              <a:rPr lang="en-US" dirty="0"/>
              <a:t>Add Title 28 </a:t>
            </a:r>
            <a:r>
              <a:rPr lang="en-US" dirty="0" err="1"/>
              <a:t>pt</a:t>
            </a:r>
            <a:endParaRPr lang="en-US" dirty="0"/>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dirty="0"/>
          </a:p>
        </p:txBody>
      </p:sp>
      <p:sp>
        <p:nvSpPr>
          <p:cNvPr id="6" name="Text Placeholder 4">
            <a:extLst>
              <a:ext uri="{FF2B5EF4-FFF2-40B4-BE49-F238E27FC236}">
                <a16:creationId xmlns:a16="http://schemas.microsoft.com/office/drawing/2014/main" id="{5333833B-5017-1F4F-B8C7-0FC53207AFED}"/>
              </a:ext>
            </a:extLst>
          </p:cNvPr>
          <p:cNvSpPr>
            <a:spLocks noGrp="1"/>
          </p:cNvSpPr>
          <p:nvPr>
            <p:ph type="body" sz="quarter" idx="10" hasCustomPrompt="1"/>
          </p:nvPr>
        </p:nvSpPr>
        <p:spPr>
          <a:xfrm>
            <a:off x="457200" y="1032387"/>
            <a:ext cx="6518275" cy="3663976"/>
          </a:xfrm>
        </p:spPr>
        <p:txBody>
          <a:bodyPr>
            <a:normAutofit/>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8741169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ullet Text – Pink No Logo">
    <p:bg>
      <p:bgPr>
        <a:solidFill>
          <a:schemeClr val="accent2"/>
        </a:solidFill>
        <a:effectLst/>
      </p:bgPr>
    </p:bg>
    <p:spTree>
      <p:nvGrpSpPr>
        <p:cNvPr id="1" name=""/>
        <p:cNvGrpSpPr/>
        <p:nvPr/>
      </p:nvGrpSpPr>
      <p:grpSpPr>
        <a:xfrm>
          <a:off x="0" y="0"/>
          <a:ext cx="0" cy="0"/>
          <a:chOff x="0" y="0"/>
          <a:chExt cx="0" cy="0"/>
        </a:xfrm>
      </p:grpSpPr>
      <p:sp>
        <p:nvSpPr>
          <p:cNvPr id="11" name="Slide Number Placeholder 7">
            <a:extLst>
              <a:ext uri="{FF2B5EF4-FFF2-40B4-BE49-F238E27FC236}">
                <a16:creationId xmlns:a16="http://schemas.microsoft.com/office/drawing/2014/main" id="{E83C8F9E-8AA2-E641-B7D1-A9EFACF7537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2" name="Title 1">
            <a:extLst>
              <a:ext uri="{FF2B5EF4-FFF2-40B4-BE49-F238E27FC236}">
                <a16:creationId xmlns:a16="http://schemas.microsoft.com/office/drawing/2014/main" id="{F2FB2457-2C0A-A640-A4D6-B2180523C314}"/>
              </a:ext>
            </a:extLst>
          </p:cNvPr>
          <p:cNvSpPr>
            <a:spLocks noGrp="1"/>
          </p:cNvSpPr>
          <p:nvPr>
            <p:ph type="title" hasCustomPrompt="1"/>
          </p:nvPr>
        </p:nvSpPr>
        <p:spPr>
          <a:xfrm>
            <a:off x="457200" y="343913"/>
            <a:ext cx="7852347" cy="507651"/>
          </a:xfrm>
        </p:spPr>
        <p:txBody>
          <a:bodyPr>
            <a:no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8" name="Text Placeholder 4">
            <a:extLst>
              <a:ext uri="{FF2B5EF4-FFF2-40B4-BE49-F238E27FC236}">
                <a16:creationId xmlns:a16="http://schemas.microsoft.com/office/drawing/2014/main" id="{8C97D043-1EE0-4341-9F8F-81820A2A7670}"/>
              </a:ext>
            </a:extLst>
          </p:cNvPr>
          <p:cNvSpPr>
            <a:spLocks noGrp="1"/>
          </p:cNvSpPr>
          <p:nvPr>
            <p:ph type="body" sz="quarter" idx="10" hasCustomPrompt="1"/>
          </p:nvPr>
        </p:nvSpPr>
        <p:spPr>
          <a:xfrm>
            <a:off x="457200" y="992188"/>
            <a:ext cx="7851913"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156378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ullet Text – Salmon No Logo">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3913"/>
            <a:ext cx="6518635" cy="507651"/>
          </a:xfrm>
        </p:spPr>
        <p:txBody>
          <a:bodyPr>
            <a:noAutofit/>
          </a:bodyPr>
          <a:lstStyle>
            <a:lvl1pPr algn="l">
              <a:defRPr sz="2800" b="1" spc="-30" baseline="0">
                <a:solidFill>
                  <a:schemeClr val="accent6"/>
                </a:solidFill>
              </a:defRPr>
            </a:lvl1pPr>
          </a:lstStyle>
          <a:p>
            <a:r>
              <a:rPr lang="en-US" dirty="0"/>
              <a:t>Add Title 28 </a:t>
            </a:r>
            <a:r>
              <a:rPr lang="en-US" dirty="0" err="1"/>
              <a:t>pt</a:t>
            </a:r>
            <a:endParaRPr lang="en-US" dirty="0"/>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dirty="0"/>
          </a:p>
        </p:txBody>
      </p:sp>
      <p:sp>
        <p:nvSpPr>
          <p:cNvPr id="9" name="Text Placeholder 4">
            <a:extLst>
              <a:ext uri="{FF2B5EF4-FFF2-40B4-BE49-F238E27FC236}">
                <a16:creationId xmlns:a16="http://schemas.microsoft.com/office/drawing/2014/main" id="{D2CB997B-D680-5049-82CB-3A19A2889E49}"/>
              </a:ext>
            </a:extLst>
          </p:cNvPr>
          <p:cNvSpPr>
            <a:spLocks noGrp="1"/>
          </p:cNvSpPr>
          <p:nvPr>
            <p:ph type="body" sz="quarter" idx="11" hasCustomPrompt="1"/>
          </p:nvPr>
        </p:nvSpPr>
        <p:spPr>
          <a:xfrm>
            <a:off x="457200" y="981036"/>
            <a:ext cx="6518275" cy="3394075"/>
          </a:xfrm>
        </p:spPr>
        <p:txBody>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433049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 AARP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381663" y="509420"/>
            <a:ext cx="4854621" cy="4332830"/>
          </a:xfrm>
        </p:spPr>
        <p:txBody>
          <a:bodyPr>
            <a:normAutofit/>
          </a:bodyPr>
          <a:lstStyle>
            <a:lvl1pPr marL="0" indent="0">
              <a:buNone/>
              <a:defRPr sz="2400">
                <a:solidFill>
                  <a:schemeClr val="tx1">
                    <a:lumMod val="50000"/>
                    <a:lumOff val="50000"/>
                  </a:schemeClr>
                </a:solidFill>
              </a:defRPr>
            </a:lvl1pPr>
          </a:lstStyle>
          <a:p>
            <a:r>
              <a:rPr lang="en-US" dirty="0"/>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389719" y="1773206"/>
            <a:ext cx="3297082" cy="3068637"/>
          </a:xfrm>
        </p:spPr>
        <p:txBody>
          <a:bodyPr>
            <a:normAutofit/>
          </a:bodyPr>
          <a:lstStyle>
            <a:lvl1pPr marL="230188" indent="-230188">
              <a:tabLst/>
              <a:defRPr sz="2000">
                <a:solidFill>
                  <a:schemeClr val="tx1"/>
                </a:solidFill>
              </a:defRPr>
            </a:lvl1pPr>
          </a:lstStyle>
          <a:p>
            <a:r>
              <a:rPr lang="en-US" dirty="0"/>
              <a:t>Click to add bullet text 20 </a:t>
            </a:r>
            <a:r>
              <a:rPr lang="en-US" dirty="0" err="1"/>
              <a:t>pt</a:t>
            </a:r>
            <a:endParaRPr lang="en-US" dirty="0"/>
          </a:p>
        </p:txBody>
      </p:sp>
      <p:sp>
        <p:nvSpPr>
          <p:cNvPr id="2" name="Rectangle 1">
            <a:extLst>
              <a:ext uri="{FF2B5EF4-FFF2-40B4-BE49-F238E27FC236}">
                <a16:creationId xmlns:a16="http://schemas.microsoft.com/office/drawing/2014/main" id="{63F7AB2C-2DF8-1B4B-9409-DE4766264A03}"/>
              </a:ext>
            </a:extLst>
          </p:cNvPr>
          <p:cNvSpPr/>
          <p:nvPr/>
        </p:nvSpPr>
        <p:spPr>
          <a:xfrm>
            <a:off x="5351961" y="766759"/>
            <a:ext cx="3334839" cy="523220"/>
          </a:xfrm>
          <a:prstGeom prst="rect">
            <a:avLst/>
          </a:prstGeom>
        </p:spPr>
        <p:txBody>
          <a:bodyPr wrap="square" anchor="b" anchorCtr="0">
            <a:spAutoFit/>
          </a:bodyPr>
          <a:lstStyle/>
          <a:p>
            <a:r>
              <a:rPr lang="en-US" sz="2800" b="1" spc="-30" baseline="0" dirty="0">
                <a:solidFill>
                  <a:schemeClr val="tx2"/>
                </a:solidFill>
              </a:rPr>
              <a:t>Conclusion</a:t>
            </a:r>
            <a:endParaRPr lang="en-US" sz="2800" b="1" spc="-30" baseline="0" dirty="0"/>
          </a:p>
        </p:txBody>
      </p:sp>
      <p:pic>
        <p:nvPicPr>
          <p:cNvPr id="9" name="Picture 8" descr="A picture containing drawing&#10;&#10;Description automatically generated">
            <a:extLst>
              <a:ext uri="{FF2B5EF4-FFF2-40B4-BE49-F238E27FC236}">
                <a16:creationId xmlns:a16="http://schemas.microsoft.com/office/drawing/2014/main" id="{8EECAAC7-30E9-1441-9836-3C41A68310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4116647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Upcoming Events - AARP Logo">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1803801" y="890632"/>
            <a:ext cx="6592947" cy="3421682"/>
          </a:xfrm>
        </p:spPr>
        <p:txBody>
          <a:bodyPr>
            <a:normAutofit/>
          </a:bodyPr>
          <a:lstStyle>
            <a:lvl1pPr marL="0" indent="0">
              <a:buFont typeface="Arial" panose="020B0604020202020204" pitchFamily="34" charset="0"/>
              <a:buNone/>
              <a:tabLst/>
              <a:defRPr sz="1800" b="0"/>
            </a:lvl1pPr>
            <a:lvl2pPr marL="742950" indent="-285750">
              <a:buFont typeface="Courier New" panose="02070309020205020404" pitchFamily="49" charset="0"/>
              <a:buChar char="o"/>
              <a:defRPr sz="2000"/>
            </a:lvl2pPr>
          </a:lstStyle>
          <a:p>
            <a:pPr lvl="0"/>
            <a:r>
              <a:rPr lang="en-US" dirty="0"/>
              <a:t>Click to add Event Titles, Dates, Times, etc.</a:t>
            </a:r>
          </a:p>
        </p:txBody>
      </p:sp>
      <p:sp>
        <p:nvSpPr>
          <p:cNvPr id="3" name="Text Placeholder 2">
            <a:extLst>
              <a:ext uri="{FF2B5EF4-FFF2-40B4-BE49-F238E27FC236}">
                <a16:creationId xmlns:a16="http://schemas.microsoft.com/office/drawing/2014/main" id="{D62358B0-F45A-49E9-B8E9-029F5906DE72}"/>
              </a:ext>
            </a:extLst>
          </p:cNvPr>
          <p:cNvSpPr>
            <a:spLocks noGrp="1"/>
          </p:cNvSpPr>
          <p:nvPr>
            <p:ph type="body" sz="quarter" idx="15" hasCustomPrompt="1"/>
          </p:nvPr>
        </p:nvSpPr>
        <p:spPr>
          <a:xfrm>
            <a:off x="289634" y="4481661"/>
            <a:ext cx="8107114" cy="386940"/>
          </a:xfrm>
        </p:spPr>
        <p:txBody>
          <a:bodyPr>
            <a:noAutofit/>
          </a:bodyPr>
          <a:lstStyle>
            <a:lvl1pPr marL="0" indent="0">
              <a:buNone/>
              <a:defRPr sz="1600"/>
            </a:lvl1pPr>
          </a:lstStyle>
          <a:p>
            <a:pPr lvl="0"/>
            <a:r>
              <a:rPr lang="en-US" dirty="0"/>
              <a:t>Click to add URL for where participants can learn more or register for the events above</a:t>
            </a:r>
          </a:p>
        </p:txBody>
      </p:sp>
      <p:pic>
        <p:nvPicPr>
          <p:cNvPr id="8" name="Picture 7" descr="A white plate&#10;&#10;Description automatically generated">
            <a:extLst>
              <a:ext uri="{FF2B5EF4-FFF2-40B4-BE49-F238E27FC236}">
                <a16:creationId xmlns:a16="http://schemas.microsoft.com/office/drawing/2014/main" id="{F2406FB0-C741-4DB8-B820-EAF6ED0792D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89634" y="2152829"/>
            <a:ext cx="1602923" cy="1306016"/>
          </a:xfrm>
          <a:prstGeom prst="rect">
            <a:avLst/>
          </a:prstGeom>
        </p:spPr>
      </p:pic>
      <p:sp>
        <p:nvSpPr>
          <p:cNvPr id="2" name="TextBox 1">
            <a:extLst>
              <a:ext uri="{FF2B5EF4-FFF2-40B4-BE49-F238E27FC236}">
                <a16:creationId xmlns:a16="http://schemas.microsoft.com/office/drawing/2014/main" id="{C0B24C9C-A997-4570-9874-25ED1CAAA2AE}"/>
              </a:ext>
            </a:extLst>
          </p:cNvPr>
          <p:cNvSpPr txBox="1"/>
          <p:nvPr/>
        </p:nvSpPr>
        <p:spPr>
          <a:xfrm>
            <a:off x="210976" y="428966"/>
            <a:ext cx="8003458" cy="461665"/>
          </a:xfrm>
          <a:prstGeom prst="rect">
            <a:avLst/>
          </a:prstGeom>
          <a:noFill/>
        </p:spPr>
        <p:txBody>
          <a:bodyPr wrap="square" rtlCol="0">
            <a:spAutoFit/>
          </a:bodyPr>
          <a:lstStyle/>
          <a:p>
            <a:r>
              <a:rPr lang="en-US" sz="2400" b="1" dirty="0">
                <a:solidFill>
                  <a:srgbClr val="EE1300"/>
                </a:solidFill>
              </a:rPr>
              <a:t>Upcoming Events and Opportunities</a:t>
            </a:r>
          </a:p>
        </p:txBody>
      </p:sp>
      <p:pic>
        <p:nvPicPr>
          <p:cNvPr id="9" name="Picture 8" descr="A picture containing drawing&#10;&#10;Description automatically generated">
            <a:extLst>
              <a:ext uri="{FF2B5EF4-FFF2-40B4-BE49-F238E27FC236}">
                <a16:creationId xmlns:a16="http://schemas.microsoft.com/office/drawing/2014/main" id="{AB7A0BA1-6379-442A-B8D1-0C21020F24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32375112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Upcoming Events - State Logo">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551276FD-EBF0-4D96-95AF-D0AE3C8C4D16}"/>
              </a:ext>
            </a:extLst>
          </p:cNvPr>
          <p:cNvSpPr>
            <a:spLocks noGrp="1"/>
          </p:cNvSpPr>
          <p:nvPr>
            <p:ph type="body" sz="quarter" idx="13" hasCustomPrompt="1"/>
          </p:nvPr>
        </p:nvSpPr>
        <p:spPr>
          <a:xfrm>
            <a:off x="1803801" y="1327354"/>
            <a:ext cx="6592947" cy="2984959"/>
          </a:xfrm>
        </p:spPr>
        <p:txBody>
          <a:bodyPr>
            <a:normAutofit/>
          </a:bodyPr>
          <a:lstStyle>
            <a:lvl1pPr marL="0" indent="0">
              <a:buFont typeface="Arial" panose="020B0604020202020204" pitchFamily="34" charset="0"/>
              <a:buNone/>
              <a:tabLst/>
              <a:defRPr sz="1800" b="0"/>
            </a:lvl1pPr>
            <a:lvl2pPr marL="742950" indent="-285750">
              <a:buFont typeface="Courier New" panose="02070309020205020404" pitchFamily="49" charset="0"/>
              <a:buChar char="o"/>
              <a:defRPr sz="2000"/>
            </a:lvl2pPr>
          </a:lstStyle>
          <a:p>
            <a:pPr lvl="0"/>
            <a:r>
              <a:rPr lang="en-US" dirty="0"/>
              <a:t>Click to add Event Titles, Dates, Times, etc.</a:t>
            </a:r>
          </a:p>
        </p:txBody>
      </p:sp>
      <p:sp>
        <p:nvSpPr>
          <p:cNvPr id="3" name="Text Placeholder 2">
            <a:extLst>
              <a:ext uri="{FF2B5EF4-FFF2-40B4-BE49-F238E27FC236}">
                <a16:creationId xmlns:a16="http://schemas.microsoft.com/office/drawing/2014/main" id="{D62358B0-F45A-49E9-B8E9-029F5906DE72}"/>
              </a:ext>
            </a:extLst>
          </p:cNvPr>
          <p:cNvSpPr>
            <a:spLocks noGrp="1"/>
          </p:cNvSpPr>
          <p:nvPr>
            <p:ph type="body" sz="quarter" idx="15" hasCustomPrompt="1"/>
          </p:nvPr>
        </p:nvSpPr>
        <p:spPr>
          <a:xfrm>
            <a:off x="289634" y="4481661"/>
            <a:ext cx="8107114" cy="386940"/>
          </a:xfrm>
        </p:spPr>
        <p:txBody>
          <a:bodyPr>
            <a:noAutofit/>
          </a:bodyPr>
          <a:lstStyle>
            <a:lvl1pPr marL="0" indent="0">
              <a:buNone/>
              <a:defRPr sz="1600"/>
            </a:lvl1pPr>
          </a:lstStyle>
          <a:p>
            <a:pPr lvl="0"/>
            <a:r>
              <a:rPr lang="en-US" dirty="0"/>
              <a:t>Click to add URL for where participants can learn more or register for the events above</a:t>
            </a:r>
          </a:p>
        </p:txBody>
      </p:sp>
      <p:pic>
        <p:nvPicPr>
          <p:cNvPr id="8" name="Picture 7" descr="A white plate&#10;&#10;Description automatically generated">
            <a:extLst>
              <a:ext uri="{FF2B5EF4-FFF2-40B4-BE49-F238E27FC236}">
                <a16:creationId xmlns:a16="http://schemas.microsoft.com/office/drawing/2014/main" id="{F2406FB0-C741-4DB8-B820-EAF6ED0792D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89634" y="2152829"/>
            <a:ext cx="1602923" cy="1306016"/>
          </a:xfrm>
          <a:prstGeom prst="rect">
            <a:avLst/>
          </a:prstGeom>
        </p:spPr>
      </p:pic>
      <p:sp>
        <p:nvSpPr>
          <p:cNvPr id="2" name="TextBox 1">
            <a:extLst>
              <a:ext uri="{FF2B5EF4-FFF2-40B4-BE49-F238E27FC236}">
                <a16:creationId xmlns:a16="http://schemas.microsoft.com/office/drawing/2014/main" id="{C0B24C9C-A997-4570-9874-25ED1CAAA2AE}"/>
              </a:ext>
            </a:extLst>
          </p:cNvPr>
          <p:cNvSpPr txBox="1"/>
          <p:nvPr/>
        </p:nvSpPr>
        <p:spPr>
          <a:xfrm>
            <a:off x="210976" y="865689"/>
            <a:ext cx="8003458" cy="461665"/>
          </a:xfrm>
          <a:prstGeom prst="rect">
            <a:avLst/>
          </a:prstGeom>
          <a:noFill/>
        </p:spPr>
        <p:txBody>
          <a:bodyPr wrap="square" rtlCol="0">
            <a:spAutoFit/>
          </a:bodyPr>
          <a:lstStyle/>
          <a:p>
            <a:r>
              <a:rPr lang="en-US" sz="2400" b="1" dirty="0">
                <a:solidFill>
                  <a:srgbClr val="EE1300"/>
                </a:solidFill>
              </a:rPr>
              <a:t>Upcoming Events and Opportunities</a:t>
            </a:r>
          </a:p>
        </p:txBody>
      </p:sp>
      <p:sp>
        <p:nvSpPr>
          <p:cNvPr id="7" name="Picture Placeholder 2">
            <a:extLst>
              <a:ext uri="{FF2B5EF4-FFF2-40B4-BE49-F238E27FC236}">
                <a16:creationId xmlns:a16="http://schemas.microsoft.com/office/drawing/2014/main" id="{53102310-3ED4-4851-8678-CC3582DE884D}"/>
              </a:ext>
            </a:extLst>
          </p:cNvPr>
          <p:cNvSpPr>
            <a:spLocks noGrp="1"/>
          </p:cNvSpPr>
          <p:nvPr>
            <p:ph type="pic" sz="quarter" idx="10" hasCustomPrompt="1"/>
          </p:nvPr>
        </p:nvSpPr>
        <p:spPr>
          <a:xfrm>
            <a:off x="289634" y="136987"/>
            <a:ext cx="1381125" cy="701675"/>
          </a:xfrm>
        </p:spPr>
        <p:txBody>
          <a:bodyPr>
            <a:normAutofit/>
          </a:bodyPr>
          <a:lstStyle>
            <a:lvl1pPr marL="0" indent="0">
              <a:buNone/>
              <a:defRPr sz="1400"/>
            </a:lvl1pPr>
          </a:lstStyle>
          <a:p>
            <a:r>
              <a:rPr lang="en-US" dirty="0"/>
              <a:t>Insert AARP State Logo</a:t>
            </a:r>
          </a:p>
        </p:txBody>
      </p:sp>
    </p:spTree>
    <p:extLst>
      <p:ext uri="{BB962C8B-B14F-4D97-AF65-F5344CB8AC3E}">
        <p14:creationId xmlns:p14="http://schemas.microsoft.com/office/powerpoint/2010/main" val="3504005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urvey Option 2">
    <p:spTree>
      <p:nvGrpSpPr>
        <p:cNvPr id="1" name=""/>
        <p:cNvGrpSpPr/>
        <p:nvPr/>
      </p:nvGrpSpPr>
      <p:grpSpPr>
        <a:xfrm>
          <a:off x="0" y="0"/>
          <a:ext cx="0" cy="0"/>
          <a:chOff x="0" y="0"/>
          <a:chExt cx="0" cy="0"/>
        </a:xfrm>
      </p:grpSpPr>
      <p:pic>
        <p:nvPicPr>
          <p:cNvPr id="7" name="Picture Placeholder 12">
            <a:extLst>
              <a:ext uri="{FF2B5EF4-FFF2-40B4-BE49-F238E27FC236}">
                <a16:creationId xmlns:a16="http://schemas.microsoft.com/office/drawing/2014/main" id="{3209CD7E-5ED3-424C-817E-DB508956288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06062" y="562948"/>
            <a:ext cx="8454480" cy="3143813"/>
          </a:xfrm>
          <a:prstGeom prst="rect">
            <a:avLst/>
          </a:prstGeom>
        </p:spPr>
      </p:pic>
      <p:sp>
        <p:nvSpPr>
          <p:cNvPr id="10" name="Title 1">
            <a:extLst>
              <a:ext uri="{FF2B5EF4-FFF2-40B4-BE49-F238E27FC236}">
                <a16:creationId xmlns:a16="http://schemas.microsoft.com/office/drawing/2014/main" id="{596ABF35-4E63-6848-A4FD-81B18654628E}"/>
              </a:ext>
            </a:extLst>
          </p:cNvPr>
          <p:cNvSpPr txBox="1">
            <a:spLocks/>
          </p:cNvSpPr>
          <p:nvPr/>
        </p:nvSpPr>
        <p:spPr>
          <a:xfrm>
            <a:off x="2724581" y="1391913"/>
            <a:ext cx="4598503" cy="148588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000" b="1" kern="1200">
                <a:solidFill>
                  <a:srgbClr val="EC1300"/>
                </a:solidFill>
                <a:latin typeface="Arial"/>
                <a:ea typeface="+mj-ea"/>
                <a:cs typeface="Arial"/>
              </a:defRPr>
            </a:lvl1pPr>
          </a:lstStyle>
          <a:p>
            <a:r>
              <a:rPr lang="en-US" sz="4500" dirty="0">
                <a:solidFill>
                  <a:schemeClr val="tx1"/>
                </a:solidFill>
              </a:rPr>
              <a:t>Survey</a:t>
            </a:r>
          </a:p>
        </p:txBody>
      </p:sp>
      <p:sp>
        <p:nvSpPr>
          <p:cNvPr id="14" name="Slide Number Placeholder 7">
            <a:extLst>
              <a:ext uri="{FF2B5EF4-FFF2-40B4-BE49-F238E27FC236}">
                <a16:creationId xmlns:a16="http://schemas.microsoft.com/office/drawing/2014/main" id="{677A7C90-B538-3B4A-8D46-D8BAF7C4B901}"/>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pic>
        <p:nvPicPr>
          <p:cNvPr id="9" name="Picture 8" descr="A picture containing drawing&#10;&#10;Description automatically generated">
            <a:extLst>
              <a:ext uri="{FF2B5EF4-FFF2-40B4-BE49-F238E27FC236}">
                <a16:creationId xmlns:a16="http://schemas.microsoft.com/office/drawing/2014/main" id="{1D04CD6C-56F6-5441-A86C-921702C0213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
        <p:nvSpPr>
          <p:cNvPr id="4" name="Text Placeholder 3">
            <a:extLst>
              <a:ext uri="{FF2B5EF4-FFF2-40B4-BE49-F238E27FC236}">
                <a16:creationId xmlns:a16="http://schemas.microsoft.com/office/drawing/2014/main" id="{34F2DBF2-F623-4E13-BC40-896EFBA5A3F8}"/>
              </a:ext>
            </a:extLst>
          </p:cNvPr>
          <p:cNvSpPr>
            <a:spLocks noGrp="1"/>
          </p:cNvSpPr>
          <p:nvPr>
            <p:ph type="body" sz="quarter" idx="10" hasCustomPrompt="1"/>
          </p:nvPr>
        </p:nvSpPr>
        <p:spPr>
          <a:xfrm>
            <a:off x="2606594" y="3795713"/>
            <a:ext cx="6153231" cy="385762"/>
          </a:xfrm>
        </p:spPr>
        <p:txBody>
          <a:bodyPr anchor="ctr">
            <a:noAutofit/>
          </a:bodyPr>
          <a:lstStyle>
            <a:lvl1pPr marL="0" indent="0">
              <a:buNone/>
              <a:defRPr sz="2800" b="1">
                <a:solidFill>
                  <a:srgbClr val="EC1300"/>
                </a:solidFill>
              </a:defRPr>
            </a:lvl1pPr>
          </a:lstStyle>
          <a:p>
            <a:pPr lvl="0"/>
            <a:r>
              <a:rPr lang="en-US" sz="2800" dirty="0"/>
              <a:t>We welcome your feedback</a:t>
            </a:r>
            <a:endParaRPr lang="en-US" dirty="0"/>
          </a:p>
        </p:txBody>
      </p:sp>
      <p:sp>
        <p:nvSpPr>
          <p:cNvPr id="6" name="Text Placeholder 5">
            <a:extLst>
              <a:ext uri="{FF2B5EF4-FFF2-40B4-BE49-F238E27FC236}">
                <a16:creationId xmlns:a16="http://schemas.microsoft.com/office/drawing/2014/main" id="{5B1F9784-9E8D-46F1-9843-E8ED143D925C}"/>
              </a:ext>
            </a:extLst>
          </p:cNvPr>
          <p:cNvSpPr>
            <a:spLocks noGrp="1"/>
          </p:cNvSpPr>
          <p:nvPr>
            <p:ph type="body" sz="quarter" idx="11" hasCustomPrompt="1"/>
          </p:nvPr>
        </p:nvSpPr>
        <p:spPr>
          <a:xfrm>
            <a:off x="2606675" y="4316413"/>
            <a:ext cx="4716463" cy="423862"/>
          </a:xfrm>
        </p:spPr>
        <p:txBody>
          <a:bodyPr anchor="ctr"/>
          <a:lstStyle>
            <a:lvl1pPr marL="0" marR="0" indent="0" algn="l" defTabSz="457200" rtl="0" eaLnBrk="1" fontAlgn="auto" latinLnBrk="0" hangingPunct="1">
              <a:lnSpc>
                <a:spcPct val="100000"/>
              </a:lnSpc>
              <a:spcBef>
                <a:spcPct val="20000"/>
              </a:spcBef>
              <a:spcAft>
                <a:spcPts val="0"/>
              </a:spcAft>
              <a:buClrTx/>
              <a:buSzTx/>
              <a:buFont typeface="Arial" panose="020B0604020202020204" pitchFamily="34" charset="0"/>
              <a:buNone/>
              <a:tabLst/>
              <a:defRPr sz="2000"/>
            </a:lvl1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a:t>Please complete the survey!</a:t>
            </a:r>
          </a:p>
        </p:txBody>
      </p:sp>
    </p:spTree>
    <p:extLst>
      <p:ext uri="{BB962C8B-B14F-4D97-AF65-F5344CB8AC3E}">
        <p14:creationId xmlns:p14="http://schemas.microsoft.com/office/powerpoint/2010/main" val="7111790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Keep in Touch – AARP Logo">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ED151345-F5BD-DE40-8392-7AD5DA6BAFC7}"/>
              </a:ext>
            </a:extLst>
          </p:cNvPr>
          <p:cNvSpPr txBox="1">
            <a:spLocks/>
          </p:cNvSpPr>
          <p:nvPr/>
        </p:nvSpPr>
        <p:spPr>
          <a:xfrm>
            <a:off x="378542" y="1471004"/>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Email:</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
        <p:nvSpPr>
          <p:cNvPr id="4" name="Text Placeholder 3">
            <a:extLst>
              <a:ext uri="{FF2B5EF4-FFF2-40B4-BE49-F238E27FC236}">
                <a16:creationId xmlns:a16="http://schemas.microsoft.com/office/drawing/2014/main" id="{2ABAD095-B39B-BA4F-A53A-57129045829D}"/>
              </a:ext>
            </a:extLst>
          </p:cNvPr>
          <p:cNvSpPr>
            <a:spLocks noGrp="1"/>
          </p:cNvSpPr>
          <p:nvPr>
            <p:ph type="body" sz="quarter" idx="10" hasCustomPrompt="1"/>
          </p:nvPr>
        </p:nvSpPr>
        <p:spPr>
          <a:xfrm>
            <a:off x="1309637" y="3391092"/>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dirty="0">
                <a:solidFill>
                  <a:srgbClr val="000000"/>
                </a:solidFill>
                <a:latin typeface="+mn-lt"/>
                <a:ea typeface="Roboto Light" panose="02000000000000000000" pitchFamily="2" charset="0"/>
                <a:cs typeface="Arial Narrow" panose="020B0604020202020204" pitchFamily="34" charset="0"/>
              </a:rPr>
              <a:t>twitter.com/aarpxx</a:t>
            </a:r>
            <a:endParaRPr lang="en-US" dirty="0"/>
          </a:p>
        </p:txBody>
      </p:sp>
      <p:sp>
        <p:nvSpPr>
          <p:cNvPr id="24" name="Text Placeholder 3">
            <a:extLst>
              <a:ext uri="{FF2B5EF4-FFF2-40B4-BE49-F238E27FC236}">
                <a16:creationId xmlns:a16="http://schemas.microsoft.com/office/drawing/2014/main" id="{22D30D90-8742-014F-A19F-150857FEAA7B}"/>
              </a:ext>
            </a:extLst>
          </p:cNvPr>
          <p:cNvSpPr>
            <a:spLocks noGrp="1"/>
          </p:cNvSpPr>
          <p:nvPr>
            <p:ph type="body" sz="quarter" idx="11" hasCustomPrompt="1"/>
          </p:nvPr>
        </p:nvSpPr>
        <p:spPr>
          <a:xfrm>
            <a:off x="1309637" y="2973612"/>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r>
              <a:rPr lang="en-US" dirty="0">
                <a:solidFill>
                  <a:srgbClr val="000000"/>
                </a:solidFill>
                <a:latin typeface="+mn-lt"/>
                <a:ea typeface="Roboto Light" panose="02000000000000000000" pitchFamily="2" charset="0"/>
                <a:cs typeface="Arial Narrow" panose="020B0604020202020204" pitchFamily="34" charset="0"/>
              </a:rPr>
              <a:t>facebook.com/aarpxx</a:t>
            </a:r>
            <a:endParaRPr lang="en-US" dirty="0"/>
          </a:p>
        </p:txBody>
      </p:sp>
      <p:sp>
        <p:nvSpPr>
          <p:cNvPr id="29" name="Text Placeholder 3">
            <a:extLst>
              <a:ext uri="{FF2B5EF4-FFF2-40B4-BE49-F238E27FC236}">
                <a16:creationId xmlns:a16="http://schemas.microsoft.com/office/drawing/2014/main" id="{01868363-1B4C-4441-B9A4-30914D7B26B3}"/>
              </a:ext>
            </a:extLst>
          </p:cNvPr>
          <p:cNvSpPr>
            <a:spLocks noGrp="1"/>
          </p:cNvSpPr>
          <p:nvPr>
            <p:ph type="body" sz="quarter" idx="12" hasCustomPrompt="1"/>
          </p:nvPr>
        </p:nvSpPr>
        <p:spPr>
          <a:xfrm>
            <a:off x="1303287" y="1497570"/>
            <a:ext cx="4005262" cy="33773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20" dirty="0">
                <a:solidFill>
                  <a:srgbClr val="000000"/>
                </a:solidFill>
                <a:latin typeface="+mn-lt"/>
                <a:ea typeface="Roboto Light" panose="02000000000000000000" pitchFamily="2" charset="0"/>
                <a:cs typeface="Arial Narrow" panose="020B0604020202020204" pitchFamily="34" charset="0"/>
              </a:rPr>
              <a:t>name@</a:t>
            </a:r>
            <a:r>
              <a:rPr lang="en-US" sz="1998" dirty="0">
                <a:solidFill>
                  <a:srgbClr val="000000"/>
                </a:solidFill>
                <a:latin typeface="+mn-lt"/>
                <a:ea typeface="Roboto Light" panose="02000000000000000000" pitchFamily="2" charset="0"/>
                <a:cs typeface="Arial Narrow" panose="020B0604020202020204" pitchFamily="34" charset="0"/>
              </a:rPr>
              <a:t>aarp.org</a:t>
            </a:r>
            <a:endParaRPr lang="en-US" dirty="0"/>
          </a:p>
        </p:txBody>
      </p:sp>
      <p:sp>
        <p:nvSpPr>
          <p:cNvPr id="30" name="Text Placeholder 3">
            <a:extLst>
              <a:ext uri="{FF2B5EF4-FFF2-40B4-BE49-F238E27FC236}">
                <a16:creationId xmlns:a16="http://schemas.microsoft.com/office/drawing/2014/main" id="{3DB11D24-C039-7440-8CF5-0B2CF82B8544}"/>
              </a:ext>
            </a:extLst>
          </p:cNvPr>
          <p:cNvSpPr>
            <a:spLocks noGrp="1"/>
          </p:cNvSpPr>
          <p:nvPr>
            <p:ph type="body" sz="quarter" idx="13" hasCustomPrompt="1"/>
          </p:nvPr>
        </p:nvSpPr>
        <p:spPr>
          <a:xfrm>
            <a:off x="1309637" y="1898139"/>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dirty="0" err="1">
                <a:solidFill>
                  <a:srgbClr val="000000"/>
                </a:solidFill>
                <a:latin typeface="+mn-lt"/>
                <a:ea typeface="Roboto Light" panose="02000000000000000000" pitchFamily="2" charset="0"/>
                <a:cs typeface="Arial Narrow" panose="020B0604020202020204" pitchFamily="34" charset="0"/>
              </a:rPr>
              <a:t>xxx.xxx.xxxx</a:t>
            </a:r>
            <a:endParaRPr lang="en-US" dirty="0">
              <a:solidFill>
                <a:srgbClr val="000000"/>
              </a:solidFill>
              <a:latin typeface="+mn-lt"/>
              <a:ea typeface="Roboto Light" panose="02000000000000000000" pitchFamily="2" charset="0"/>
              <a:cs typeface="Arial Narrow" panose="020B0604020202020204" pitchFamily="34" charset="0"/>
            </a:endParaRPr>
          </a:p>
        </p:txBody>
      </p:sp>
      <p:sp>
        <p:nvSpPr>
          <p:cNvPr id="35" name="Text Placeholder 3">
            <a:extLst>
              <a:ext uri="{FF2B5EF4-FFF2-40B4-BE49-F238E27FC236}">
                <a16:creationId xmlns:a16="http://schemas.microsoft.com/office/drawing/2014/main" id="{F3D73718-AC7E-1B4F-BD47-70D81C9D9193}"/>
              </a:ext>
            </a:extLst>
          </p:cNvPr>
          <p:cNvSpPr>
            <a:spLocks noGrp="1"/>
          </p:cNvSpPr>
          <p:nvPr>
            <p:ph type="body" sz="quarter" idx="14" hasCustomPrompt="1"/>
          </p:nvPr>
        </p:nvSpPr>
        <p:spPr>
          <a:xfrm>
            <a:off x="1303287" y="2315620"/>
            <a:ext cx="4005262" cy="355270"/>
          </a:xfrm>
        </p:spPr>
        <p:txBody>
          <a:bodyPr anchor="ctr"/>
          <a:lstStyle>
            <a:lvl1pPr marL="0" marR="0" indent="0" algn="l" defTabSz="685183" rtl="0" eaLnBrk="1" fontAlgn="auto" latinLnBrk="0" hangingPunct="1">
              <a:lnSpc>
                <a:spcPct val="100000"/>
              </a:lnSpc>
              <a:spcBef>
                <a:spcPts val="749"/>
              </a:spcBef>
              <a:spcAft>
                <a:spcPts val="0"/>
              </a:spcAft>
              <a:buClrTx/>
              <a:buSzTx/>
              <a:buFont typeface="Arial" panose="020B0604020202020204" pitchFamily="34" charset="0"/>
              <a:buNone/>
              <a:tabLst/>
              <a:defRPr lang="en-US" sz="1998" spc="-5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50" dirty="0" err="1">
                <a:solidFill>
                  <a:srgbClr val="000000"/>
                </a:solidFill>
                <a:latin typeface="+mn-lt"/>
                <a:ea typeface="Roboto Light" panose="02000000000000000000" pitchFamily="2" charset="0"/>
                <a:cs typeface="Arial Narrow" panose="020B0604020202020204" pitchFamily="34" charset="0"/>
              </a:rPr>
              <a:t>aarp.org</a:t>
            </a:r>
            <a:r>
              <a:rPr lang="en-US" sz="1998" spc="-50" dirty="0">
                <a:solidFill>
                  <a:srgbClr val="000000"/>
                </a:solidFill>
                <a:latin typeface="+mn-lt"/>
                <a:ea typeface="Roboto Light" panose="02000000000000000000" pitchFamily="2" charset="0"/>
                <a:cs typeface="Arial Narrow" panose="020B0604020202020204" pitchFamily="34" charset="0"/>
              </a:rPr>
              <a:t>/xx</a:t>
            </a:r>
            <a:endParaRPr lang="en-US" dirty="0"/>
          </a:p>
        </p:txBody>
      </p:sp>
      <p:sp>
        <p:nvSpPr>
          <p:cNvPr id="2" name="Rectangle 1">
            <a:extLst>
              <a:ext uri="{FF2B5EF4-FFF2-40B4-BE49-F238E27FC236}">
                <a16:creationId xmlns:a16="http://schemas.microsoft.com/office/drawing/2014/main" id="{72AB592A-3FC2-B142-9E90-C34C7DEF1533}"/>
              </a:ext>
            </a:extLst>
          </p:cNvPr>
          <p:cNvSpPr/>
          <p:nvPr/>
        </p:nvSpPr>
        <p:spPr>
          <a:xfrm>
            <a:off x="377424" y="798085"/>
            <a:ext cx="6460177" cy="523220"/>
          </a:xfrm>
          <a:prstGeom prst="rect">
            <a:avLst/>
          </a:prstGeom>
        </p:spPr>
        <p:txBody>
          <a:bodyPr wrap="square">
            <a:spAutoFit/>
          </a:bodyPr>
          <a:lstStyle/>
          <a:p>
            <a:r>
              <a:rPr lang="en-US" sz="2800" b="1" spc="-30" baseline="0" dirty="0">
                <a:solidFill>
                  <a:schemeClr val="tx2"/>
                </a:solidFill>
              </a:rPr>
              <a:t>Keep in Touch with Us</a:t>
            </a:r>
          </a:p>
        </p:txBody>
      </p:sp>
      <p:pic>
        <p:nvPicPr>
          <p:cNvPr id="15" name="Picture 14" descr="A drawing of a cartoon character&#10;&#10;Description automatically generated">
            <a:extLst>
              <a:ext uri="{FF2B5EF4-FFF2-40B4-BE49-F238E27FC236}">
                <a16:creationId xmlns:a16="http://schemas.microsoft.com/office/drawing/2014/main" id="{1E42DBE0-9309-9B41-80AB-BC5A74D8EE13}"/>
              </a:ext>
            </a:extLst>
          </p:cNvPr>
          <p:cNvPicPr>
            <a:picLocks noChangeAspect="1"/>
          </p:cNvPicPr>
          <p:nvPr userDrawn="1"/>
        </p:nvPicPr>
        <p:blipFill>
          <a:blip r:embed="rId2"/>
          <a:stretch>
            <a:fillRect/>
          </a:stretch>
        </p:blipFill>
        <p:spPr>
          <a:xfrm>
            <a:off x="871477" y="3391092"/>
            <a:ext cx="356140" cy="356140"/>
          </a:xfrm>
          <a:prstGeom prst="rect">
            <a:avLst/>
          </a:prstGeom>
        </p:spPr>
      </p:pic>
      <p:pic>
        <p:nvPicPr>
          <p:cNvPr id="16" name="Picture 15" descr="A drawing of a person&#10;&#10;Description automatically generated">
            <a:extLst>
              <a:ext uri="{FF2B5EF4-FFF2-40B4-BE49-F238E27FC236}">
                <a16:creationId xmlns:a16="http://schemas.microsoft.com/office/drawing/2014/main" id="{21DEBA30-513B-4046-8B55-E4431F969D6B}"/>
              </a:ext>
            </a:extLst>
          </p:cNvPr>
          <p:cNvPicPr>
            <a:picLocks noChangeAspect="1"/>
          </p:cNvPicPr>
          <p:nvPr/>
        </p:nvPicPr>
        <p:blipFill>
          <a:blip r:embed="rId3"/>
          <a:stretch>
            <a:fillRect/>
          </a:stretch>
        </p:blipFill>
        <p:spPr>
          <a:xfrm>
            <a:off x="871477" y="2973612"/>
            <a:ext cx="356141" cy="351262"/>
          </a:xfrm>
          <a:prstGeom prst="rect">
            <a:avLst/>
          </a:prstGeom>
        </p:spPr>
      </p:pic>
      <p:pic>
        <p:nvPicPr>
          <p:cNvPr id="12" name="Picture 11" descr="A picture containing drawing&#10;&#10;Description automatically generated">
            <a:extLst>
              <a:ext uri="{FF2B5EF4-FFF2-40B4-BE49-F238E27FC236}">
                <a16:creationId xmlns:a16="http://schemas.microsoft.com/office/drawing/2014/main" id="{9C45DE10-A3FA-44BC-87FA-B36E92F8677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
        <p:nvSpPr>
          <p:cNvPr id="13" name="Text Placeholder 7">
            <a:extLst>
              <a:ext uri="{FF2B5EF4-FFF2-40B4-BE49-F238E27FC236}">
                <a16:creationId xmlns:a16="http://schemas.microsoft.com/office/drawing/2014/main" id="{974575BB-6BD9-480C-91CD-4E5539375289}"/>
              </a:ext>
            </a:extLst>
          </p:cNvPr>
          <p:cNvSpPr txBox="1">
            <a:spLocks/>
          </p:cNvSpPr>
          <p:nvPr/>
        </p:nvSpPr>
        <p:spPr>
          <a:xfrm>
            <a:off x="378542" y="1881285"/>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Phone:</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
        <p:nvSpPr>
          <p:cNvPr id="14" name="Text Placeholder 7">
            <a:extLst>
              <a:ext uri="{FF2B5EF4-FFF2-40B4-BE49-F238E27FC236}">
                <a16:creationId xmlns:a16="http://schemas.microsoft.com/office/drawing/2014/main" id="{05D219DA-7683-42AC-B48F-207CB8759112}"/>
              </a:ext>
            </a:extLst>
          </p:cNvPr>
          <p:cNvSpPr txBox="1">
            <a:spLocks/>
          </p:cNvSpPr>
          <p:nvPr/>
        </p:nvSpPr>
        <p:spPr>
          <a:xfrm>
            <a:off x="378542" y="2301576"/>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Web:</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Tree>
    <p:extLst>
      <p:ext uri="{BB962C8B-B14F-4D97-AF65-F5344CB8AC3E}">
        <p14:creationId xmlns:p14="http://schemas.microsoft.com/office/powerpoint/2010/main" val="3070465411"/>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Keep in Touch – AARP Logo">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ED151345-F5BD-DE40-8392-7AD5DA6BAFC7}"/>
              </a:ext>
            </a:extLst>
          </p:cNvPr>
          <p:cNvSpPr txBox="1">
            <a:spLocks/>
          </p:cNvSpPr>
          <p:nvPr/>
        </p:nvSpPr>
        <p:spPr>
          <a:xfrm>
            <a:off x="378542" y="1826275"/>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Email:</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
        <p:nvSpPr>
          <p:cNvPr id="4" name="Text Placeholder 3">
            <a:extLst>
              <a:ext uri="{FF2B5EF4-FFF2-40B4-BE49-F238E27FC236}">
                <a16:creationId xmlns:a16="http://schemas.microsoft.com/office/drawing/2014/main" id="{2ABAD095-B39B-BA4F-A53A-57129045829D}"/>
              </a:ext>
            </a:extLst>
          </p:cNvPr>
          <p:cNvSpPr>
            <a:spLocks noGrp="1"/>
          </p:cNvSpPr>
          <p:nvPr>
            <p:ph type="body" sz="quarter" idx="10" hasCustomPrompt="1"/>
          </p:nvPr>
        </p:nvSpPr>
        <p:spPr>
          <a:xfrm>
            <a:off x="1309637" y="3746363"/>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dirty="0">
                <a:solidFill>
                  <a:srgbClr val="000000"/>
                </a:solidFill>
                <a:latin typeface="+mn-lt"/>
                <a:ea typeface="Roboto Light" panose="02000000000000000000" pitchFamily="2" charset="0"/>
                <a:cs typeface="Arial Narrow" panose="020B0604020202020204" pitchFamily="34" charset="0"/>
              </a:rPr>
              <a:t>twitter.com/aarpxx</a:t>
            </a:r>
            <a:endParaRPr lang="en-US" dirty="0"/>
          </a:p>
        </p:txBody>
      </p:sp>
      <p:sp>
        <p:nvSpPr>
          <p:cNvPr id="24" name="Text Placeholder 3">
            <a:extLst>
              <a:ext uri="{FF2B5EF4-FFF2-40B4-BE49-F238E27FC236}">
                <a16:creationId xmlns:a16="http://schemas.microsoft.com/office/drawing/2014/main" id="{22D30D90-8742-014F-A19F-150857FEAA7B}"/>
              </a:ext>
            </a:extLst>
          </p:cNvPr>
          <p:cNvSpPr>
            <a:spLocks noGrp="1"/>
          </p:cNvSpPr>
          <p:nvPr>
            <p:ph type="body" sz="quarter" idx="11" hasCustomPrompt="1"/>
          </p:nvPr>
        </p:nvSpPr>
        <p:spPr>
          <a:xfrm>
            <a:off x="1309637" y="3328883"/>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r>
              <a:rPr lang="en-US" dirty="0">
                <a:solidFill>
                  <a:srgbClr val="000000"/>
                </a:solidFill>
                <a:latin typeface="+mn-lt"/>
                <a:ea typeface="Roboto Light" panose="02000000000000000000" pitchFamily="2" charset="0"/>
                <a:cs typeface="Arial Narrow" panose="020B0604020202020204" pitchFamily="34" charset="0"/>
              </a:rPr>
              <a:t>facebook.com/aarpxx</a:t>
            </a:r>
            <a:endParaRPr lang="en-US" dirty="0"/>
          </a:p>
        </p:txBody>
      </p:sp>
      <p:sp>
        <p:nvSpPr>
          <p:cNvPr id="29" name="Text Placeholder 3">
            <a:extLst>
              <a:ext uri="{FF2B5EF4-FFF2-40B4-BE49-F238E27FC236}">
                <a16:creationId xmlns:a16="http://schemas.microsoft.com/office/drawing/2014/main" id="{01868363-1B4C-4441-B9A4-30914D7B26B3}"/>
              </a:ext>
            </a:extLst>
          </p:cNvPr>
          <p:cNvSpPr>
            <a:spLocks noGrp="1"/>
          </p:cNvSpPr>
          <p:nvPr>
            <p:ph type="body" sz="quarter" idx="12" hasCustomPrompt="1"/>
          </p:nvPr>
        </p:nvSpPr>
        <p:spPr>
          <a:xfrm>
            <a:off x="1303287" y="1852841"/>
            <a:ext cx="4005262" cy="33773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20" dirty="0">
                <a:solidFill>
                  <a:srgbClr val="000000"/>
                </a:solidFill>
                <a:latin typeface="+mn-lt"/>
                <a:ea typeface="Roboto Light" panose="02000000000000000000" pitchFamily="2" charset="0"/>
                <a:cs typeface="Arial Narrow" panose="020B0604020202020204" pitchFamily="34" charset="0"/>
              </a:rPr>
              <a:t>name@</a:t>
            </a:r>
            <a:r>
              <a:rPr lang="en-US" sz="1998" dirty="0">
                <a:solidFill>
                  <a:srgbClr val="000000"/>
                </a:solidFill>
                <a:latin typeface="+mn-lt"/>
                <a:ea typeface="Roboto Light" panose="02000000000000000000" pitchFamily="2" charset="0"/>
                <a:cs typeface="Arial Narrow" panose="020B0604020202020204" pitchFamily="34" charset="0"/>
              </a:rPr>
              <a:t>aarp.org</a:t>
            </a:r>
            <a:endParaRPr lang="en-US" dirty="0"/>
          </a:p>
        </p:txBody>
      </p:sp>
      <p:sp>
        <p:nvSpPr>
          <p:cNvPr id="30" name="Text Placeholder 3">
            <a:extLst>
              <a:ext uri="{FF2B5EF4-FFF2-40B4-BE49-F238E27FC236}">
                <a16:creationId xmlns:a16="http://schemas.microsoft.com/office/drawing/2014/main" id="{3DB11D24-C039-7440-8CF5-0B2CF82B8544}"/>
              </a:ext>
            </a:extLst>
          </p:cNvPr>
          <p:cNvSpPr>
            <a:spLocks noGrp="1"/>
          </p:cNvSpPr>
          <p:nvPr>
            <p:ph type="body" sz="quarter" idx="13" hasCustomPrompt="1"/>
          </p:nvPr>
        </p:nvSpPr>
        <p:spPr>
          <a:xfrm>
            <a:off x="1309637" y="2253410"/>
            <a:ext cx="4005262" cy="355271"/>
          </a:xfrm>
        </p:spPr>
        <p:txBody>
          <a:bodyPr anchor="ctr"/>
          <a:lstStyle>
            <a:lvl1pPr marL="0" marR="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lang="en-US" sz="1998" spc="-20" baseline="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dirty="0" err="1">
                <a:solidFill>
                  <a:srgbClr val="000000"/>
                </a:solidFill>
                <a:latin typeface="+mn-lt"/>
                <a:ea typeface="Roboto Light" panose="02000000000000000000" pitchFamily="2" charset="0"/>
                <a:cs typeface="Arial Narrow" panose="020B0604020202020204" pitchFamily="34" charset="0"/>
              </a:rPr>
              <a:t>xxx.xxx.xxxx</a:t>
            </a:r>
            <a:endParaRPr lang="en-US" dirty="0">
              <a:solidFill>
                <a:srgbClr val="000000"/>
              </a:solidFill>
              <a:latin typeface="+mn-lt"/>
              <a:ea typeface="Roboto Light" panose="02000000000000000000" pitchFamily="2" charset="0"/>
              <a:cs typeface="Arial Narrow" panose="020B0604020202020204" pitchFamily="34" charset="0"/>
            </a:endParaRPr>
          </a:p>
        </p:txBody>
      </p:sp>
      <p:sp>
        <p:nvSpPr>
          <p:cNvPr id="35" name="Text Placeholder 3">
            <a:extLst>
              <a:ext uri="{FF2B5EF4-FFF2-40B4-BE49-F238E27FC236}">
                <a16:creationId xmlns:a16="http://schemas.microsoft.com/office/drawing/2014/main" id="{F3D73718-AC7E-1B4F-BD47-70D81C9D9193}"/>
              </a:ext>
            </a:extLst>
          </p:cNvPr>
          <p:cNvSpPr>
            <a:spLocks noGrp="1"/>
          </p:cNvSpPr>
          <p:nvPr>
            <p:ph type="body" sz="quarter" idx="14" hasCustomPrompt="1"/>
          </p:nvPr>
        </p:nvSpPr>
        <p:spPr>
          <a:xfrm>
            <a:off x="1303287" y="2670891"/>
            <a:ext cx="4005262" cy="355270"/>
          </a:xfrm>
        </p:spPr>
        <p:txBody>
          <a:bodyPr anchor="ctr"/>
          <a:lstStyle>
            <a:lvl1pPr marL="0" marR="0" indent="0" algn="l" defTabSz="685183" rtl="0" eaLnBrk="1" fontAlgn="auto" latinLnBrk="0" hangingPunct="1">
              <a:lnSpc>
                <a:spcPct val="100000"/>
              </a:lnSpc>
              <a:spcBef>
                <a:spcPts val="749"/>
              </a:spcBef>
              <a:spcAft>
                <a:spcPts val="0"/>
              </a:spcAft>
              <a:buClrTx/>
              <a:buSzTx/>
              <a:buFont typeface="Arial" panose="020B0604020202020204" pitchFamily="34" charset="0"/>
              <a:buNone/>
              <a:tabLst/>
              <a:defRPr lang="en-US" sz="1998" spc="-50" smtClean="0">
                <a:solidFill>
                  <a:srgbClr val="000000"/>
                </a:solidFill>
                <a:ea typeface="Roboto Light" panose="02000000000000000000" pitchFamily="2" charset="0"/>
                <a:cs typeface="Arial Narrow" panose="020B0604020202020204" pitchFamily="34" charset="0"/>
              </a:defRPr>
            </a:lvl1pPr>
          </a:lstStyle>
          <a:p>
            <a:pPr marL="0" marR="0" lvl="0" indent="0" algn="l" defTabSz="685183" rtl="0" eaLnBrk="1" fontAlgn="auto" latinLnBrk="0" hangingPunct="1">
              <a:lnSpc>
                <a:spcPct val="90000"/>
              </a:lnSpc>
              <a:spcBef>
                <a:spcPts val="749"/>
              </a:spcBef>
              <a:spcAft>
                <a:spcPts val="0"/>
              </a:spcAft>
              <a:buClrTx/>
              <a:buSzTx/>
              <a:buFont typeface="Arial" panose="020B0604020202020204" pitchFamily="34" charset="0"/>
              <a:buNone/>
              <a:tabLst/>
              <a:defRPr/>
            </a:pPr>
            <a:r>
              <a:rPr lang="en-US" sz="1998" spc="-50" dirty="0" err="1">
                <a:solidFill>
                  <a:srgbClr val="000000"/>
                </a:solidFill>
                <a:latin typeface="+mn-lt"/>
                <a:ea typeface="Roboto Light" panose="02000000000000000000" pitchFamily="2" charset="0"/>
                <a:cs typeface="Arial Narrow" panose="020B0604020202020204" pitchFamily="34" charset="0"/>
              </a:rPr>
              <a:t>aarp.org</a:t>
            </a:r>
            <a:r>
              <a:rPr lang="en-US" sz="1998" spc="-50" dirty="0">
                <a:solidFill>
                  <a:srgbClr val="000000"/>
                </a:solidFill>
                <a:latin typeface="+mn-lt"/>
                <a:ea typeface="Roboto Light" panose="02000000000000000000" pitchFamily="2" charset="0"/>
                <a:cs typeface="Arial Narrow" panose="020B0604020202020204" pitchFamily="34" charset="0"/>
              </a:rPr>
              <a:t>/xx</a:t>
            </a:r>
            <a:endParaRPr lang="en-US" dirty="0"/>
          </a:p>
        </p:txBody>
      </p:sp>
      <p:sp>
        <p:nvSpPr>
          <p:cNvPr id="2" name="Rectangle 1">
            <a:extLst>
              <a:ext uri="{FF2B5EF4-FFF2-40B4-BE49-F238E27FC236}">
                <a16:creationId xmlns:a16="http://schemas.microsoft.com/office/drawing/2014/main" id="{72AB592A-3FC2-B142-9E90-C34C7DEF1533}"/>
              </a:ext>
            </a:extLst>
          </p:cNvPr>
          <p:cNvSpPr/>
          <p:nvPr/>
        </p:nvSpPr>
        <p:spPr>
          <a:xfrm>
            <a:off x="377424" y="1153356"/>
            <a:ext cx="6460177" cy="523220"/>
          </a:xfrm>
          <a:prstGeom prst="rect">
            <a:avLst/>
          </a:prstGeom>
        </p:spPr>
        <p:txBody>
          <a:bodyPr wrap="square">
            <a:spAutoFit/>
          </a:bodyPr>
          <a:lstStyle/>
          <a:p>
            <a:r>
              <a:rPr lang="en-US" sz="2800" b="1" spc="-30" baseline="0" dirty="0">
                <a:solidFill>
                  <a:schemeClr val="tx2"/>
                </a:solidFill>
              </a:rPr>
              <a:t>Keep in Touch with Us</a:t>
            </a:r>
          </a:p>
        </p:txBody>
      </p:sp>
      <p:pic>
        <p:nvPicPr>
          <p:cNvPr id="15" name="Picture 14" descr="A drawing of a cartoon character&#10;&#10;Description automatically generated">
            <a:extLst>
              <a:ext uri="{FF2B5EF4-FFF2-40B4-BE49-F238E27FC236}">
                <a16:creationId xmlns:a16="http://schemas.microsoft.com/office/drawing/2014/main" id="{1E42DBE0-9309-9B41-80AB-BC5A74D8EE13}"/>
              </a:ext>
            </a:extLst>
          </p:cNvPr>
          <p:cNvPicPr>
            <a:picLocks noChangeAspect="1"/>
          </p:cNvPicPr>
          <p:nvPr/>
        </p:nvPicPr>
        <p:blipFill>
          <a:blip r:embed="rId2"/>
          <a:stretch>
            <a:fillRect/>
          </a:stretch>
        </p:blipFill>
        <p:spPr>
          <a:xfrm>
            <a:off x="871477" y="3746363"/>
            <a:ext cx="356140" cy="356140"/>
          </a:xfrm>
          <a:prstGeom prst="rect">
            <a:avLst/>
          </a:prstGeom>
        </p:spPr>
      </p:pic>
      <p:pic>
        <p:nvPicPr>
          <p:cNvPr id="16" name="Picture 15" descr="A drawing of a person&#10;&#10;Description automatically generated">
            <a:extLst>
              <a:ext uri="{FF2B5EF4-FFF2-40B4-BE49-F238E27FC236}">
                <a16:creationId xmlns:a16="http://schemas.microsoft.com/office/drawing/2014/main" id="{21DEBA30-513B-4046-8B55-E4431F969D6B}"/>
              </a:ext>
            </a:extLst>
          </p:cNvPr>
          <p:cNvPicPr>
            <a:picLocks noChangeAspect="1"/>
          </p:cNvPicPr>
          <p:nvPr/>
        </p:nvPicPr>
        <p:blipFill>
          <a:blip r:embed="rId3"/>
          <a:stretch>
            <a:fillRect/>
          </a:stretch>
        </p:blipFill>
        <p:spPr>
          <a:xfrm>
            <a:off x="871477" y="3328883"/>
            <a:ext cx="356141" cy="351262"/>
          </a:xfrm>
          <a:prstGeom prst="rect">
            <a:avLst/>
          </a:prstGeom>
        </p:spPr>
      </p:pic>
      <p:sp>
        <p:nvSpPr>
          <p:cNvPr id="13" name="Text Placeholder 7">
            <a:extLst>
              <a:ext uri="{FF2B5EF4-FFF2-40B4-BE49-F238E27FC236}">
                <a16:creationId xmlns:a16="http://schemas.microsoft.com/office/drawing/2014/main" id="{974575BB-6BD9-480C-91CD-4E5539375289}"/>
              </a:ext>
            </a:extLst>
          </p:cNvPr>
          <p:cNvSpPr txBox="1">
            <a:spLocks/>
          </p:cNvSpPr>
          <p:nvPr/>
        </p:nvSpPr>
        <p:spPr>
          <a:xfrm>
            <a:off x="378542" y="2236556"/>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Phone:</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
        <p:nvSpPr>
          <p:cNvPr id="14" name="Text Placeholder 7">
            <a:extLst>
              <a:ext uri="{FF2B5EF4-FFF2-40B4-BE49-F238E27FC236}">
                <a16:creationId xmlns:a16="http://schemas.microsoft.com/office/drawing/2014/main" id="{05D219DA-7683-42AC-B48F-207CB8759112}"/>
              </a:ext>
            </a:extLst>
          </p:cNvPr>
          <p:cNvSpPr txBox="1">
            <a:spLocks/>
          </p:cNvSpPr>
          <p:nvPr/>
        </p:nvSpPr>
        <p:spPr>
          <a:xfrm>
            <a:off x="378542" y="2656847"/>
            <a:ext cx="985870" cy="337731"/>
          </a:xfrm>
          <a:prstGeom prst="rect">
            <a:avLst/>
          </a:prstGeom>
        </p:spPr>
        <p:txBody>
          <a:bodyPr>
            <a:noAutofit/>
          </a:bodyPr>
          <a:lstStyle>
            <a:lvl1pPr marL="0" indent="0" algn="l" defTabSz="685800" rtl="0" eaLnBrk="1" latinLnBrk="0" hangingPunct="1">
              <a:lnSpc>
                <a:spcPts val="2440"/>
              </a:lnSpc>
              <a:spcBef>
                <a:spcPts val="0"/>
              </a:spcBef>
              <a:buFont typeface="Arial" panose="020B0604020202020204" pitchFamily="34" charset="0"/>
              <a:buNone/>
              <a:defRPr sz="2200" b="0" i="0" kern="1200" spc="0" baseline="0">
                <a:solidFill>
                  <a:schemeClr val="accent1"/>
                </a:solidFill>
                <a:latin typeface="Arial" panose="020B0604020202020204" pitchFamily="34" charset="0"/>
                <a:ea typeface="+mn-ea"/>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2200" b="0" i="0" kern="1200" spc="-30" baseline="0">
                <a:solidFill>
                  <a:schemeClr val="tx1"/>
                </a:solidFill>
                <a:latin typeface="Arial" panose="020B0604020202020204" pitchFamily="34" charset="0"/>
                <a:ea typeface="+mn-ea"/>
                <a:cs typeface="Arial" panose="020B0604020202020204" pitchFamily="34" charset="0"/>
              </a:defRPr>
            </a:lvl2pPr>
            <a:lvl3pPr marL="685800" indent="0" algn="l" defTabSz="685800" rtl="0" eaLnBrk="1" latinLnBrk="0" hangingPunct="1">
              <a:lnSpc>
                <a:spcPct val="90000"/>
              </a:lnSpc>
              <a:spcBef>
                <a:spcPts val="375"/>
              </a:spcBef>
              <a:buFont typeface="Arial" panose="020B0604020202020204" pitchFamily="34" charset="0"/>
              <a:buNone/>
              <a:defRPr sz="2000" b="0" i="0" kern="1200" spc="-30" baseline="0">
                <a:solidFill>
                  <a:schemeClr val="tx1"/>
                </a:solidFill>
                <a:latin typeface="Arial" panose="020B0604020202020204" pitchFamily="34" charset="0"/>
                <a:ea typeface="+mn-ea"/>
                <a:cs typeface="Arial" panose="020B0604020202020204" pitchFamily="34" charset="0"/>
              </a:defRPr>
            </a:lvl3pPr>
            <a:lvl4pPr marL="1028700" indent="0" algn="l" defTabSz="685800" rtl="0" eaLnBrk="1" latinLnBrk="0" hangingPunct="1">
              <a:lnSpc>
                <a:spcPct val="90000"/>
              </a:lnSpc>
              <a:spcBef>
                <a:spcPts val="375"/>
              </a:spcBef>
              <a:buFont typeface="Arial" panose="020B0604020202020204" pitchFamily="34" charset="0"/>
              <a:buNone/>
              <a:defRPr sz="1800" b="0" i="0" kern="1200" baseline="0">
                <a:solidFill>
                  <a:schemeClr val="tx1"/>
                </a:solidFill>
                <a:latin typeface="Arial" panose="020B0604020202020204" pitchFamily="34" charset="0"/>
                <a:ea typeface="+mn-ea"/>
                <a:cs typeface="Arial" panose="020B0604020202020204" pitchFamily="34"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a:solidFill>
                  <a:schemeClr val="tx1"/>
                </a:solidFill>
                <a:latin typeface="Avenir Book" panose="02000503020000020003"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Web:</a:t>
            </a:r>
          </a:p>
          <a:p>
            <a:pPr>
              <a:tabLst>
                <a:tab pos="796208" algn="r"/>
                <a:tab pos="964331" algn="l"/>
              </a:tabLst>
            </a:pPr>
            <a:r>
              <a:rPr lang="en-US" sz="2000" spc="-20" dirty="0">
                <a:solidFill>
                  <a:srgbClr val="000000"/>
                </a:solidFill>
                <a:latin typeface="+mn-lt"/>
                <a:ea typeface="Roboto Light" panose="02000000000000000000" pitchFamily="2" charset="0"/>
                <a:cs typeface="Arial Narrow" panose="020B0604020202020204" pitchFamily="34" charset="0"/>
              </a:rPr>
              <a:t>	</a:t>
            </a:r>
          </a:p>
        </p:txBody>
      </p:sp>
      <p:sp>
        <p:nvSpPr>
          <p:cNvPr id="17" name="Picture Placeholder 2">
            <a:extLst>
              <a:ext uri="{FF2B5EF4-FFF2-40B4-BE49-F238E27FC236}">
                <a16:creationId xmlns:a16="http://schemas.microsoft.com/office/drawing/2014/main" id="{BD068B63-186F-498D-8C82-4F0453DFC5B6}"/>
              </a:ext>
            </a:extLst>
          </p:cNvPr>
          <p:cNvSpPr>
            <a:spLocks noGrp="1"/>
          </p:cNvSpPr>
          <p:nvPr>
            <p:ph type="pic" sz="quarter" idx="15" hasCustomPrompt="1"/>
          </p:nvPr>
        </p:nvSpPr>
        <p:spPr>
          <a:xfrm>
            <a:off x="487979" y="175524"/>
            <a:ext cx="2297980" cy="639959"/>
          </a:xfrm>
        </p:spPr>
        <p:txBody>
          <a:bodyPr>
            <a:normAutofit/>
          </a:bodyPr>
          <a:lstStyle>
            <a:lvl1pPr marL="0" indent="0">
              <a:buNone/>
              <a:defRPr sz="1400"/>
            </a:lvl1pPr>
          </a:lstStyle>
          <a:p>
            <a:r>
              <a:rPr lang="en-US" dirty="0"/>
              <a:t>Insert AARP State Logo</a:t>
            </a:r>
          </a:p>
        </p:txBody>
      </p:sp>
    </p:spTree>
    <p:extLst>
      <p:ext uri="{BB962C8B-B14F-4D97-AF65-F5344CB8AC3E}">
        <p14:creationId xmlns:p14="http://schemas.microsoft.com/office/powerpoint/2010/main" val="16036408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hank You – AARP Logo">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44CF0-7EA6-3045-9869-7503EAFF27BF}"/>
              </a:ext>
            </a:extLst>
          </p:cNvPr>
          <p:cNvSpPr/>
          <p:nvPr/>
        </p:nvSpPr>
        <p:spPr>
          <a:xfrm>
            <a:off x="345518" y="2055540"/>
            <a:ext cx="3660169" cy="923330"/>
          </a:xfrm>
          <a:prstGeom prst="rect">
            <a:avLst/>
          </a:prstGeom>
        </p:spPr>
        <p:txBody>
          <a:bodyPr wrap="none">
            <a:spAutoFit/>
          </a:bodyPr>
          <a:lstStyle/>
          <a:p>
            <a:r>
              <a:rPr lang="en-US" sz="5400" b="1" spc="-100" baseline="0" dirty="0">
                <a:solidFill>
                  <a:schemeClr val="bg1"/>
                </a:solidFill>
              </a:rPr>
              <a:t>Thank You</a:t>
            </a:r>
          </a:p>
        </p:txBody>
      </p:sp>
      <p:sp>
        <p:nvSpPr>
          <p:cNvPr id="4" name="Rectangle 3">
            <a:extLst>
              <a:ext uri="{FF2B5EF4-FFF2-40B4-BE49-F238E27FC236}">
                <a16:creationId xmlns:a16="http://schemas.microsoft.com/office/drawing/2014/main" id="{4AF6EB94-8EB9-5D4E-A3B7-7FBD87ED61E6}"/>
              </a:ext>
            </a:extLst>
          </p:cNvPr>
          <p:cNvSpPr/>
          <p:nvPr/>
        </p:nvSpPr>
        <p:spPr>
          <a:xfrm>
            <a:off x="449594" y="2868852"/>
            <a:ext cx="3095719" cy="646331"/>
          </a:xfrm>
          <a:prstGeom prst="rect">
            <a:avLst/>
          </a:prstGeom>
        </p:spPr>
        <p:txBody>
          <a:bodyPr wrap="none">
            <a:spAutoFit/>
          </a:bodyPr>
          <a:lstStyle/>
          <a:p>
            <a:pPr lvl="0"/>
            <a:r>
              <a:rPr lang="en-US" sz="3600" spc="-20" baseline="0" dirty="0">
                <a:solidFill>
                  <a:schemeClr val="bg1"/>
                </a:solidFill>
              </a:rPr>
              <a:t>for Joining Us!</a:t>
            </a:r>
          </a:p>
        </p:txBody>
      </p:sp>
      <p:pic>
        <p:nvPicPr>
          <p:cNvPr id="5" name="Picture 4" descr="A picture containing drawing&#10;&#10;Description automatically generated">
            <a:extLst>
              <a:ext uri="{FF2B5EF4-FFF2-40B4-BE49-F238E27FC236}">
                <a16:creationId xmlns:a16="http://schemas.microsoft.com/office/drawing/2014/main" id="{C2D550AF-CD8F-4A77-8FD7-F1F4C0D757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9594" y="445960"/>
            <a:ext cx="1156915" cy="237722"/>
          </a:xfrm>
          <a:prstGeom prst="rect">
            <a:avLst/>
          </a:prstGeom>
        </p:spPr>
      </p:pic>
      <p:sp>
        <p:nvSpPr>
          <p:cNvPr id="7" name="Rectangle 6">
            <a:extLst>
              <a:ext uri="{FF2B5EF4-FFF2-40B4-BE49-F238E27FC236}">
                <a16:creationId xmlns:a16="http://schemas.microsoft.com/office/drawing/2014/main" id="{074D9DCD-A892-29BB-43FD-033DEFC8400A}"/>
              </a:ext>
            </a:extLst>
          </p:cNvPr>
          <p:cNvSpPr/>
          <p:nvPr userDrawn="1"/>
        </p:nvSpPr>
        <p:spPr>
          <a:xfrm>
            <a:off x="345518" y="2055540"/>
            <a:ext cx="3660169" cy="923330"/>
          </a:xfrm>
          <a:prstGeom prst="rect">
            <a:avLst/>
          </a:prstGeom>
        </p:spPr>
        <p:txBody>
          <a:bodyPr wrap="none">
            <a:spAutoFit/>
          </a:bodyPr>
          <a:lstStyle/>
          <a:p>
            <a:r>
              <a:rPr lang="en-US" sz="5400" b="1" spc="-100" baseline="0" dirty="0">
                <a:solidFill>
                  <a:schemeClr val="bg1"/>
                </a:solidFill>
              </a:rPr>
              <a:t>Thank You</a:t>
            </a:r>
          </a:p>
        </p:txBody>
      </p:sp>
      <p:sp>
        <p:nvSpPr>
          <p:cNvPr id="8" name="Rectangle 7">
            <a:extLst>
              <a:ext uri="{FF2B5EF4-FFF2-40B4-BE49-F238E27FC236}">
                <a16:creationId xmlns:a16="http://schemas.microsoft.com/office/drawing/2014/main" id="{2B908BB3-3063-1A6B-9B67-A46991961B3A}"/>
              </a:ext>
            </a:extLst>
          </p:cNvPr>
          <p:cNvSpPr/>
          <p:nvPr userDrawn="1"/>
        </p:nvSpPr>
        <p:spPr>
          <a:xfrm>
            <a:off x="449594" y="2868852"/>
            <a:ext cx="3095719" cy="646331"/>
          </a:xfrm>
          <a:prstGeom prst="rect">
            <a:avLst/>
          </a:prstGeom>
        </p:spPr>
        <p:txBody>
          <a:bodyPr wrap="none">
            <a:spAutoFit/>
          </a:bodyPr>
          <a:lstStyle/>
          <a:p>
            <a:pPr lvl="0"/>
            <a:r>
              <a:rPr lang="en-US" sz="3600" spc="-20" baseline="0" dirty="0">
                <a:solidFill>
                  <a:schemeClr val="bg1"/>
                </a:solidFill>
              </a:rPr>
              <a:t>for Joining Us!</a:t>
            </a:r>
          </a:p>
        </p:txBody>
      </p:sp>
    </p:spTree>
    <p:extLst>
      <p:ext uri="{BB962C8B-B14F-4D97-AF65-F5344CB8AC3E}">
        <p14:creationId xmlns:p14="http://schemas.microsoft.com/office/powerpoint/2010/main" val="42792266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hank You – State Logo">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44CF0-7EA6-3045-9869-7503EAFF27BF}"/>
              </a:ext>
            </a:extLst>
          </p:cNvPr>
          <p:cNvSpPr/>
          <p:nvPr/>
        </p:nvSpPr>
        <p:spPr>
          <a:xfrm>
            <a:off x="345518" y="2055540"/>
            <a:ext cx="3660169" cy="923330"/>
          </a:xfrm>
          <a:prstGeom prst="rect">
            <a:avLst/>
          </a:prstGeom>
        </p:spPr>
        <p:txBody>
          <a:bodyPr wrap="none">
            <a:spAutoFit/>
          </a:bodyPr>
          <a:lstStyle/>
          <a:p>
            <a:r>
              <a:rPr lang="en-US" sz="5400" b="1" spc="-100" baseline="0" dirty="0">
                <a:solidFill>
                  <a:schemeClr val="bg1"/>
                </a:solidFill>
              </a:rPr>
              <a:t>Thank You</a:t>
            </a:r>
          </a:p>
        </p:txBody>
      </p:sp>
      <p:sp>
        <p:nvSpPr>
          <p:cNvPr id="4" name="Rectangle 3">
            <a:extLst>
              <a:ext uri="{FF2B5EF4-FFF2-40B4-BE49-F238E27FC236}">
                <a16:creationId xmlns:a16="http://schemas.microsoft.com/office/drawing/2014/main" id="{4AF6EB94-8EB9-5D4E-A3B7-7FBD87ED61E6}"/>
              </a:ext>
            </a:extLst>
          </p:cNvPr>
          <p:cNvSpPr/>
          <p:nvPr/>
        </p:nvSpPr>
        <p:spPr>
          <a:xfrm>
            <a:off x="457028" y="2868852"/>
            <a:ext cx="3095719" cy="646331"/>
          </a:xfrm>
          <a:prstGeom prst="rect">
            <a:avLst/>
          </a:prstGeom>
        </p:spPr>
        <p:txBody>
          <a:bodyPr wrap="none">
            <a:spAutoFit/>
          </a:bodyPr>
          <a:lstStyle/>
          <a:p>
            <a:pPr lvl="0"/>
            <a:r>
              <a:rPr lang="en-US" sz="3600" spc="-20" baseline="0" dirty="0">
                <a:solidFill>
                  <a:schemeClr val="bg1"/>
                </a:solidFill>
              </a:rPr>
              <a:t>for Joining Us!</a:t>
            </a:r>
          </a:p>
        </p:txBody>
      </p:sp>
      <p:sp>
        <p:nvSpPr>
          <p:cNvPr id="5" name="Picture Placeholder 2">
            <a:extLst>
              <a:ext uri="{FF2B5EF4-FFF2-40B4-BE49-F238E27FC236}">
                <a16:creationId xmlns:a16="http://schemas.microsoft.com/office/drawing/2014/main" id="{81CF8699-1E91-6149-8BA0-4E9255914330}"/>
              </a:ext>
            </a:extLst>
          </p:cNvPr>
          <p:cNvSpPr>
            <a:spLocks noGrp="1"/>
          </p:cNvSpPr>
          <p:nvPr>
            <p:ph type="pic" sz="quarter" idx="10" hasCustomPrompt="1"/>
          </p:nvPr>
        </p:nvSpPr>
        <p:spPr>
          <a:xfrm>
            <a:off x="482642" y="635554"/>
            <a:ext cx="1381125" cy="701675"/>
          </a:xfrm>
        </p:spPr>
        <p:txBody>
          <a:bodyPr>
            <a:normAutofit/>
          </a:bodyPr>
          <a:lstStyle>
            <a:lvl1pPr marL="0" indent="0">
              <a:buNone/>
              <a:defRPr sz="1400"/>
            </a:lvl1pPr>
          </a:lstStyle>
          <a:p>
            <a:r>
              <a:rPr lang="en-US" dirty="0"/>
              <a:t>Insert AARP State Logo</a:t>
            </a:r>
          </a:p>
        </p:txBody>
      </p:sp>
      <p:sp>
        <p:nvSpPr>
          <p:cNvPr id="6" name="Rectangle 5">
            <a:extLst>
              <a:ext uri="{FF2B5EF4-FFF2-40B4-BE49-F238E27FC236}">
                <a16:creationId xmlns:a16="http://schemas.microsoft.com/office/drawing/2014/main" id="{B4F7674F-A2CC-4100-B763-723F03C5D5F3}"/>
              </a:ext>
            </a:extLst>
          </p:cNvPr>
          <p:cNvSpPr/>
          <p:nvPr userDrawn="1"/>
        </p:nvSpPr>
        <p:spPr>
          <a:xfrm>
            <a:off x="345518" y="2055540"/>
            <a:ext cx="3660169" cy="923330"/>
          </a:xfrm>
          <a:prstGeom prst="rect">
            <a:avLst/>
          </a:prstGeom>
        </p:spPr>
        <p:txBody>
          <a:bodyPr wrap="none">
            <a:spAutoFit/>
          </a:bodyPr>
          <a:lstStyle/>
          <a:p>
            <a:r>
              <a:rPr lang="en-US" sz="5400" b="1" spc="-100" baseline="0" dirty="0">
                <a:solidFill>
                  <a:schemeClr val="bg1"/>
                </a:solidFill>
              </a:rPr>
              <a:t>Thank You</a:t>
            </a:r>
          </a:p>
        </p:txBody>
      </p:sp>
      <p:sp>
        <p:nvSpPr>
          <p:cNvPr id="7" name="Rectangle 6">
            <a:extLst>
              <a:ext uri="{FF2B5EF4-FFF2-40B4-BE49-F238E27FC236}">
                <a16:creationId xmlns:a16="http://schemas.microsoft.com/office/drawing/2014/main" id="{DBDD9D3F-3C44-1A8B-AD4D-9849E5A7325E}"/>
              </a:ext>
            </a:extLst>
          </p:cNvPr>
          <p:cNvSpPr/>
          <p:nvPr userDrawn="1"/>
        </p:nvSpPr>
        <p:spPr>
          <a:xfrm>
            <a:off x="457028" y="2868852"/>
            <a:ext cx="3095719" cy="646331"/>
          </a:xfrm>
          <a:prstGeom prst="rect">
            <a:avLst/>
          </a:prstGeom>
        </p:spPr>
        <p:txBody>
          <a:bodyPr wrap="none">
            <a:spAutoFit/>
          </a:bodyPr>
          <a:lstStyle/>
          <a:p>
            <a:pPr lvl="0"/>
            <a:r>
              <a:rPr lang="en-US" sz="3600" spc="-20" baseline="0" dirty="0">
                <a:solidFill>
                  <a:schemeClr val="bg1"/>
                </a:solidFill>
              </a:rPr>
              <a:t>for Joining Us!</a:t>
            </a:r>
          </a:p>
        </p:txBody>
      </p:sp>
    </p:spTree>
    <p:extLst>
      <p:ext uri="{BB962C8B-B14F-4D97-AF65-F5344CB8AC3E}">
        <p14:creationId xmlns:p14="http://schemas.microsoft.com/office/powerpoint/2010/main" val="5512858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Blank with page number">
    <p:bg>
      <p:bgPr>
        <a:solidFill>
          <a:schemeClr val="bg1"/>
        </a:solid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59C462CA-0DE9-45B5-B728-B61E61A0E48C}"/>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3" name="Slide Number Placeholder 7">
            <a:extLst>
              <a:ext uri="{FF2B5EF4-FFF2-40B4-BE49-F238E27FC236}">
                <a16:creationId xmlns:a16="http://schemas.microsoft.com/office/drawing/2014/main" id="{DC2415D5-25FD-58E3-B5AE-B86F0A621EF5}"/>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Tree>
    <p:extLst>
      <p:ext uri="{BB962C8B-B14F-4D97-AF65-F5344CB8AC3E}">
        <p14:creationId xmlns:p14="http://schemas.microsoft.com/office/powerpoint/2010/main" val="28556179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ullet Text - AARP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749433"/>
            <a:ext cx="6518635" cy="507651"/>
          </a:xfrm>
        </p:spPr>
        <p:txBody>
          <a:bodyPr>
            <a:noAutofit/>
          </a:bodyPr>
          <a:lstStyle>
            <a:lvl1pPr algn="l">
              <a:defRPr sz="2800" b="1" spc="-30" baseline="0">
                <a:solidFill>
                  <a:schemeClr val="tx2"/>
                </a:solidFill>
              </a:defRPr>
            </a:lvl1pPr>
          </a:lstStyle>
          <a:p>
            <a:r>
              <a:rPr lang="en-US" dirty="0"/>
              <a:t>Add Title 28 </a:t>
            </a:r>
            <a:r>
              <a:rPr lang="en-US" dirty="0" err="1"/>
              <a:t>pt</a:t>
            </a:r>
            <a:endParaRPr lang="en-US" dirty="0"/>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4739229"/>
            <a:ext cx="1323025" cy="271854"/>
          </a:xfrm>
          <a:prstGeom prst="rect">
            <a:avLst/>
          </a:prstGeom>
        </p:spPr>
      </p:pic>
      <p:sp>
        <p:nvSpPr>
          <p:cNvPr id="6" name="Slide Number Placeholder 7">
            <a:extLst>
              <a:ext uri="{FF2B5EF4-FFF2-40B4-BE49-F238E27FC236}">
                <a16:creationId xmlns:a16="http://schemas.microsoft.com/office/drawing/2014/main" id="{B0A7B39C-6D33-CA40-BC21-658D76AED443}"/>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5" name="Text Placeholder 4">
            <a:extLst>
              <a:ext uri="{FF2B5EF4-FFF2-40B4-BE49-F238E27FC236}">
                <a16:creationId xmlns:a16="http://schemas.microsoft.com/office/drawing/2014/main" id="{78C0C067-CE1A-804E-91EE-BA47614A3DA4}"/>
              </a:ext>
            </a:extLst>
          </p:cNvPr>
          <p:cNvSpPr>
            <a:spLocks noGrp="1"/>
          </p:cNvSpPr>
          <p:nvPr>
            <p:ph type="body" sz="quarter" idx="10" hasCustomPrompt="1"/>
          </p:nvPr>
        </p:nvSpPr>
        <p:spPr>
          <a:xfrm>
            <a:off x="457200" y="1397708"/>
            <a:ext cx="6518275"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pic>
        <p:nvPicPr>
          <p:cNvPr id="10" name="Picture 9" descr="A picture containing drawing&#10;&#10;Description automatically generated">
            <a:extLst>
              <a:ext uri="{FF2B5EF4-FFF2-40B4-BE49-F238E27FC236}">
                <a16:creationId xmlns:a16="http://schemas.microsoft.com/office/drawing/2014/main" id="{05959E26-E383-8746-8325-E1430F09D0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33079047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ullet Text – Red AARP Log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54013"/>
            <a:ext cx="6518635" cy="507651"/>
          </a:xfrm>
        </p:spPr>
        <p:txBody>
          <a:bodyPr>
            <a:noAutofit/>
          </a:bodyPr>
          <a:lstStyle>
            <a:lvl1pPr algn="l">
              <a:defRPr sz="2800" b="1" spc="-30" baseline="0">
                <a:solidFill>
                  <a:schemeClr val="bg1"/>
                </a:solidFill>
              </a:defRPr>
            </a:lvl1pPr>
          </a:lstStyle>
          <a:p>
            <a:r>
              <a:rPr lang="en-US" dirty="0"/>
              <a:t>Add Title 28 </a:t>
            </a:r>
            <a:r>
              <a:rPr lang="en-US" dirty="0" err="1"/>
              <a:t>pt</a:t>
            </a:r>
            <a:endParaRPr lang="en-US" dirty="0"/>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dirty="0"/>
          </a:p>
        </p:txBody>
      </p:sp>
      <p:pic>
        <p:nvPicPr>
          <p:cNvPr id="8" name="Picture 7" descr="A picture containing drawing&#10;&#10;Description automatically generated">
            <a:extLst>
              <a:ext uri="{FF2B5EF4-FFF2-40B4-BE49-F238E27FC236}">
                <a16:creationId xmlns:a16="http://schemas.microsoft.com/office/drawing/2014/main" id="{6E93EBCD-ED32-234B-8C6D-919854DDD6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208238"/>
            <a:ext cx="1156915" cy="237722"/>
          </a:xfrm>
          <a:prstGeom prst="rect">
            <a:avLst/>
          </a:prstGeom>
        </p:spPr>
      </p:pic>
      <p:sp>
        <p:nvSpPr>
          <p:cNvPr id="6" name="Text Placeholder 4">
            <a:extLst>
              <a:ext uri="{FF2B5EF4-FFF2-40B4-BE49-F238E27FC236}">
                <a16:creationId xmlns:a16="http://schemas.microsoft.com/office/drawing/2014/main" id="{5333833B-5017-1F4F-B8C7-0FC53207AFED}"/>
              </a:ext>
            </a:extLst>
          </p:cNvPr>
          <p:cNvSpPr>
            <a:spLocks noGrp="1"/>
          </p:cNvSpPr>
          <p:nvPr>
            <p:ph type="body" sz="quarter" idx="10" hasCustomPrompt="1"/>
          </p:nvPr>
        </p:nvSpPr>
        <p:spPr>
          <a:xfrm>
            <a:off x="457200" y="1302288"/>
            <a:ext cx="6518275" cy="3394075"/>
          </a:xfrm>
        </p:spPr>
        <p:txBody>
          <a:bodyPr>
            <a:normAutofit/>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053857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ullet Text – Pink AARP Logo">
    <p:bg>
      <p:bgPr>
        <a:solidFill>
          <a:schemeClr val="accent2"/>
        </a:solidFill>
        <a:effectLst/>
      </p:bgPr>
    </p:bg>
    <p:spTree>
      <p:nvGrpSpPr>
        <p:cNvPr id="1" name=""/>
        <p:cNvGrpSpPr/>
        <p:nvPr/>
      </p:nvGrpSpPr>
      <p:grpSpPr>
        <a:xfrm>
          <a:off x="0" y="0"/>
          <a:ext cx="0" cy="0"/>
          <a:chOff x="0" y="0"/>
          <a:chExt cx="0" cy="0"/>
        </a:xfrm>
      </p:grpSpPr>
      <p:sp>
        <p:nvSpPr>
          <p:cNvPr id="6" name="Slide Number Placeholder 7">
            <a:extLst>
              <a:ext uri="{FF2B5EF4-FFF2-40B4-BE49-F238E27FC236}">
                <a16:creationId xmlns:a16="http://schemas.microsoft.com/office/drawing/2014/main" id="{EC275C30-1A3A-8E78-D436-715204E8206A}"/>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7" name="Title 1">
            <a:extLst>
              <a:ext uri="{FF2B5EF4-FFF2-40B4-BE49-F238E27FC236}">
                <a16:creationId xmlns:a16="http://schemas.microsoft.com/office/drawing/2014/main" id="{54E151E4-2F9C-C651-383E-A45E5B25A83E}"/>
              </a:ext>
            </a:extLst>
          </p:cNvPr>
          <p:cNvSpPr>
            <a:spLocks noGrp="1"/>
          </p:cNvSpPr>
          <p:nvPr>
            <p:ph type="title" hasCustomPrompt="1"/>
          </p:nvPr>
        </p:nvSpPr>
        <p:spPr>
          <a:xfrm>
            <a:off x="457200" y="343913"/>
            <a:ext cx="7852347" cy="507651"/>
          </a:xfrm>
        </p:spPr>
        <p:txBody>
          <a:bodyPr>
            <a:no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9" name="Text Placeholder 4">
            <a:extLst>
              <a:ext uri="{FF2B5EF4-FFF2-40B4-BE49-F238E27FC236}">
                <a16:creationId xmlns:a16="http://schemas.microsoft.com/office/drawing/2014/main" id="{C9C3AED3-F00A-51D5-B882-F9A8CE505F74}"/>
              </a:ext>
            </a:extLst>
          </p:cNvPr>
          <p:cNvSpPr>
            <a:spLocks noGrp="1"/>
          </p:cNvSpPr>
          <p:nvPr>
            <p:ph type="body" sz="quarter" idx="10" hasCustomPrompt="1"/>
          </p:nvPr>
        </p:nvSpPr>
        <p:spPr>
          <a:xfrm>
            <a:off x="457200" y="992188"/>
            <a:ext cx="7851913" cy="3394075"/>
          </a:xfrm>
        </p:spPr>
        <p:txBody>
          <a:bodyPr/>
          <a:lstStyle>
            <a:lvl1pPr marL="230188" indent="-230188">
              <a:tabLst/>
              <a:defRPr sz="2400" spc="-10" baseline="0"/>
            </a:lvl1pPr>
            <a:lvl2pPr marL="571500" indent="-282575">
              <a:tabLst/>
              <a:defRPr sz="2200" spc="-10" baseline="0"/>
            </a:lvl2pPr>
            <a:lvl3pPr marL="860425" indent="-230188">
              <a:tabLst/>
              <a:defRPr sz="2200" spc="-10" baseline="0"/>
            </a:lvl3pPr>
            <a:lvl4pPr marL="1090613" indent="-230188">
              <a:tabLst/>
              <a:defRPr sz="2200" spc="-10" baseline="0"/>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4140019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ullet Text – Salmon AARP Logo">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38111"/>
            <a:ext cx="6518635" cy="507651"/>
          </a:xfrm>
        </p:spPr>
        <p:txBody>
          <a:bodyPr>
            <a:noAutofit/>
          </a:bodyPr>
          <a:lstStyle>
            <a:lvl1pPr algn="l">
              <a:defRPr sz="2800" b="1" spc="-30" baseline="0">
                <a:solidFill>
                  <a:schemeClr val="accent6"/>
                </a:solidFill>
              </a:defRPr>
            </a:lvl1pPr>
          </a:lstStyle>
          <a:p>
            <a:r>
              <a:rPr lang="en-US" dirty="0"/>
              <a:t>Add Title 28 </a:t>
            </a:r>
            <a:r>
              <a:rPr lang="en-US" dirty="0" err="1"/>
              <a:t>pt</a:t>
            </a:r>
            <a:endParaRPr lang="en-US" dirty="0"/>
          </a:p>
        </p:txBody>
      </p:sp>
      <p:sp>
        <p:nvSpPr>
          <p:cNvPr id="7"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pPr/>
              <a:t>‹#›</a:t>
            </a:fld>
            <a:endParaRPr lang="en-US" dirty="0"/>
          </a:p>
        </p:txBody>
      </p:sp>
      <p:sp>
        <p:nvSpPr>
          <p:cNvPr id="9" name="Text Placeholder 4">
            <a:extLst>
              <a:ext uri="{FF2B5EF4-FFF2-40B4-BE49-F238E27FC236}">
                <a16:creationId xmlns:a16="http://schemas.microsoft.com/office/drawing/2014/main" id="{D2CB997B-D680-5049-82CB-3A19A2889E49}"/>
              </a:ext>
            </a:extLst>
          </p:cNvPr>
          <p:cNvSpPr>
            <a:spLocks noGrp="1"/>
          </p:cNvSpPr>
          <p:nvPr>
            <p:ph type="body" sz="quarter" idx="11" hasCustomPrompt="1"/>
          </p:nvPr>
        </p:nvSpPr>
        <p:spPr>
          <a:xfrm>
            <a:off x="457200" y="1275234"/>
            <a:ext cx="6518275" cy="3394075"/>
          </a:xfrm>
        </p:spPr>
        <p:txBody>
          <a:bodyPr/>
          <a:lstStyle>
            <a:lvl1pPr marL="230188" indent="-230188">
              <a:tabLst/>
              <a:defRPr sz="2400" spc="-10" baseline="0">
                <a:solidFill>
                  <a:schemeClr val="bg1"/>
                </a:solidFill>
              </a:defRPr>
            </a:lvl1pPr>
            <a:lvl2pPr marL="519113" indent="-288925">
              <a:tabLst/>
              <a:defRPr sz="2200" spc="-10" baseline="0">
                <a:solidFill>
                  <a:schemeClr val="bg1"/>
                </a:solidFill>
              </a:defRPr>
            </a:lvl2pPr>
            <a:lvl3pPr marL="749300" indent="-230188">
              <a:tabLst/>
              <a:defRPr sz="2200" spc="-10" baseline="0">
                <a:solidFill>
                  <a:schemeClr val="bg1"/>
                </a:solidFill>
              </a:defRPr>
            </a:lvl3pPr>
            <a:lvl4pPr marL="1031875" indent="-282575">
              <a:tabLst/>
              <a:defRPr sz="2200" spc="-10" baseline="0">
                <a:solidFill>
                  <a:schemeClr val="bg1"/>
                </a:solidFill>
              </a:defRPr>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pic>
        <p:nvPicPr>
          <p:cNvPr id="10" name="Picture 9" descr="A picture containing drawing&#10;&#10;Description automatically generated">
            <a:extLst>
              <a:ext uri="{FF2B5EF4-FFF2-40B4-BE49-F238E27FC236}">
                <a16:creationId xmlns:a16="http://schemas.microsoft.com/office/drawing/2014/main" id="{65FA6744-F100-664C-B18F-1AB36234819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 y="208238"/>
            <a:ext cx="1156915" cy="237722"/>
          </a:xfrm>
          <a:prstGeom prst="rect">
            <a:avLst/>
          </a:prstGeom>
        </p:spPr>
      </p:pic>
    </p:spTree>
    <p:extLst>
      <p:ext uri="{BB962C8B-B14F-4D97-AF65-F5344CB8AC3E}">
        <p14:creationId xmlns:p14="http://schemas.microsoft.com/office/powerpoint/2010/main" val="304490342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Photo – Logo">
    <p:spTree>
      <p:nvGrpSpPr>
        <p:cNvPr id="1" name=""/>
        <p:cNvGrpSpPr/>
        <p:nvPr/>
      </p:nvGrpSpPr>
      <p:grpSpPr>
        <a:xfrm>
          <a:off x="0" y="0"/>
          <a:ext cx="0" cy="0"/>
          <a:chOff x="0" y="0"/>
          <a:chExt cx="0" cy="0"/>
        </a:xfrm>
      </p:grpSpPr>
      <p:sp>
        <p:nvSpPr>
          <p:cNvPr id="11" name="Slide Number Placeholder 7"/>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385641" y="558598"/>
            <a:ext cx="7866685" cy="507651"/>
          </a:xfrm>
        </p:spPr>
        <p:txBody>
          <a:bodyPr>
            <a:noAutofit/>
          </a:bodyPr>
          <a:lstStyle>
            <a:lvl1pPr algn="l">
              <a:defRPr sz="2800" b="1" spc="-30" baseline="0">
                <a:solidFill>
                  <a:schemeClr val="tx2"/>
                </a:solidFill>
              </a:defRPr>
            </a:lvl1pPr>
          </a:lstStyle>
          <a:p>
            <a:r>
              <a:rPr lang="en-US" dirty="0"/>
              <a:t>Add Title 28 </a:t>
            </a:r>
            <a:r>
              <a:rPr lang="en-US" dirty="0" err="1"/>
              <a:t>pt</a:t>
            </a:r>
            <a:endParaRPr lang="en-US" dirty="0"/>
          </a:p>
        </p:txBody>
      </p:sp>
      <p:sp>
        <p:nvSpPr>
          <p:cNvPr id="4" name="Content Placeholder 3">
            <a:extLst>
              <a:ext uri="{FF2B5EF4-FFF2-40B4-BE49-F238E27FC236}">
                <a16:creationId xmlns:a16="http://schemas.microsoft.com/office/drawing/2014/main" id="{858522F9-8BBA-7E4E-83BB-F32530F429FC}"/>
              </a:ext>
            </a:extLst>
          </p:cNvPr>
          <p:cNvSpPr>
            <a:spLocks noGrp="1"/>
          </p:cNvSpPr>
          <p:nvPr>
            <p:ph sz="quarter" idx="11" hasCustomPrompt="1"/>
          </p:nvPr>
        </p:nvSpPr>
        <p:spPr>
          <a:xfrm>
            <a:off x="363352" y="1200523"/>
            <a:ext cx="7866251"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pic>
        <p:nvPicPr>
          <p:cNvPr id="9" name="Picture 8" descr="A picture containing drawing&#10;&#10;Description automatically generated">
            <a:extLst>
              <a:ext uri="{FF2B5EF4-FFF2-40B4-BE49-F238E27FC236}">
                <a16:creationId xmlns:a16="http://schemas.microsoft.com/office/drawing/2014/main" id="{15768FE2-3410-F244-9D6C-4163FE782E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7384028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lumn Photos –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78556"/>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5" name="Text Placeholder 4"/>
          <p:cNvSpPr>
            <a:spLocks noGrp="1"/>
          </p:cNvSpPr>
          <p:nvPr>
            <p:ph type="body" sz="quarter" idx="3" hasCustomPrompt="1"/>
          </p:nvPr>
        </p:nvSpPr>
        <p:spPr>
          <a:xfrm>
            <a:off x="4645026" y="1278556"/>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4" name="Text Placeholder 3">
            <a:extLst>
              <a:ext uri="{FF2B5EF4-FFF2-40B4-BE49-F238E27FC236}">
                <a16:creationId xmlns:a16="http://schemas.microsoft.com/office/drawing/2014/main" id="{410964E5-429F-ED45-A89B-C5C238E89434}"/>
              </a:ext>
            </a:extLst>
          </p:cNvPr>
          <p:cNvSpPr>
            <a:spLocks noGrp="1"/>
          </p:cNvSpPr>
          <p:nvPr>
            <p:ph type="body" sz="quarter" idx="14" hasCustomPrompt="1"/>
          </p:nvPr>
        </p:nvSpPr>
        <p:spPr>
          <a:xfrm>
            <a:off x="457200" y="648460"/>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3" name="Slide Number Placeholder 7">
            <a:extLst>
              <a:ext uri="{FF2B5EF4-FFF2-40B4-BE49-F238E27FC236}">
                <a16:creationId xmlns:a16="http://schemas.microsoft.com/office/drawing/2014/main" id="{647469C5-59BE-8A44-BABE-1BCBEF6AEA04}"/>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0" name="Content Placeholder 3">
            <a:extLst>
              <a:ext uri="{FF2B5EF4-FFF2-40B4-BE49-F238E27FC236}">
                <a16:creationId xmlns:a16="http://schemas.microsoft.com/office/drawing/2014/main" id="{23078687-3C95-5843-8872-1329721A0F1E}"/>
              </a:ext>
            </a:extLst>
          </p:cNvPr>
          <p:cNvSpPr>
            <a:spLocks noGrp="1"/>
          </p:cNvSpPr>
          <p:nvPr>
            <p:ph sz="quarter" idx="11" hasCustomPrompt="1"/>
          </p:nvPr>
        </p:nvSpPr>
        <p:spPr>
          <a:xfrm>
            <a:off x="457199" y="1803482"/>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
        <p:nvSpPr>
          <p:cNvPr id="11" name="Content Placeholder 3">
            <a:extLst>
              <a:ext uri="{FF2B5EF4-FFF2-40B4-BE49-F238E27FC236}">
                <a16:creationId xmlns:a16="http://schemas.microsoft.com/office/drawing/2014/main" id="{B90B8B19-C2C8-154D-BEBC-4C86D6424384}"/>
              </a:ext>
            </a:extLst>
          </p:cNvPr>
          <p:cNvSpPr>
            <a:spLocks noGrp="1"/>
          </p:cNvSpPr>
          <p:nvPr>
            <p:ph sz="quarter" idx="15" hasCustomPrompt="1"/>
          </p:nvPr>
        </p:nvSpPr>
        <p:spPr>
          <a:xfrm>
            <a:off x="4645024" y="1803482"/>
            <a:ext cx="4040189" cy="2889824"/>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pic>
        <p:nvPicPr>
          <p:cNvPr id="9" name="Picture 8" descr="A picture containing drawing&#10;&#10;Description automatically generated">
            <a:extLst>
              <a:ext uri="{FF2B5EF4-FFF2-40B4-BE49-F238E27FC236}">
                <a16:creationId xmlns:a16="http://schemas.microsoft.com/office/drawing/2014/main" id="{22D5666E-CC7C-3A42-B40D-8E2C35F7EB0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3428396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lumn Text – Logo">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01543" y="1238800"/>
            <a:ext cx="4040188"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5" name="Text Placeholder 4"/>
          <p:cNvSpPr>
            <a:spLocks noGrp="1"/>
          </p:cNvSpPr>
          <p:nvPr>
            <p:ph type="body" sz="quarter" idx="3" hasCustomPrompt="1"/>
          </p:nvPr>
        </p:nvSpPr>
        <p:spPr>
          <a:xfrm>
            <a:off x="4589369" y="1238800"/>
            <a:ext cx="4041775" cy="479822"/>
          </a:xfrm>
        </p:spPr>
        <p:txBody>
          <a:bodyPr anchor="b">
            <a:normAutofit/>
          </a:bodyPr>
          <a:lstStyle>
            <a:lvl1pPr marL="0" indent="0">
              <a:buNone/>
              <a:defRPr sz="2400" b="1" spc="-20" baseline="0">
                <a:solidFill>
                  <a:srgbClr val="EC13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 20-24 </a:t>
            </a:r>
            <a:r>
              <a:rPr lang="en-US" dirty="0" err="1"/>
              <a:t>pt</a:t>
            </a:r>
            <a:endParaRPr lang="en-US" dirty="0"/>
          </a:p>
        </p:txBody>
      </p:sp>
      <p:sp>
        <p:nvSpPr>
          <p:cNvPr id="4" name="Text Placeholder 3">
            <a:extLst>
              <a:ext uri="{FF2B5EF4-FFF2-40B4-BE49-F238E27FC236}">
                <a16:creationId xmlns:a16="http://schemas.microsoft.com/office/drawing/2014/main" id="{EC07FBF0-97CC-DD42-9748-15529A714E43}"/>
              </a:ext>
            </a:extLst>
          </p:cNvPr>
          <p:cNvSpPr>
            <a:spLocks noGrp="1"/>
          </p:cNvSpPr>
          <p:nvPr>
            <p:ph type="body" sz="quarter" idx="12" hasCustomPrompt="1"/>
          </p:nvPr>
        </p:nvSpPr>
        <p:spPr>
          <a:xfrm>
            <a:off x="387255" y="1762819"/>
            <a:ext cx="4040188" cy="2925763"/>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
        <p:nvSpPr>
          <p:cNvPr id="13" name="Text Placeholder 3">
            <a:extLst>
              <a:ext uri="{FF2B5EF4-FFF2-40B4-BE49-F238E27FC236}">
                <a16:creationId xmlns:a16="http://schemas.microsoft.com/office/drawing/2014/main" id="{025E100A-F4F4-0B4F-B4C6-14FA523D1415}"/>
              </a:ext>
            </a:extLst>
          </p:cNvPr>
          <p:cNvSpPr>
            <a:spLocks noGrp="1"/>
          </p:cNvSpPr>
          <p:nvPr>
            <p:ph type="body" sz="quarter" idx="13" hasCustomPrompt="1"/>
          </p:nvPr>
        </p:nvSpPr>
        <p:spPr>
          <a:xfrm>
            <a:off x="4589369" y="1762819"/>
            <a:ext cx="4040188" cy="2925763"/>
          </a:xfrm>
        </p:spPr>
        <p:txBody>
          <a:bodyPr>
            <a:normAutofit/>
          </a:bodyPr>
          <a:lstStyle>
            <a:lvl1pPr marL="230188" indent="-230188">
              <a:tabLst/>
              <a:defRPr sz="2000"/>
            </a:lvl1pPr>
            <a:lvl2pPr marL="457200" indent="0">
              <a:buNone/>
              <a:defRPr/>
            </a:lvl2pPr>
          </a:lstStyle>
          <a:p>
            <a:pPr lvl="0"/>
            <a:r>
              <a:rPr lang="en-US" dirty="0"/>
              <a:t>Click to add bullet text 20 </a:t>
            </a:r>
            <a:r>
              <a:rPr lang="en-US" dirty="0" err="1"/>
              <a:t>pt</a:t>
            </a:r>
            <a:endParaRPr lang="en-US" dirty="0"/>
          </a:p>
        </p:txBody>
      </p:sp>
      <p:sp>
        <p:nvSpPr>
          <p:cNvPr id="10" name="Text Placeholder 3">
            <a:extLst>
              <a:ext uri="{FF2B5EF4-FFF2-40B4-BE49-F238E27FC236}">
                <a16:creationId xmlns:a16="http://schemas.microsoft.com/office/drawing/2014/main" id="{8F9F467A-8E98-7346-B4E6-7FC87C735547}"/>
              </a:ext>
            </a:extLst>
          </p:cNvPr>
          <p:cNvSpPr>
            <a:spLocks noGrp="1"/>
          </p:cNvSpPr>
          <p:nvPr>
            <p:ph type="body" sz="quarter" idx="14" hasCustomPrompt="1"/>
          </p:nvPr>
        </p:nvSpPr>
        <p:spPr>
          <a:xfrm>
            <a:off x="401543" y="584850"/>
            <a:ext cx="8228013" cy="479822"/>
          </a:xfrm>
        </p:spPr>
        <p:txBody>
          <a:bodyPr>
            <a:noAutofit/>
          </a:bodyPr>
          <a:lstStyle>
            <a:lvl1pPr marL="0" indent="0">
              <a:buNone/>
              <a:defRPr sz="2800" b="1" i="0" spc="-30" baseline="0">
                <a:solidFill>
                  <a:srgbClr val="EC1300"/>
                </a:solidFill>
                <a:latin typeface="Arial" panose="020B0604020202020204" pitchFamily="34" charset="0"/>
                <a:cs typeface="Arial" panose="020B0604020202020204" pitchFamily="34" charset="0"/>
              </a:defRPr>
            </a:lvl1pPr>
            <a:lvl2pPr marL="457200" indent="0">
              <a:buNone/>
              <a:defRPr/>
            </a:lvl2pPr>
          </a:lstStyle>
          <a:p>
            <a:pPr lvl="0"/>
            <a:r>
              <a:rPr lang="en-US" dirty="0"/>
              <a:t>Add Title 28 </a:t>
            </a:r>
            <a:r>
              <a:rPr lang="en-US" dirty="0" err="1"/>
              <a:t>pt</a:t>
            </a:r>
            <a:endParaRPr lang="en-US" dirty="0"/>
          </a:p>
        </p:txBody>
      </p:sp>
      <p:sp>
        <p:nvSpPr>
          <p:cNvPr id="14" name="Slide Number Placeholder 7">
            <a:extLst>
              <a:ext uri="{FF2B5EF4-FFF2-40B4-BE49-F238E27FC236}">
                <a16:creationId xmlns:a16="http://schemas.microsoft.com/office/drawing/2014/main" id="{5A858944-1D8F-3B42-95E7-F085EA57C8C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pic>
        <p:nvPicPr>
          <p:cNvPr id="12" name="Picture 11" descr="A picture containing drawing&#10;&#10;Description automatically generated">
            <a:extLst>
              <a:ext uri="{FF2B5EF4-FFF2-40B4-BE49-F238E27FC236}">
                <a16:creationId xmlns:a16="http://schemas.microsoft.com/office/drawing/2014/main" id="{948FC9E1-FF56-A748-AE0F-0DD57ACD640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17332414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ic Left, Title&amp;Text Right – Logo">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EDFE468-84B4-B749-A8FB-46BED87288EE}"/>
              </a:ext>
            </a:extLst>
          </p:cNvPr>
          <p:cNvSpPr>
            <a:spLocks noGrp="1"/>
          </p:cNvSpPr>
          <p:nvPr>
            <p:ph type="title" hasCustomPrompt="1"/>
          </p:nvPr>
        </p:nvSpPr>
        <p:spPr>
          <a:xfrm>
            <a:off x="5403399" y="540690"/>
            <a:ext cx="3204891" cy="979382"/>
          </a:xfrm>
        </p:spPr>
        <p:txBody>
          <a:bodyPr anchor="b" anchorCtr="0">
            <a:norm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3" name="Text Placeholder 2">
            <a:extLst>
              <a:ext uri="{FF2B5EF4-FFF2-40B4-BE49-F238E27FC236}">
                <a16:creationId xmlns:a16="http://schemas.microsoft.com/office/drawing/2014/main" id="{ABDFBC2D-E460-A241-9C49-5441A1348CB8}"/>
              </a:ext>
            </a:extLst>
          </p:cNvPr>
          <p:cNvSpPr>
            <a:spLocks noGrp="1"/>
          </p:cNvSpPr>
          <p:nvPr>
            <p:ph type="body" sz="quarter" idx="10" hasCustomPrompt="1"/>
          </p:nvPr>
        </p:nvSpPr>
        <p:spPr>
          <a:xfrm>
            <a:off x="5403850" y="1689363"/>
            <a:ext cx="3204891" cy="3068637"/>
          </a:xfrm>
        </p:spPr>
        <p:txBody>
          <a:bodyPr/>
          <a:lstStyle>
            <a:lvl1pPr marL="230188" indent="-230188">
              <a:spcBef>
                <a:spcPts val="0"/>
              </a:spcBef>
              <a:tabLst/>
              <a:defRPr sz="2000" spc="-10" baseline="0"/>
            </a:lvl1pPr>
            <a:lvl2pPr>
              <a:spcBef>
                <a:spcPts val="200"/>
              </a:spcBef>
              <a:defRPr sz="1800" spc="-10" baseline="0"/>
            </a:lvl2pPr>
            <a:lvl3pPr>
              <a:defRPr sz="1800" spc="-10" baseline="0"/>
            </a:lvl3pPr>
            <a:lvl4pPr marL="1433513" indent="-230188">
              <a:spcBef>
                <a:spcPts val="200"/>
              </a:spcBef>
              <a:tabLst/>
              <a:defRPr sz="1800" spc="-10" baseline="0"/>
            </a:lvl4pPr>
          </a:lstStyle>
          <a:p>
            <a:pPr lvl="0"/>
            <a:r>
              <a:rPr lang="en-US" dirty="0"/>
              <a:t>Click to add bullet text 20 </a:t>
            </a:r>
            <a:r>
              <a:rPr lang="en-US" dirty="0" err="1"/>
              <a:t>pt</a:t>
            </a:r>
            <a:endParaRPr lang="en-US" dirty="0"/>
          </a:p>
          <a:p>
            <a:pPr lvl="1"/>
            <a:r>
              <a:rPr lang="en-US" dirty="0"/>
              <a:t>Second level</a:t>
            </a:r>
          </a:p>
          <a:p>
            <a:pPr lvl="2"/>
            <a:r>
              <a:rPr lang="en-US" dirty="0"/>
              <a:t>Third level</a:t>
            </a:r>
          </a:p>
          <a:p>
            <a:pPr lvl="3"/>
            <a:r>
              <a:rPr lang="en-US" dirty="0"/>
              <a:t>Fourth level</a:t>
            </a:r>
          </a:p>
        </p:txBody>
      </p:sp>
      <p:sp>
        <p:nvSpPr>
          <p:cNvPr id="13" name="Slide Number Placeholder 7">
            <a:extLst>
              <a:ext uri="{FF2B5EF4-FFF2-40B4-BE49-F238E27FC236}">
                <a16:creationId xmlns:a16="http://schemas.microsoft.com/office/drawing/2014/main" id="{11055843-417F-2944-9277-0FCEC3E2FAB2}"/>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7" name="Content Placeholder 3">
            <a:extLst>
              <a:ext uri="{FF2B5EF4-FFF2-40B4-BE49-F238E27FC236}">
                <a16:creationId xmlns:a16="http://schemas.microsoft.com/office/drawing/2014/main" id="{A050E5AB-616F-984D-ABBC-350C963FCD32}"/>
              </a:ext>
            </a:extLst>
          </p:cNvPr>
          <p:cNvSpPr>
            <a:spLocks noGrp="1"/>
          </p:cNvSpPr>
          <p:nvPr>
            <p:ph sz="quarter" idx="11" hasCustomPrompt="1"/>
          </p:nvPr>
        </p:nvSpPr>
        <p:spPr>
          <a:xfrm>
            <a:off x="389614" y="540690"/>
            <a:ext cx="4868959" cy="421731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pic>
        <p:nvPicPr>
          <p:cNvPr id="10" name="Picture 9" descr="A picture containing drawing&#10;&#10;Description automatically generated">
            <a:extLst>
              <a:ext uri="{FF2B5EF4-FFF2-40B4-BE49-F238E27FC236}">
                <a16:creationId xmlns:a16="http://schemas.microsoft.com/office/drawing/2014/main" id="{9D022FB8-0CFC-5C4F-9950-5B132D01AF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9634" y="182701"/>
            <a:ext cx="1125698" cy="231307"/>
          </a:xfrm>
          <a:prstGeom prst="rect">
            <a:avLst/>
          </a:prstGeom>
        </p:spPr>
      </p:pic>
    </p:spTree>
    <p:extLst>
      <p:ext uri="{BB962C8B-B14F-4D97-AF65-F5344CB8AC3E}">
        <p14:creationId xmlns:p14="http://schemas.microsoft.com/office/powerpoint/2010/main" val="1646632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onclusion - no logo">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p:nvSpPr>
        <p:spPr>
          <a:xfrm>
            <a:off x="6705600" y="481956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457200" y="274502"/>
            <a:ext cx="4779084" cy="4332830"/>
          </a:xfrm>
        </p:spPr>
        <p:txBody>
          <a:bodyPr>
            <a:normAutofit/>
          </a:bodyPr>
          <a:lstStyle>
            <a:lvl1pPr marL="0" indent="0">
              <a:buNone/>
              <a:defRPr sz="2400">
                <a:solidFill>
                  <a:schemeClr val="tx1">
                    <a:lumMod val="50000"/>
                    <a:lumOff val="50000"/>
                  </a:schemeClr>
                </a:solidFill>
              </a:defRPr>
            </a:lvl1pPr>
          </a:lstStyle>
          <a:p>
            <a:r>
              <a:rPr lang="en-US" dirty="0"/>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41021" y="1538288"/>
            <a:ext cx="3245780" cy="3068637"/>
          </a:xfrm>
        </p:spPr>
        <p:txBody>
          <a:bodyPr>
            <a:normAutofit/>
          </a:bodyPr>
          <a:lstStyle>
            <a:lvl1pPr marL="230188" indent="-230188">
              <a:tabLst/>
              <a:defRPr sz="2000">
                <a:solidFill>
                  <a:schemeClr val="tx1"/>
                </a:solidFill>
              </a:defRPr>
            </a:lvl1pPr>
          </a:lstStyle>
          <a:p>
            <a:r>
              <a:rPr lang="en-US" dirty="0"/>
              <a:t>Click to add bullet text 20 </a:t>
            </a:r>
            <a:r>
              <a:rPr lang="en-US" dirty="0" err="1"/>
              <a:t>pt</a:t>
            </a:r>
            <a:endParaRPr lang="en-US" dirty="0"/>
          </a:p>
        </p:txBody>
      </p:sp>
      <p:sp>
        <p:nvSpPr>
          <p:cNvPr id="2" name="Rectangle 1">
            <a:extLst>
              <a:ext uri="{FF2B5EF4-FFF2-40B4-BE49-F238E27FC236}">
                <a16:creationId xmlns:a16="http://schemas.microsoft.com/office/drawing/2014/main" id="{63F7AB2C-2DF8-1B4B-9409-DE4766264A03}"/>
              </a:ext>
            </a:extLst>
          </p:cNvPr>
          <p:cNvSpPr/>
          <p:nvPr/>
        </p:nvSpPr>
        <p:spPr>
          <a:xfrm>
            <a:off x="5403850" y="647494"/>
            <a:ext cx="3282950" cy="523220"/>
          </a:xfrm>
          <a:prstGeom prst="rect">
            <a:avLst/>
          </a:prstGeom>
        </p:spPr>
        <p:txBody>
          <a:bodyPr wrap="square" anchor="b" anchorCtr="0">
            <a:spAutoFit/>
          </a:bodyPr>
          <a:lstStyle/>
          <a:p>
            <a:r>
              <a:rPr lang="en-US" sz="2800" b="1" spc="-30" baseline="0" dirty="0">
                <a:solidFill>
                  <a:schemeClr val="tx2"/>
                </a:solidFill>
              </a:rPr>
              <a:t>Conclusion</a:t>
            </a:r>
            <a:endParaRPr lang="en-US" sz="2800" b="1" spc="-30" baseline="0" dirty="0"/>
          </a:p>
        </p:txBody>
      </p:sp>
    </p:spTree>
    <p:extLst>
      <p:ext uri="{BB962C8B-B14F-4D97-AF65-F5344CB8AC3E}">
        <p14:creationId xmlns:p14="http://schemas.microsoft.com/office/powerpoint/2010/main" val="6372801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tate Logo">
    <p:spTree>
      <p:nvGrpSpPr>
        <p:cNvPr id="1" name=""/>
        <p:cNvGrpSpPr/>
        <p:nvPr/>
      </p:nvGrpSpPr>
      <p:grpSpPr>
        <a:xfrm>
          <a:off x="0" y="0"/>
          <a:ext cx="0" cy="0"/>
          <a:chOff x="0" y="0"/>
          <a:chExt cx="0" cy="0"/>
        </a:xfrm>
      </p:grpSpPr>
      <p:sp>
        <p:nvSpPr>
          <p:cNvPr id="9" name="Slide Number Placeholder 7">
            <a:extLst>
              <a:ext uri="{FF2B5EF4-FFF2-40B4-BE49-F238E27FC236}">
                <a16:creationId xmlns:a16="http://schemas.microsoft.com/office/drawing/2014/main" id="{7F3BF294-44D6-E043-9390-9E8442799749}"/>
              </a:ext>
            </a:extLst>
          </p:cNvPr>
          <p:cNvSpPr txBox="1">
            <a:spLocks/>
          </p:cNvSpPr>
          <p:nvPr/>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4" name="Picture Placeholder 2">
            <a:extLst>
              <a:ext uri="{FF2B5EF4-FFF2-40B4-BE49-F238E27FC236}">
                <a16:creationId xmlns:a16="http://schemas.microsoft.com/office/drawing/2014/main" id="{632E9C29-0781-964C-876D-5A8D5FDAE19A}"/>
              </a:ext>
            </a:extLst>
          </p:cNvPr>
          <p:cNvSpPr>
            <a:spLocks noGrp="1"/>
          </p:cNvSpPr>
          <p:nvPr>
            <p:ph type="pic" sz="quarter" idx="10" hasCustomPrompt="1"/>
          </p:nvPr>
        </p:nvSpPr>
        <p:spPr>
          <a:xfrm>
            <a:off x="347671" y="231452"/>
            <a:ext cx="2745386" cy="667046"/>
          </a:xfrm>
        </p:spPr>
        <p:txBody>
          <a:bodyPr>
            <a:normAutofit/>
          </a:bodyPr>
          <a:lstStyle>
            <a:lvl1pPr marL="0" indent="0">
              <a:buNone/>
              <a:defRPr sz="1400"/>
            </a:lvl1pPr>
          </a:lstStyle>
          <a:p>
            <a:r>
              <a:rPr lang="en-US" dirty="0"/>
              <a:t>Insert AARP State Logo</a:t>
            </a:r>
          </a:p>
        </p:txBody>
      </p:sp>
    </p:spTree>
    <p:extLst>
      <p:ext uri="{BB962C8B-B14F-4D97-AF65-F5344CB8AC3E}">
        <p14:creationId xmlns:p14="http://schemas.microsoft.com/office/powerpoint/2010/main" val="411802947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nk - no page number">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284488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All Blank –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349339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Quiz/Trivia – White">
    <p:spTree>
      <p:nvGrpSpPr>
        <p:cNvPr id="1" name=""/>
        <p:cNvGrpSpPr/>
        <p:nvPr/>
      </p:nvGrpSpPr>
      <p:grpSpPr>
        <a:xfrm>
          <a:off x="0" y="0"/>
          <a:ext cx="0" cy="0"/>
          <a:chOff x="0" y="0"/>
          <a:chExt cx="0" cy="0"/>
        </a:xfrm>
      </p:grpSpPr>
      <p:sp>
        <p:nvSpPr>
          <p:cNvPr id="11" name="Slide Number Placeholder 7"/>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6" name="Title 1">
            <a:extLst>
              <a:ext uri="{FF2B5EF4-FFF2-40B4-BE49-F238E27FC236}">
                <a16:creationId xmlns:a16="http://schemas.microsoft.com/office/drawing/2014/main" id="{B310368C-1F9E-B848-A206-A296572738DD}"/>
              </a:ext>
            </a:extLst>
          </p:cNvPr>
          <p:cNvSpPr>
            <a:spLocks noGrp="1"/>
          </p:cNvSpPr>
          <p:nvPr>
            <p:ph type="title" hasCustomPrompt="1"/>
          </p:nvPr>
        </p:nvSpPr>
        <p:spPr>
          <a:xfrm>
            <a:off x="457200" y="343913"/>
            <a:ext cx="6518635" cy="507651"/>
          </a:xfrm>
        </p:spPr>
        <p:txBody>
          <a:bodyPr>
            <a:noAutofit/>
          </a:bodyPr>
          <a:lstStyle>
            <a:lvl1pPr algn="l">
              <a:defRPr sz="2800" b="1" spc="-30" baseline="0">
                <a:solidFill>
                  <a:schemeClr val="tx2"/>
                </a:solidFill>
              </a:defRPr>
            </a:lvl1pPr>
          </a:lstStyle>
          <a:p>
            <a:r>
              <a:rPr lang="en-US" dirty="0"/>
              <a:t>Add Quiz/Trivia Title Here 28 </a:t>
            </a:r>
            <a:r>
              <a:rPr lang="en-US" dirty="0" err="1"/>
              <a:t>pt</a:t>
            </a:r>
            <a:endParaRPr lang="en-US" dirty="0"/>
          </a:p>
        </p:txBody>
      </p:sp>
      <p:pic>
        <p:nvPicPr>
          <p:cNvPr id="7" name="Picture 6" descr="A picture containing drawing&#10;&#10;Description automatically generated">
            <a:extLst>
              <a:ext uri="{FF2B5EF4-FFF2-40B4-BE49-F238E27FC236}">
                <a16:creationId xmlns:a16="http://schemas.microsoft.com/office/drawing/2014/main" id="{02AFABEE-5FA5-0848-8144-8390A1B447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4740051"/>
            <a:ext cx="1323025" cy="271854"/>
          </a:xfrm>
          <a:prstGeom prst="rect">
            <a:avLst/>
          </a:prstGeom>
        </p:spPr>
      </p:pic>
      <p:sp>
        <p:nvSpPr>
          <p:cNvPr id="5" name="Text Placeholder 4">
            <a:extLst>
              <a:ext uri="{FF2B5EF4-FFF2-40B4-BE49-F238E27FC236}">
                <a16:creationId xmlns:a16="http://schemas.microsoft.com/office/drawing/2014/main" id="{E045287A-C56D-414F-9F2F-975737B44DB5}"/>
              </a:ext>
            </a:extLst>
          </p:cNvPr>
          <p:cNvSpPr>
            <a:spLocks noGrp="1"/>
          </p:cNvSpPr>
          <p:nvPr>
            <p:ph type="body" sz="quarter" idx="10" hasCustomPrompt="1"/>
          </p:nvPr>
        </p:nvSpPr>
        <p:spPr>
          <a:xfrm>
            <a:off x="457200" y="987552"/>
            <a:ext cx="6518275" cy="1634204"/>
          </a:xfrm>
        </p:spPr>
        <p:txBody>
          <a:bodyPr>
            <a:normAutofit/>
          </a:bodyPr>
          <a:lstStyle>
            <a:lvl1pPr marL="230188" indent="-230188">
              <a:tabLst/>
              <a:defRPr sz="2200" spc="-20" baseline="0">
                <a:ln>
                  <a:noFill/>
                </a:ln>
                <a:solidFill>
                  <a:schemeClr val="tx1"/>
                </a:solidFill>
              </a:defRPr>
            </a:lvl1pPr>
            <a:lvl2pPr>
              <a:defRPr sz="2200">
                <a:ln>
                  <a:noFill/>
                </a:ln>
                <a:solidFill>
                  <a:schemeClr val="bg1"/>
                </a:solidFill>
              </a:defRPr>
            </a:lvl2pPr>
            <a:lvl3pPr marL="914400" indent="0">
              <a:buNone/>
              <a:defRPr/>
            </a:lvl3pPr>
          </a:lstStyle>
          <a:p>
            <a:pPr lvl="0"/>
            <a:r>
              <a:rPr lang="en-US" dirty="0"/>
              <a:t>Click to add questions 22 </a:t>
            </a:r>
            <a:r>
              <a:rPr lang="en-US" dirty="0" err="1"/>
              <a:t>pt</a:t>
            </a:r>
            <a:endParaRPr lang="en-US" dirty="0"/>
          </a:p>
        </p:txBody>
      </p:sp>
      <p:sp>
        <p:nvSpPr>
          <p:cNvPr id="12" name="Text Placeholder 4">
            <a:extLst>
              <a:ext uri="{FF2B5EF4-FFF2-40B4-BE49-F238E27FC236}">
                <a16:creationId xmlns:a16="http://schemas.microsoft.com/office/drawing/2014/main" id="{8BA88681-5B0F-4041-864D-9D16E3CDE375}"/>
              </a:ext>
            </a:extLst>
          </p:cNvPr>
          <p:cNvSpPr>
            <a:spLocks noGrp="1"/>
          </p:cNvSpPr>
          <p:nvPr>
            <p:ph type="body" sz="quarter" idx="11" hasCustomPrompt="1"/>
          </p:nvPr>
        </p:nvSpPr>
        <p:spPr>
          <a:xfrm>
            <a:off x="457199" y="2757744"/>
            <a:ext cx="6518275" cy="1634204"/>
          </a:xfrm>
        </p:spPr>
        <p:txBody>
          <a:bodyPr>
            <a:normAutofit/>
          </a:bodyPr>
          <a:lstStyle>
            <a:lvl1pPr marL="230188" indent="-230188">
              <a:tabLst/>
              <a:defRPr sz="2200" spc="-20" baseline="0">
                <a:ln>
                  <a:noFill/>
                </a:ln>
                <a:solidFill>
                  <a:schemeClr val="tx1"/>
                </a:solidFill>
              </a:defRPr>
            </a:lvl1pPr>
            <a:lvl2pPr>
              <a:defRPr sz="2200">
                <a:ln>
                  <a:noFill/>
                </a:ln>
                <a:solidFill>
                  <a:schemeClr val="bg1"/>
                </a:solidFill>
              </a:defRPr>
            </a:lvl2pPr>
            <a:lvl3pPr marL="914400" indent="0">
              <a:buNone/>
              <a:defRPr/>
            </a:lvl3pPr>
          </a:lstStyle>
          <a:p>
            <a:pPr lvl="0"/>
            <a:r>
              <a:rPr lang="en-US" dirty="0"/>
              <a:t>Click to add answers 22 </a:t>
            </a:r>
            <a:r>
              <a:rPr lang="en-US" dirty="0" err="1"/>
              <a:t>pt</a:t>
            </a:r>
            <a:endParaRPr lang="en-US" dirty="0"/>
          </a:p>
        </p:txBody>
      </p:sp>
      <p:sp>
        <p:nvSpPr>
          <p:cNvPr id="13" name="Text Placeholder 4">
            <a:extLst>
              <a:ext uri="{FF2B5EF4-FFF2-40B4-BE49-F238E27FC236}">
                <a16:creationId xmlns:a16="http://schemas.microsoft.com/office/drawing/2014/main" id="{BD9C8772-3BCE-EE4D-9102-779B327E2893}"/>
              </a:ext>
            </a:extLst>
          </p:cNvPr>
          <p:cNvSpPr>
            <a:spLocks noGrp="1"/>
          </p:cNvSpPr>
          <p:nvPr>
            <p:ph type="body" sz="quarter" idx="12" hasCustomPrompt="1"/>
          </p:nvPr>
        </p:nvSpPr>
        <p:spPr>
          <a:xfrm>
            <a:off x="7108032" y="2757744"/>
            <a:ext cx="1793082" cy="1634204"/>
          </a:xfrm>
        </p:spPr>
        <p:txBody>
          <a:bodyPr>
            <a:normAutofit/>
          </a:bodyPr>
          <a:lstStyle>
            <a:lvl1pPr marL="0" indent="0">
              <a:buNone/>
              <a:defRPr sz="1800">
                <a:ln>
                  <a:noFill/>
                </a:ln>
                <a:solidFill>
                  <a:schemeClr val="tx1"/>
                </a:solidFill>
              </a:defRPr>
            </a:lvl1pPr>
            <a:lvl2pPr>
              <a:defRPr sz="2200">
                <a:ln>
                  <a:noFill/>
                </a:ln>
                <a:solidFill>
                  <a:schemeClr val="bg1"/>
                </a:solidFill>
              </a:defRPr>
            </a:lvl2pPr>
            <a:lvl3pPr marL="914400" indent="0">
              <a:buNone/>
              <a:defRPr/>
            </a:lvl3pPr>
          </a:lstStyle>
          <a:p>
            <a:pPr lvl="0"/>
            <a:r>
              <a:rPr lang="en-US" dirty="0"/>
              <a:t>Add Source Information Here 18 </a:t>
            </a:r>
            <a:r>
              <a:rPr lang="en-US" dirty="0" err="1"/>
              <a:t>pt</a:t>
            </a:r>
            <a:endParaRPr lang="en-US" dirty="0"/>
          </a:p>
        </p:txBody>
      </p:sp>
    </p:spTree>
    <p:extLst>
      <p:ext uri="{BB962C8B-B14F-4D97-AF65-F5344CB8AC3E}">
        <p14:creationId xmlns:p14="http://schemas.microsoft.com/office/powerpoint/2010/main" val="36087021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3D8713C6-55F0-2F46-9D8A-8AA7B06B8AAC}"/>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4" name="Picture Placeholder 17">
            <a:extLst>
              <a:ext uri="{FF2B5EF4-FFF2-40B4-BE49-F238E27FC236}">
                <a16:creationId xmlns:a16="http://schemas.microsoft.com/office/drawing/2014/main" id="{EBAC01C0-C14E-7A49-9531-075A9DA13457}"/>
              </a:ext>
            </a:extLst>
          </p:cNvPr>
          <p:cNvSpPr>
            <a:spLocks noGrp="1"/>
          </p:cNvSpPr>
          <p:nvPr>
            <p:ph type="pic" idx="1" hasCustomPrompt="1"/>
          </p:nvPr>
        </p:nvSpPr>
        <p:spPr>
          <a:xfrm>
            <a:off x="457200" y="274502"/>
            <a:ext cx="4779084" cy="4332830"/>
          </a:xfrm>
        </p:spPr>
        <p:txBody>
          <a:bodyPr>
            <a:normAutofit/>
          </a:bodyPr>
          <a:lstStyle>
            <a:lvl1pPr marL="0" indent="0">
              <a:buNone/>
              <a:defRPr sz="2400">
                <a:solidFill>
                  <a:schemeClr val="tx1">
                    <a:lumMod val="50000"/>
                    <a:lumOff val="50000"/>
                  </a:schemeClr>
                </a:solidFill>
              </a:defRPr>
            </a:lvl1pPr>
          </a:lstStyle>
          <a:p>
            <a:r>
              <a:rPr lang="en-US" dirty="0"/>
              <a:t>Click on Icon to add photo</a:t>
            </a:r>
          </a:p>
        </p:txBody>
      </p:sp>
      <p:sp>
        <p:nvSpPr>
          <p:cNvPr id="6" name="Text Placeholder 2">
            <a:extLst>
              <a:ext uri="{FF2B5EF4-FFF2-40B4-BE49-F238E27FC236}">
                <a16:creationId xmlns:a16="http://schemas.microsoft.com/office/drawing/2014/main" id="{343F0142-C008-2245-8D2A-EBB8F95AED5F}"/>
              </a:ext>
            </a:extLst>
          </p:cNvPr>
          <p:cNvSpPr>
            <a:spLocks noGrp="1"/>
          </p:cNvSpPr>
          <p:nvPr>
            <p:ph type="body" sz="quarter" idx="10" hasCustomPrompt="1"/>
          </p:nvPr>
        </p:nvSpPr>
        <p:spPr>
          <a:xfrm>
            <a:off x="5403850" y="1538288"/>
            <a:ext cx="3190023" cy="3068637"/>
          </a:xfrm>
        </p:spPr>
        <p:txBody>
          <a:bodyPr>
            <a:normAutofit/>
          </a:bodyPr>
          <a:lstStyle>
            <a:lvl1pPr marL="230188" indent="-230188">
              <a:tabLst/>
              <a:defRPr sz="2000">
                <a:solidFill>
                  <a:schemeClr val="tx1"/>
                </a:solidFill>
              </a:defRPr>
            </a:lvl1pPr>
          </a:lstStyle>
          <a:p>
            <a:r>
              <a:rPr lang="en-US" dirty="0"/>
              <a:t>Click to add bullet text 20 </a:t>
            </a:r>
            <a:r>
              <a:rPr lang="en-US" dirty="0" err="1"/>
              <a:t>pt</a:t>
            </a:r>
            <a:endParaRPr lang="en-US" dirty="0"/>
          </a:p>
        </p:txBody>
      </p:sp>
      <p:sp>
        <p:nvSpPr>
          <p:cNvPr id="2" name="Rectangle 1">
            <a:extLst>
              <a:ext uri="{FF2B5EF4-FFF2-40B4-BE49-F238E27FC236}">
                <a16:creationId xmlns:a16="http://schemas.microsoft.com/office/drawing/2014/main" id="{63F7AB2C-2DF8-1B4B-9409-DE4766264A03}"/>
              </a:ext>
            </a:extLst>
          </p:cNvPr>
          <p:cNvSpPr/>
          <p:nvPr userDrawn="1"/>
        </p:nvSpPr>
        <p:spPr>
          <a:xfrm>
            <a:off x="5403850" y="647494"/>
            <a:ext cx="3282950" cy="523220"/>
          </a:xfrm>
          <a:prstGeom prst="rect">
            <a:avLst/>
          </a:prstGeom>
        </p:spPr>
        <p:txBody>
          <a:bodyPr wrap="square">
            <a:spAutoFit/>
          </a:bodyPr>
          <a:lstStyle/>
          <a:p>
            <a:r>
              <a:rPr lang="en-US" sz="2800" b="1" spc="-30" baseline="0" dirty="0">
                <a:solidFill>
                  <a:schemeClr val="tx2"/>
                </a:solidFill>
              </a:rPr>
              <a:t>Agenda</a:t>
            </a:r>
            <a:endParaRPr lang="en-US" sz="2800" b="1" spc="-30" baseline="0" dirty="0"/>
          </a:p>
        </p:txBody>
      </p:sp>
    </p:spTree>
    <p:extLst>
      <p:ext uri="{BB962C8B-B14F-4D97-AF65-F5344CB8AC3E}">
        <p14:creationId xmlns:p14="http://schemas.microsoft.com/office/powerpoint/2010/main" val="1082607031"/>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Photo – Whi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03A1FEB-64B0-AF0C-9EB7-89FAA1C12A67}"/>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9" name="Title 1">
            <a:extLst>
              <a:ext uri="{FF2B5EF4-FFF2-40B4-BE49-F238E27FC236}">
                <a16:creationId xmlns:a16="http://schemas.microsoft.com/office/drawing/2014/main" id="{58FF66EE-6552-08C4-71CC-CC4C6AC23F43}"/>
              </a:ext>
            </a:extLst>
          </p:cNvPr>
          <p:cNvSpPr>
            <a:spLocks noGrp="1"/>
          </p:cNvSpPr>
          <p:nvPr>
            <p:ph type="title" hasCustomPrompt="1"/>
          </p:nvPr>
        </p:nvSpPr>
        <p:spPr>
          <a:xfrm>
            <a:off x="433347" y="375717"/>
            <a:ext cx="7818975" cy="507651"/>
          </a:xfrm>
        </p:spPr>
        <p:txBody>
          <a:bodyPr>
            <a:noAutofit/>
          </a:bodyPr>
          <a:lstStyle>
            <a:lvl1pPr algn="l">
              <a:defRPr sz="2800" b="1" spc="-30" baseline="0">
                <a:solidFill>
                  <a:schemeClr val="tx2"/>
                </a:solidFill>
              </a:defRPr>
            </a:lvl1pPr>
          </a:lstStyle>
          <a:p>
            <a:r>
              <a:rPr lang="en-US" dirty="0"/>
              <a:t>Add Title 28 </a:t>
            </a:r>
            <a:r>
              <a:rPr lang="en-US" dirty="0" err="1"/>
              <a:t>pt</a:t>
            </a:r>
            <a:endParaRPr lang="en-US" dirty="0"/>
          </a:p>
        </p:txBody>
      </p:sp>
      <p:sp>
        <p:nvSpPr>
          <p:cNvPr id="10" name="Content Placeholder 3">
            <a:extLst>
              <a:ext uri="{FF2B5EF4-FFF2-40B4-BE49-F238E27FC236}">
                <a16:creationId xmlns:a16="http://schemas.microsoft.com/office/drawing/2014/main" id="{326B852C-209D-24AB-E0A5-23CC45D75AF8}"/>
              </a:ext>
            </a:extLst>
          </p:cNvPr>
          <p:cNvSpPr>
            <a:spLocks noGrp="1"/>
          </p:cNvSpPr>
          <p:nvPr>
            <p:ph sz="quarter" idx="11" hasCustomPrompt="1"/>
          </p:nvPr>
        </p:nvSpPr>
        <p:spPr>
          <a:xfrm>
            <a:off x="434911" y="1017642"/>
            <a:ext cx="7818543" cy="3535143"/>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29669120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Bullet Text – Pink">
    <p:bg>
      <p:bgPr>
        <a:solidFill>
          <a:schemeClr val="accent2"/>
        </a:solidFill>
        <a:effectLst/>
      </p:bgPr>
    </p:bg>
    <p:spTree>
      <p:nvGrpSpPr>
        <p:cNvPr id="1" name=""/>
        <p:cNvGrpSpPr/>
        <p:nvPr/>
      </p:nvGrpSpPr>
      <p:grpSpPr>
        <a:xfrm>
          <a:off x="0" y="0"/>
          <a:ext cx="0" cy="0"/>
          <a:chOff x="0" y="0"/>
          <a:chExt cx="0" cy="0"/>
        </a:xfrm>
      </p:grpSpPr>
      <p:sp>
        <p:nvSpPr>
          <p:cNvPr id="11" name="Slide Number Placeholder 7">
            <a:extLst>
              <a:ext uri="{FF2B5EF4-FFF2-40B4-BE49-F238E27FC236}">
                <a16:creationId xmlns:a16="http://schemas.microsoft.com/office/drawing/2014/main" id="{E83C8F9E-8AA2-E641-B7D1-A9EFACF75374}"/>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2" name="Title 1">
            <a:extLst>
              <a:ext uri="{FF2B5EF4-FFF2-40B4-BE49-F238E27FC236}">
                <a16:creationId xmlns:a16="http://schemas.microsoft.com/office/drawing/2014/main" id="{F2FB2457-2C0A-A640-A4D6-B2180523C314}"/>
              </a:ext>
            </a:extLst>
          </p:cNvPr>
          <p:cNvSpPr>
            <a:spLocks noGrp="1"/>
          </p:cNvSpPr>
          <p:nvPr>
            <p:ph type="title" hasCustomPrompt="1"/>
          </p:nvPr>
        </p:nvSpPr>
        <p:spPr>
          <a:xfrm>
            <a:off x="457200" y="343913"/>
            <a:ext cx="6518635" cy="507651"/>
          </a:xfrm>
        </p:spPr>
        <p:txBody>
          <a:bodyPr>
            <a:no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8" name="Text Placeholder 4">
            <a:extLst>
              <a:ext uri="{FF2B5EF4-FFF2-40B4-BE49-F238E27FC236}">
                <a16:creationId xmlns:a16="http://schemas.microsoft.com/office/drawing/2014/main" id="{8C97D043-1EE0-4341-9F8F-81820A2A7670}"/>
              </a:ext>
            </a:extLst>
          </p:cNvPr>
          <p:cNvSpPr>
            <a:spLocks noGrp="1"/>
          </p:cNvSpPr>
          <p:nvPr>
            <p:ph type="body" sz="quarter" idx="10" hasCustomPrompt="1"/>
          </p:nvPr>
        </p:nvSpPr>
        <p:spPr>
          <a:xfrm>
            <a:off x="457200" y="992188"/>
            <a:ext cx="6518275" cy="3394075"/>
          </a:xfrm>
        </p:spPr>
        <p:txBody>
          <a:bodyPr/>
          <a:lstStyle>
            <a:lvl1pPr marL="230188" indent="-230188">
              <a:tabLst/>
              <a:defRPr sz="2400" spc="-10" baseline="0"/>
            </a:lvl1pPr>
            <a:lvl2pPr marL="571500" indent="-282575">
              <a:tabLst/>
              <a:defRPr sz="2400" spc="-10" baseline="0"/>
            </a:lvl2pPr>
            <a:lvl3pPr marL="860425" indent="-230188">
              <a:tabLst/>
              <a:defRPr sz="2000" spc="-10" baseline="0"/>
            </a:lvl3pPr>
            <a:lvl4pPr marL="1090613" indent="-230188">
              <a:tabLst/>
              <a:defRPr sz="2000" spc="-10" baseline="0"/>
            </a:lvl4pPr>
          </a:lstStyle>
          <a:p>
            <a:pPr lvl="0"/>
            <a:r>
              <a:rPr lang="en-US" dirty="0"/>
              <a:t>Click to add bullet text 24 </a:t>
            </a:r>
            <a:r>
              <a:rPr lang="en-US" dirty="0" err="1"/>
              <a:t>pt</a:t>
            </a:r>
            <a:endParaRPr lang="en-US" dirty="0"/>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852101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Pic Left, Title&amp;Text Right – White">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EDFE468-84B4-B749-A8FB-46BED87288EE}"/>
              </a:ext>
            </a:extLst>
          </p:cNvPr>
          <p:cNvSpPr>
            <a:spLocks noGrp="1"/>
          </p:cNvSpPr>
          <p:nvPr>
            <p:ph type="title" hasCustomPrompt="1"/>
          </p:nvPr>
        </p:nvSpPr>
        <p:spPr>
          <a:xfrm>
            <a:off x="5403399" y="274502"/>
            <a:ext cx="3283401" cy="1094495"/>
          </a:xfrm>
        </p:spPr>
        <p:txBody>
          <a:bodyPr>
            <a:normAutofit/>
          </a:bodyPr>
          <a:lstStyle>
            <a:lvl1pPr algn="l">
              <a:defRPr sz="2800" b="1" spc="-30" baseline="0">
                <a:solidFill>
                  <a:srgbClr val="EC1300"/>
                </a:solidFill>
              </a:defRPr>
            </a:lvl1pPr>
          </a:lstStyle>
          <a:p>
            <a:r>
              <a:rPr lang="en-US" dirty="0"/>
              <a:t>Add Title 28 </a:t>
            </a:r>
            <a:r>
              <a:rPr lang="en-US" dirty="0" err="1"/>
              <a:t>pt</a:t>
            </a:r>
            <a:endParaRPr lang="en-US" dirty="0"/>
          </a:p>
        </p:txBody>
      </p:sp>
      <p:sp>
        <p:nvSpPr>
          <p:cNvPr id="3" name="Text Placeholder 2">
            <a:extLst>
              <a:ext uri="{FF2B5EF4-FFF2-40B4-BE49-F238E27FC236}">
                <a16:creationId xmlns:a16="http://schemas.microsoft.com/office/drawing/2014/main" id="{ABDFBC2D-E460-A241-9C49-5441A1348CB8}"/>
              </a:ext>
            </a:extLst>
          </p:cNvPr>
          <p:cNvSpPr>
            <a:spLocks noGrp="1"/>
          </p:cNvSpPr>
          <p:nvPr>
            <p:ph type="body" sz="quarter" idx="10" hasCustomPrompt="1"/>
          </p:nvPr>
        </p:nvSpPr>
        <p:spPr>
          <a:xfrm>
            <a:off x="5403850" y="1538288"/>
            <a:ext cx="3204891" cy="3068637"/>
          </a:xfrm>
        </p:spPr>
        <p:txBody>
          <a:bodyPr/>
          <a:lstStyle>
            <a:lvl1pPr marL="230188" indent="-230188">
              <a:spcBef>
                <a:spcPts val="0"/>
              </a:spcBef>
              <a:tabLst/>
              <a:defRPr sz="2000" spc="-10" baseline="0"/>
            </a:lvl1pPr>
            <a:lvl2pPr>
              <a:spcBef>
                <a:spcPts val="200"/>
              </a:spcBef>
              <a:defRPr sz="2000" spc="-10" baseline="0"/>
            </a:lvl2pPr>
            <a:lvl3pPr>
              <a:defRPr sz="1800" spc="-10" baseline="0"/>
            </a:lvl3pPr>
            <a:lvl4pPr marL="1433513" indent="-230188">
              <a:spcBef>
                <a:spcPts val="200"/>
              </a:spcBef>
              <a:tabLst/>
              <a:defRPr sz="1800" spc="-10" baseline="0"/>
            </a:lvl4pPr>
          </a:lstStyle>
          <a:p>
            <a:pPr lvl="0"/>
            <a:r>
              <a:rPr lang="en-US" dirty="0"/>
              <a:t>Click to add bullet text 20 </a:t>
            </a:r>
            <a:r>
              <a:rPr lang="en-US" dirty="0" err="1"/>
              <a:t>pt</a:t>
            </a:r>
            <a:endParaRPr lang="en-US" dirty="0"/>
          </a:p>
          <a:p>
            <a:pPr lvl="1"/>
            <a:r>
              <a:rPr lang="en-US" dirty="0"/>
              <a:t>Second level</a:t>
            </a:r>
          </a:p>
          <a:p>
            <a:pPr lvl="2"/>
            <a:r>
              <a:rPr lang="en-US" dirty="0"/>
              <a:t>Third level</a:t>
            </a:r>
          </a:p>
          <a:p>
            <a:pPr lvl="3"/>
            <a:r>
              <a:rPr lang="en-US" dirty="0"/>
              <a:t>Fourth level</a:t>
            </a:r>
          </a:p>
        </p:txBody>
      </p:sp>
      <p:sp>
        <p:nvSpPr>
          <p:cNvPr id="13" name="Slide Number Placeholder 7">
            <a:extLst>
              <a:ext uri="{FF2B5EF4-FFF2-40B4-BE49-F238E27FC236}">
                <a16:creationId xmlns:a16="http://schemas.microsoft.com/office/drawing/2014/main" id="{11055843-417F-2944-9277-0FCEC3E2FAB2}"/>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7" name="Content Placeholder 3">
            <a:extLst>
              <a:ext uri="{FF2B5EF4-FFF2-40B4-BE49-F238E27FC236}">
                <a16:creationId xmlns:a16="http://schemas.microsoft.com/office/drawing/2014/main" id="{A050E5AB-616F-984D-ABBC-350C963FCD32}"/>
              </a:ext>
            </a:extLst>
          </p:cNvPr>
          <p:cNvSpPr>
            <a:spLocks noGrp="1"/>
          </p:cNvSpPr>
          <p:nvPr>
            <p:ph sz="quarter" idx="11" hasCustomPrompt="1"/>
          </p:nvPr>
        </p:nvSpPr>
        <p:spPr>
          <a:xfrm>
            <a:off x="457200" y="274095"/>
            <a:ext cx="4801373" cy="4332830"/>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400">
                <a:solidFill>
                  <a:schemeClr val="bg1">
                    <a:lumMod val="75000"/>
                  </a:schemeClr>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on Icon to add element</a:t>
            </a:r>
          </a:p>
          <a:p>
            <a:pPr lvl="0"/>
            <a:endParaRPr lang="en-US" dirty="0"/>
          </a:p>
        </p:txBody>
      </p:sp>
    </p:spTree>
    <p:extLst>
      <p:ext uri="{BB962C8B-B14F-4D97-AF65-F5344CB8AC3E}">
        <p14:creationId xmlns:p14="http://schemas.microsoft.com/office/powerpoint/2010/main" val="346494605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Section Page Photo Logo – White">
    <p:spTree>
      <p:nvGrpSpPr>
        <p:cNvPr id="1" name=""/>
        <p:cNvGrpSpPr/>
        <p:nvPr/>
      </p:nvGrpSpPr>
      <p:grpSpPr>
        <a:xfrm>
          <a:off x="0" y="0"/>
          <a:ext cx="0" cy="0"/>
          <a:chOff x="0" y="0"/>
          <a:chExt cx="0" cy="0"/>
        </a:xfrm>
      </p:grpSpPr>
      <p:pic>
        <p:nvPicPr>
          <p:cNvPr id="8" name="Picture 7" descr="A picture containing drawing&#10;&#10;Description automatically generated">
            <a:extLst>
              <a:ext uri="{FF2B5EF4-FFF2-40B4-BE49-F238E27FC236}">
                <a16:creationId xmlns:a16="http://schemas.microsoft.com/office/drawing/2014/main" id="{D7BEDDB0-E0AA-806A-B579-FD6D1CE01D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6" y="253039"/>
            <a:ext cx="1323025" cy="271854"/>
          </a:xfrm>
          <a:prstGeom prst="rect">
            <a:avLst/>
          </a:prstGeom>
        </p:spPr>
      </p:pic>
      <p:sp>
        <p:nvSpPr>
          <p:cNvPr id="11" name="Picture Placeholder 2">
            <a:extLst>
              <a:ext uri="{FF2B5EF4-FFF2-40B4-BE49-F238E27FC236}">
                <a16:creationId xmlns:a16="http://schemas.microsoft.com/office/drawing/2014/main" id="{A8911035-21FB-74F3-9BE8-92DA8B7C137F}"/>
              </a:ext>
            </a:extLst>
          </p:cNvPr>
          <p:cNvSpPr>
            <a:spLocks noGrp="1"/>
          </p:cNvSpPr>
          <p:nvPr>
            <p:ph type="pic" idx="1" hasCustomPrompt="1"/>
          </p:nvPr>
        </p:nvSpPr>
        <p:spPr>
          <a:xfrm>
            <a:off x="240980" y="650602"/>
            <a:ext cx="8661400" cy="3062657"/>
          </a:xfrm>
        </p:spPr>
        <p:txBody>
          <a:bodyPr>
            <a:normAutofit/>
          </a:bodyPr>
          <a:lstStyle>
            <a:lvl1pPr marL="0" indent="0">
              <a:buNone/>
              <a:defRPr sz="2400">
                <a:solidFill>
                  <a:schemeClr val="bg1">
                    <a:lumMod val="75000"/>
                  </a:schemeClr>
                </a:solidFill>
              </a:defRPr>
            </a:lvl1pPr>
          </a:lstStyle>
          <a:p>
            <a:r>
              <a:rPr lang="en-US" dirty="0"/>
              <a:t>Click on Icon to add photo</a:t>
            </a:r>
          </a:p>
        </p:txBody>
      </p:sp>
      <p:sp>
        <p:nvSpPr>
          <p:cNvPr id="14" name="Slide Number Placeholder 7">
            <a:extLst>
              <a:ext uri="{FF2B5EF4-FFF2-40B4-BE49-F238E27FC236}">
                <a16:creationId xmlns:a16="http://schemas.microsoft.com/office/drawing/2014/main" id="{2163008B-D251-1D9F-7135-7BE2CF5B833D}"/>
              </a:ext>
            </a:extLst>
          </p:cNvPr>
          <p:cNvSpPr txBox="1">
            <a:spLocks/>
          </p:cNvSpPr>
          <p:nvPr userDrawn="1"/>
        </p:nvSpPr>
        <p:spPr>
          <a:xfrm>
            <a:off x="6705600" y="4740051"/>
            <a:ext cx="2133600" cy="273844"/>
          </a:xfrm>
          <a:prstGeom prst="rect">
            <a:avLst/>
          </a:prstGeom>
        </p:spPr>
        <p:txBody>
          <a:bodyPr vert="horz" lIns="91440" tIns="45720" rIns="91440" bIns="45720" rtlCol="0" anchor="ctr"/>
          <a:lstStyle>
            <a:defPPr>
              <a:defRPr lang="en-US"/>
            </a:defPPr>
            <a:lvl1pPr marL="0" indent="0" algn="r" defTabSz="457200" rtl="0" eaLnBrk="1" latinLnBrk="0" hangingPunct="1">
              <a:buFont typeface="Arial"/>
              <a:buNone/>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28EE48-FF1E-A440-BFD0-EB736DD00FF4}" type="slidenum">
              <a:rPr lang="en-US" smtClean="0">
                <a:solidFill>
                  <a:srgbClr val="EC1300"/>
                </a:solidFill>
              </a:rPr>
              <a:pPr/>
              <a:t>‹#›</a:t>
            </a:fld>
            <a:endParaRPr lang="en-US" dirty="0">
              <a:solidFill>
                <a:srgbClr val="EC1300"/>
              </a:solidFill>
            </a:endParaRPr>
          </a:p>
        </p:txBody>
      </p:sp>
      <p:sp>
        <p:nvSpPr>
          <p:cNvPr id="15" name="Title 1">
            <a:extLst>
              <a:ext uri="{FF2B5EF4-FFF2-40B4-BE49-F238E27FC236}">
                <a16:creationId xmlns:a16="http://schemas.microsoft.com/office/drawing/2014/main" id="{15E03456-D5B3-6DAD-7208-941F90FA0A35}"/>
              </a:ext>
            </a:extLst>
          </p:cNvPr>
          <p:cNvSpPr>
            <a:spLocks noGrp="1"/>
          </p:cNvSpPr>
          <p:nvPr>
            <p:ph type="title" hasCustomPrompt="1"/>
          </p:nvPr>
        </p:nvSpPr>
        <p:spPr>
          <a:xfrm>
            <a:off x="2654300" y="3775379"/>
            <a:ext cx="6286500" cy="425054"/>
          </a:xfrm>
        </p:spPr>
        <p:txBody>
          <a:bodyPr anchor="ctr">
            <a:noAutofit/>
          </a:bodyPr>
          <a:lstStyle>
            <a:lvl1pPr algn="l">
              <a:defRPr sz="3600" b="1" spc="-40" baseline="0">
                <a:solidFill>
                  <a:srgbClr val="EC1300"/>
                </a:solidFill>
              </a:defRPr>
            </a:lvl1pPr>
          </a:lstStyle>
          <a:p>
            <a:r>
              <a:rPr lang="en-US" dirty="0"/>
              <a:t>Add Section Page Title 36 </a:t>
            </a:r>
            <a:r>
              <a:rPr lang="en-US" dirty="0" err="1"/>
              <a:t>pt</a:t>
            </a:r>
            <a:endParaRPr lang="en-US" dirty="0"/>
          </a:p>
        </p:txBody>
      </p:sp>
      <p:sp>
        <p:nvSpPr>
          <p:cNvPr id="16" name="Text Placeholder 3">
            <a:extLst>
              <a:ext uri="{FF2B5EF4-FFF2-40B4-BE49-F238E27FC236}">
                <a16:creationId xmlns:a16="http://schemas.microsoft.com/office/drawing/2014/main" id="{32172B77-6006-056E-FA00-24C8BC67BD32}"/>
              </a:ext>
            </a:extLst>
          </p:cNvPr>
          <p:cNvSpPr>
            <a:spLocks noGrp="1"/>
          </p:cNvSpPr>
          <p:nvPr>
            <p:ph type="body" sz="half" idx="2" hasCustomPrompt="1"/>
          </p:nvPr>
        </p:nvSpPr>
        <p:spPr>
          <a:xfrm>
            <a:off x="2654300" y="4200432"/>
            <a:ext cx="6286500" cy="603647"/>
          </a:xfrm>
        </p:spPr>
        <p:txBody>
          <a:bodyPr anchor="t">
            <a:normAutofit/>
          </a:bodyPr>
          <a:lstStyle>
            <a:lvl1pPr marL="0" indent="0">
              <a:buNone/>
              <a:defRPr sz="2400" spc="-10" baseline="0"/>
            </a:lvl1pPr>
          </a:lstStyle>
          <a:p>
            <a:r>
              <a:rPr lang="en-US" dirty="0"/>
              <a:t>Add Section Page Subtitle 24 </a:t>
            </a:r>
            <a:r>
              <a:rPr lang="en-US" dirty="0" err="1"/>
              <a:t>pt</a:t>
            </a:r>
            <a:endParaRPr lang="en-US" dirty="0"/>
          </a:p>
        </p:txBody>
      </p:sp>
    </p:spTree>
    <p:extLst>
      <p:ext uri="{BB962C8B-B14F-4D97-AF65-F5344CB8AC3E}">
        <p14:creationId xmlns:p14="http://schemas.microsoft.com/office/powerpoint/2010/main" val="237780768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41" Type="http://schemas.openxmlformats.org/officeDocument/2006/relationships/slideLayout" Target="../slideLayouts/slideLayout84.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theme" Target="../theme/theme2.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2133600" y="4763864"/>
            <a:ext cx="5892800" cy="273844"/>
          </a:xfrm>
          <a:prstGeom prst="rect">
            <a:avLst/>
          </a:prstGeom>
        </p:spPr>
        <p:txBody>
          <a:bodyPr vert="horz" lIns="91440" tIns="45720" rIns="91440" bIns="45720" rtlCol="0" anchor="ctr"/>
          <a:lstStyle>
            <a:lvl1pPr algn="l">
              <a:defRPr sz="800">
                <a:solidFill>
                  <a:schemeClr val="tx1">
                    <a:tint val="75000"/>
                  </a:schemeClr>
                </a:solidFill>
              </a:defRPr>
            </a:lvl1pPr>
          </a:lstStyle>
          <a:p>
            <a:endParaRPr lang="en-US"/>
          </a:p>
        </p:txBody>
      </p:sp>
      <p:sp>
        <p:nvSpPr>
          <p:cNvPr id="8" name="Slide Number Placeholder 7"/>
          <p:cNvSpPr>
            <a:spLocks noGrp="1"/>
          </p:cNvSpPr>
          <p:nvPr>
            <p:ph type="sldNum" sz="quarter" idx="4"/>
          </p:nvPr>
        </p:nvSpPr>
        <p:spPr>
          <a:xfrm>
            <a:off x="8153400" y="4767263"/>
            <a:ext cx="533400" cy="273844"/>
          </a:xfrm>
          <a:prstGeom prst="rect">
            <a:avLst/>
          </a:prstGeom>
        </p:spPr>
        <p:txBody>
          <a:bodyPr vert="horz" lIns="91440" tIns="45720" rIns="91440" bIns="45720" rtlCol="0" anchor="ctr"/>
          <a:lstStyle>
            <a:lvl1pPr marL="0" indent="0" algn="r">
              <a:buFont typeface="Arial"/>
              <a:buNone/>
              <a:defRPr sz="900">
                <a:solidFill>
                  <a:schemeClr val="tx1">
                    <a:tint val="75000"/>
                  </a:schemeClr>
                </a:solidFill>
              </a:defRPr>
            </a:lvl1pPr>
          </a:lstStyle>
          <a:p>
            <a:fld id="{F228EE48-FF1E-A440-BFD0-EB736DD00FF4}" type="slidenum">
              <a:rPr lang="en-US" smtClean="0"/>
              <a:pPr/>
              <a:t>‹#›</a:t>
            </a:fld>
            <a:endParaRPr lang="en-US"/>
          </a:p>
        </p:txBody>
      </p:sp>
    </p:spTree>
    <p:extLst>
      <p:ext uri="{BB962C8B-B14F-4D97-AF65-F5344CB8AC3E}">
        <p14:creationId xmlns:p14="http://schemas.microsoft.com/office/powerpoint/2010/main" val="307524913"/>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 id="2147483764" r:id="rId19"/>
    <p:sldLayoutId id="2147483765" r:id="rId20"/>
    <p:sldLayoutId id="2147483766" r:id="rId21"/>
    <p:sldLayoutId id="2147483767" r:id="rId22"/>
    <p:sldLayoutId id="2147483768"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80" r:id="rId33"/>
    <p:sldLayoutId id="2147483781" r:id="rId34"/>
    <p:sldLayoutId id="2147483782" r:id="rId35"/>
    <p:sldLayoutId id="2147483785" r:id="rId36"/>
    <p:sldLayoutId id="2147483786" r:id="rId37"/>
    <p:sldLayoutId id="2147483787" r:id="rId38"/>
    <p:sldLayoutId id="2147483788" r:id="rId39"/>
    <p:sldLayoutId id="2147483789" r:id="rId40"/>
    <p:sldLayoutId id="2147483790" r:id="rId41"/>
    <p:sldLayoutId id="2147483792" r:id="rId42"/>
    <p:sldLayoutId id="2147483793" r:id="rId43"/>
  </p:sldLayoutIdLst>
  <p:txStyles>
    <p:titleStyle>
      <a:lvl1pPr algn="l" defTabSz="457200" rtl="0" eaLnBrk="1" latinLnBrk="0" hangingPunct="1">
        <a:spcBef>
          <a:spcPct val="0"/>
        </a:spcBef>
        <a:buNone/>
        <a:defRPr sz="4400" kern="1200">
          <a:solidFill>
            <a:schemeClr val="tx1"/>
          </a:solidFill>
          <a:latin typeface="Arial"/>
          <a:ea typeface="+mj-ea"/>
          <a:cs typeface="Arial"/>
        </a:defRPr>
      </a:lvl1pPr>
    </p:titleStyle>
    <p:bodyStyle>
      <a:lvl1pPr marL="457200" indent="-457200" algn="l" defTabSz="457200" rtl="0" eaLnBrk="1" latinLnBrk="0" hangingPunct="1">
        <a:spcBef>
          <a:spcPct val="20000"/>
        </a:spcBef>
        <a:buFont typeface="Arial" panose="020B0604020202020204" pitchFamily="34" charset="0"/>
        <a:buChar char="•"/>
        <a:defRPr sz="1400" kern="1200">
          <a:solidFill>
            <a:schemeClr val="tx1"/>
          </a:solidFill>
          <a:latin typeface="+mn-lt"/>
          <a:ea typeface="+mn-ea"/>
          <a:cs typeface="Calibri" panose="020F0502020204030204" pitchFamily="34" charset="0"/>
        </a:defRPr>
      </a:lvl1pPr>
      <a:lvl2pPr marL="914400" indent="-457200" algn="l" defTabSz="457200" rtl="0" eaLnBrk="1" latinLnBrk="0" hangingPunct="1">
        <a:spcBef>
          <a:spcPct val="20000"/>
        </a:spcBef>
        <a:buFont typeface="Courier New" panose="02070309020205020404" pitchFamily="49" charset="0"/>
        <a:buChar char="o"/>
        <a:defRPr sz="14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33600" y="4763864"/>
            <a:ext cx="5892800" cy="273844"/>
          </a:xfrm>
          <a:prstGeom prst="rect">
            <a:avLst/>
          </a:prstGeom>
        </p:spPr>
        <p:txBody>
          <a:bodyPr vert="horz" lIns="91440" tIns="45720" rIns="91440" bIns="45720" rtlCol="0" anchor="ctr"/>
          <a:lstStyle>
            <a:lvl1pPr algn="l">
              <a:defRPr sz="800">
                <a:solidFill>
                  <a:schemeClr val="tx1">
                    <a:tint val="75000"/>
                  </a:schemeClr>
                </a:solidFill>
              </a:defRPr>
            </a:lvl1pPr>
          </a:lstStyle>
          <a:p>
            <a:endParaRPr lang="en-US" dirty="0"/>
          </a:p>
        </p:txBody>
      </p:sp>
      <p:sp>
        <p:nvSpPr>
          <p:cNvPr id="8" name="Slide Number Placeholder 7"/>
          <p:cNvSpPr>
            <a:spLocks noGrp="1"/>
          </p:cNvSpPr>
          <p:nvPr>
            <p:ph type="sldNum" sz="quarter" idx="4"/>
          </p:nvPr>
        </p:nvSpPr>
        <p:spPr>
          <a:xfrm>
            <a:off x="8153400" y="4767263"/>
            <a:ext cx="533400" cy="273844"/>
          </a:xfrm>
          <a:prstGeom prst="rect">
            <a:avLst/>
          </a:prstGeom>
        </p:spPr>
        <p:txBody>
          <a:bodyPr vert="horz" lIns="91440" tIns="45720" rIns="91440" bIns="45720" rtlCol="0" anchor="ctr"/>
          <a:lstStyle>
            <a:lvl1pPr marL="0" indent="0" algn="r">
              <a:buFont typeface="Arial"/>
              <a:buNone/>
              <a:defRPr sz="900">
                <a:solidFill>
                  <a:schemeClr val="tx1">
                    <a:tint val="75000"/>
                  </a:schemeClr>
                </a:solidFill>
              </a:defRPr>
            </a:lvl1pPr>
          </a:lstStyle>
          <a:p>
            <a:fld id="{F228EE48-FF1E-A440-BFD0-EB736DD00FF4}" type="slidenum">
              <a:rPr lang="en-US" smtClean="0"/>
              <a:pPr/>
              <a:t>‹#›</a:t>
            </a:fld>
            <a:endParaRPr lang="en-US" dirty="0"/>
          </a:p>
        </p:txBody>
      </p:sp>
    </p:spTree>
    <p:extLst>
      <p:ext uri="{BB962C8B-B14F-4D97-AF65-F5344CB8AC3E}">
        <p14:creationId xmlns:p14="http://schemas.microsoft.com/office/powerpoint/2010/main" val="3605212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 id="2147483815"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 id="2147483824" r:id="rId30"/>
    <p:sldLayoutId id="2147483825" r:id="rId31"/>
    <p:sldLayoutId id="2147483826" r:id="rId32"/>
    <p:sldLayoutId id="2147483827" r:id="rId33"/>
    <p:sldLayoutId id="2147483828" r:id="rId34"/>
    <p:sldLayoutId id="2147483829" r:id="rId35"/>
    <p:sldLayoutId id="2147483830" r:id="rId36"/>
    <p:sldLayoutId id="2147483831" r:id="rId37"/>
    <p:sldLayoutId id="2147483832" r:id="rId38"/>
    <p:sldLayoutId id="2147483833" r:id="rId39"/>
    <p:sldLayoutId id="2147483834" r:id="rId40"/>
    <p:sldLayoutId id="2147483835" r:id="rId41"/>
    <p:sldLayoutId id="2147483836" r:id="rId42"/>
  </p:sldLayoutIdLst>
  <p:txStyles>
    <p:titleStyle>
      <a:lvl1pPr algn="l" defTabSz="457200" rtl="0" eaLnBrk="1" latinLnBrk="0" hangingPunct="1">
        <a:spcBef>
          <a:spcPct val="0"/>
        </a:spcBef>
        <a:buNone/>
        <a:defRPr sz="4400" kern="1200">
          <a:solidFill>
            <a:schemeClr val="tx1"/>
          </a:solidFill>
          <a:latin typeface="Arial"/>
          <a:ea typeface="+mj-ea"/>
          <a:cs typeface="Arial"/>
        </a:defRPr>
      </a:lvl1pPr>
    </p:titleStyle>
    <p:bodyStyle>
      <a:lvl1pPr marL="457200" indent="-457200" algn="l" defTabSz="457200" rtl="0" eaLnBrk="1" latinLnBrk="0" hangingPunct="1">
        <a:spcBef>
          <a:spcPct val="20000"/>
        </a:spcBef>
        <a:buFont typeface="Arial" panose="020B0604020202020204" pitchFamily="34" charset="0"/>
        <a:buChar char="•"/>
        <a:defRPr sz="1400" kern="1200">
          <a:solidFill>
            <a:schemeClr val="tx1"/>
          </a:solidFill>
          <a:latin typeface="+mn-lt"/>
          <a:ea typeface="+mn-ea"/>
          <a:cs typeface="Calibri" panose="020F0502020204030204" pitchFamily="34" charset="0"/>
        </a:defRPr>
      </a:lvl1pPr>
      <a:lvl2pPr marL="914400" indent="-457200" algn="l" defTabSz="457200" rtl="0" eaLnBrk="1" latinLnBrk="0" hangingPunct="1">
        <a:spcBef>
          <a:spcPct val="20000"/>
        </a:spcBef>
        <a:buFont typeface="Courier New" panose="02070309020205020404" pitchFamily="49" charset="0"/>
        <a:buChar char="o"/>
        <a:defRPr sz="14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learn.aarp.org/socialsecurity" TargetMode="External"/><Relationship Id="rId2" Type="http://schemas.openxmlformats.org/officeDocument/2006/relationships/notesSlide" Target="../notesSlides/notesSlide26.xml"/><Relationship Id="rId1" Type="http://schemas.openxmlformats.org/officeDocument/2006/relationships/slideLayout" Target="../slideLayouts/slideLayout24.xml"/><Relationship Id="rId5" Type="http://schemas.openxmlformats.org/officeDocument/2006/relationships/hyperlink" Target="http://elearn.aarp.org/" TargetMode="External"/><Relationship Id="rId4" Type="http://schemas.openxmlformats.org/officeDocument/2006/relationships/hyperlink" Target="http://aarp.org/sscalculator"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77E47AC7-61B3-DD4F-9F50-D880FA6D3E01}"/>
              </a:ext>
            </a:extLst>
          </p:cNvPr>
          <p:cNvSpPr txBox="1">
            <a:spLocks/>
          </p:cNvSpPr>
          <p:nvPr/>
        </p:nvSpPr>
        <p:spPr>
          <a:xfrm>
            <a:off x="457201" y="445675"/>
            <a:ext cx="8240232" cy="3092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400" b="1">
                <a:solidFill>
                  <a:schemeClr val="tx2"/>
                </a:solidFill>
              </a:rPr>
              <a:t>Promotional Description</a:t>
            </a:r>
            <a:endParaRPr lang="en-US" sz="2400" b="1">
              <a:solidFill>
                <a:schemeClr val="tx2"/>
              </a:solidFill>
              <a:ea typeface="Lato Light" panose="020F0502020204030203" pitchFamily="34" charset="0"/>
            </a:endParaRPr>
          </a:p>
        </p:txBody>
      </p:sp>
      <p:sp>
        <p:nvSpPr>
          <p:cNvPr id="3" name="Content Placeholder 4">
            <a:extLst>
              <a:ext uri="{FF2B5EF4-FFF2-40B4-BE49-F238E27FC236}">
                <a16:creationId xmlns:a16="http://schemas.microsoft.com/office/drawing/2014/main" id="{6C37CD03-8737-354B-861C-BE63A7E1E157}"/>
              </a:ext>
            </a:extLst>
          </p:cNvPr>
          <p:cNvSpPr txBox="1">
            <a:spLocks/>
          </p:cNvSpPr>
          <p:nvPr/>
        </p:nvSpPr>
        <p:spPr>
          <a:xfrm>
            <a:off x="471630" y="1200150"/>
            <a:ext cx="7534946" cy="3856481"/>
          </a:xfrm>
          <a:prstGeom prst="rect">
            <a:avLst/>
          </a:prstGeom>
        </p:spPr>
        <p:txBody>
          <a:bodyPr vert="horz" lIns="91355" tIns="45678" rIns="91355" bIns="45678" rtlCol="0" anchor="t">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spcBef>
                <a:spcPts val="0"/>
              </a:spcBef>
              <a:buNone/>
            </a:pPr>
            <a:r>
              <a:rPr lang="en-US" sz="1900" dirty="0">
                <a:cs typeface="Calibri"/>
              </a:rPr>
              <a:t>Do you understand how Social Security works? Have you wondered who is eligible for Social Security benefits? Join AARP’s free </a:t>
            </a:r>
            <a:r>
              <a:rPr lang="en-US" sz="1900" i="1" dirty="0">
                <a:cs typeface="Calibri"/>
              </a:rPr>
              <a:t>Social Security: Understanding Your </a:t>
            </a:r>
            <a:r>
              <a:rPr lang="en-US" sz="1900" i="1" dirty="0"/>
              <a:t>Benefits </a:t>
            </a:r>
            <a:r>
              <a:rPr lang="en-US" sz="1900" dirty="0">
                <a:cs typeface="Calibri"/>
              </a:rPr>
              <a:t>workshop</a:t>
            </a:r>
            <a:r>
              <a:rPr lang="en-US" sz="1900" i="1" dirty="0">
                <a:cs typeface="Calibri"/>
              </a:rPr>
              <a:t>.</a:t>
            </a:r>
            <a:r>
              <a:rPr lang="en-US" sz="1900" dirty="0">
                <a:cs typeface="Calibri"/>
              </a:rPr>
              <a:t> This</a:t>
            </a:r>
            <a:r>
              <a:rPr lang="en-US" sz="1900" i="1" dirty="0">
                <a:cs typeface="Calibri"/>
              </a:rPr>
              <a:t> </a:t>
            </a:r>
            <a:r>
              <a:rPr lang="en-US" sz="1900" dirty="0">
                <a:cs typeface="Calibri"/>
              </a:rPr>
              <a:t>workshop focuses on building a basic understanding of Social Security, exploring the implications of Social Security claiming decisions and identifying resources that can help you along the way.  It can help you build confidence in making the right decisions for your personal situation.</a:t>
            </a:r>
            <a:endParaRPr lang="en-US" sz="1900" spc="-10" dirty="0">
              <a:solidFill>
                <a:srgbClr val="000000"/>
              </a:solidFill>
              <a:cs typeface="Calibri"/>
            </a:endParaRPr>
          </a:p>
        </p:txBody>
      </p:sp>
    </p:spTree>
    <p:extLst>
      <p:ext uri="{BB962C8B-B14F-4D97-AF65-F5344CB8AC3E}">
        <p14:creationId xmlns:p14="http://schemas.microsoft.com/office/powerpoint/2010/main" val="85271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77E47AC7-61B3-DD4F-9F50-D880FA6D3E01}"/>
              </a:ext>
            </a:extLst>
          </p:cNvPr>
          <p:cNvSpPr txBox="1">
            <a:spLocks/>
          </p:cNvSpPr>
          <p:nvPr/>
        </p:nvSpPr>
        <p:spPr>
          <a:xfrm>
            <a:off x="457201" y="445675"/>
            <a:ext cx="8240232" cy="3092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400" b="1">
                <a:solidFill>
                  <a:schemeClr val="tx2"/>
                </a:solidFill>
              </a:rPr>
              <a:t>Facilitator Instructions </a:t>
            </a:r>
            <a:r>
              <a:rPr lang="en-US" sz="2400">
                <a:solidFill>
                  <a:schemeClr val="tx2"/>
                </a:solidFill>
              </a:rPr>
              <a:t>|</a:t>
            </a:r>
            <a:r>
              <a:rPr lang="en-US" sz="2400" b="1">
                <a:solidFill>
                  <a:schemeClr val="tx2"/>
                </a:solidFill>
              </a:rPr>
              <a:t> </a:t>
            </a:r>
            <a:r>
              <a:rPr lang="en-US" sz="2400" b="1">
                <a:solidFill>
                  <a:schemeClr val="tx2"/>
                </a:solidFill>
                <a:ea typeface="Lato Light" panose="020F0502020204030203" pitchFamily="34" charset="0"/>
              </a:rPr>
              <a:t>Read Before You Begin</a:t>
            </a:r>
          </a:p>
        </p:txBody>
      </p:sp>
      <p:sp>
        <p:nvSpPr>
          <p:cNvPr id="3" name="Content Placeholder 4">
            <a:extLst>
              <a:ext uri="{FF2B5EF4-FFF2-40B4-BE49-F238E27FC236}">
                <a16:creationId xmlns:a16="http://schemas.microsoft.com/office/drawing/2014/main" id="{6C37CD03-8737-354B-861C-BE63A7E1E157}"/>
              </a:ext>
            </a:extLst>
          </p:cNvPr>
          <p:cNvSpPr txBox="1">
            <a:spLocks/>
          </p:cNvSpPr>
          <p:nvPr/>
        </p:nvSpPr>
        <p:spPr>
          <a:xfrm>
            <a:off x="457201" y="987879"/>
            <a:ext cx="7306025" cy="3856481"/>
          </a:xfrm>
          <a:prstGeom prst="rect">
            <a:avLst/>
          </a:prstGeom>
        </p:spPr>
        <p:txBody>
          <a:bodyPr vert="horz" lIns="91355" tIns="45678" rIns="91355" bIns="45678" rtlCol="0" anchor="t">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nSpc>
                <a:spcPct val="120000"/>
              </a:lnSpc>
              <a:spcBef>
                <a:spcPts val="0"/>
              </a:spcBef>
              <a:buFont typeface="Arial" panose="020B0604020202020204" pitchFamily="34" charset="0"/>
              <a:buChar char="•"/>
            </a:pPr>
            <a:r>
              <a:rPr lang="en-US" sz="1200" b="1" spc="-50" dirty="0">
                <a:solidFill>
                  <a:srgbClr val="000000"/>
                </a:solidFill>
                <a:cs typeface="Arial"/>
              </a:rPr>
              <a:t>Learning Objectives: </a:t>
            </a:r>
            <a:r>
              <a:rPr lang="en-US" sz="1200" spc="-50" dirty="0">
                <a:solidFill>
                  <a:srgbClr val="000000"/>
                </a:solidFill>
                <a:cs typeface="Arial"/>
              </a:rPr>
              <a:t>Help people understand the importance of the Social Security claiming decision, build confidence in making a decision that is right for everyone and identify AARP as a “go to” organization for Social Security information and resources.​</a:t>
            </a: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Arial"/>
              </a:rPr>
              <a:t>About this Presentation: </a:t>
            </a:r>
            <a:r>
              <a:rPr lang="en-US" sz="1200" spc="-50" dirty="0">
                <a:solidFill>
                  <a:srgbClr val="000000"/>
                </a:solidFill>
                <a:cs typeface="Arial"/>
              </a:rPr>
              <a:t>You can modify this presentation to suit your needs. Included in the presentation are options for 30- or 60-minute presentations, either virtually or in person.</a:t>
            </a:r>
            <a:r>
              <a:rPr lang="en-US" sz="1200" spc="-50" dirty="0">
                <a:solidFill>
                  <a:srgbClr val="000000"/>
                </a:solidFill>
                <a:cs typeface="Calibri"/>
              </a:rPr>
              <a:t> Presenters should familiarize themselves with the entire presentation in advance. Please download your own copy, hide slides you will not be using (right click on the slide in thumbnail or slide sorter view, and choose “hide slide” from the list), and modify speaker notes as needed for the purposes of your event.</a:t>
            </a:r>
            <a:endParaRPr lang="en-US" sz="1200" spc="-50" dirty="0">
              <a:solidFill>
                <a:srgbClr val="000000"/>
              </a:solidFill>
              <a:cs typeface="Arial"/>
            </a:endParaRPr>
          </a:p>
          <a:p>
            <a:pPr marL="571500" lvl="1" indent="-171450">
              <a:lnSpc>
                <a:spcPct val="120000"/>
              </a:lnSpc>
              <a:spcBef>
                <a:spcPts val="0"/>
              </a:spcBef>
              <a:buFont typeface="Arial" panose="020B0604020202020204" pitchFamily="34" charset="0"/>
              <a:buChar char="•"/>
            </a:pPr>
            <a:r>
              <a:rPr lang="en-US" sz="1200" b="1" spc="-50" dirty="0">
                <a:solidFill>
                  <a:srgbClr val="000000"/>
                </a:solidFill>
                <a:cs typeface="Calibri"/>
              </a:rPr>
              <a:t>30-minute version: </a:t>
            </a:r>
            <a:r>
              <a:rPr lang="en-US" sz="1200" spc="-50" dirty="0">
                <a:solidFill>
                  <a:srgbClr val="000000"/>
                </a:solidFill>
                <a:cs typeface="Calibri"/>
              </a:rPr>
              <a:t>Cut slides 8, 12, 21 and 26. (A note about this is on each of these slides as well.)</a:t>
            </a:r>
          </a:p>
          <a:p>
            <a:pPr marL="571500" lvl="1" indent="-171450">
              <a:lnSpc>
                <a:spcPct val="120000"/>
              </a:lnSpc>
              <a:spcBef>
                <a:spcPts val="0"/>
              </a:spcBef>
              <a:buFont typeface="Arial" panose="020B0604020202020204" pitchFamily="34" charset="0"/>
              <a:buChar char="•"/>
            </a:pPr>
            <a:r>
              <a:rPr lang="en-US" sz="1200" b="1" spc="-50" dirty="0">
                <a:solidFill>
                  <a:srgbClr val="000000"/>
                </a:solidFill>
                <a:cs typeface="Calibri"/>
              </a:rPr>
              <a:t>60-minute version: </a:t>
            </a:r>
            <a:r>
              <a:rPr lang="en-US" sz="1200" spc="-50" dirty="0">
                <a:solidFill>
                  <a:srgbClr val="000000"/>
                </a:solidFill>
                <a:cs typeface="Calibri"/>
              </a:rPr>
              <a:t>Use all slides.</a:t>
            </a:r>
          </a:p>
          <a:p>
            <a:pPr marL="571500" lvl="1" indent="-171450">
              <a:lnSpc>
                <a:spcPct val="120000"/>
              </a:lnSpc>
              <a:spcBef>
                <a:spcPts val="0"/>
              </a:spcBef>
              <a:buFont typeface="Arial" panose="020B0604020202020204" pitchFamily="34" charset="0"/>
              <a:buChar char="•"/>
            </a:pPr>
            <a:r>
              <a:rPr lang="en-US" sz="1200" b="1" spc="-50" dirty="0">
                <a:solidFill>
                  <a:srgbClr val="000000"/>
                </a:solidFill>
                <a:cs typeface="Calibri"/>
              </a:rPr>
              <a:t>In person: </a:t>
            </a:r>
            <a:r>
              <a:rPr lang="en-US" sz="1200" spc="-50" dirty="0">
                <a:solidFill>
                  <a:srgbClr val="000000"/>
                </a:solidFill>
                <a:cs typeface="Calibri"/>
              </a:rPr>
              <a:t>Follow “Speaker Notes.”</a:t>
            </a:r>
          </a:p>
          <a:p>
            <a:pPr marL="571500" lvl="1" indent="-171450">
              <a:lnSpc>
                <a:spcPct val="120000"/>
              </a:lnSpc>
              <a:spcBef>
                <a:spcPts val="0"/>
              </a:spcBef>
              <a:buFont typeface="Arial" panose="020B0604020202020204" pitchFamily="34" charset="0"/>
              <a:buChar char="•"/>
            </a:pPr>
            <a:r>
              <a:rPr lang="en-US" sz="1200" b="1" spc="-50" dirty="0">
                <a:solidFill>
                  <a:srgbClr val="000000"/>
                </a:solidFill>
                <a:cs typeface="Calibri"/>
              </a:rPr>
              <a:t>Virtual delivery: </a:t>
            </a:r>
            <a:r>
              <a:rPr lang="en-US" sz="1200" spc="-50" dirty="0">
                <a:solidFill>
                  <a:srgbClr val="000000"/>
                </a:solidFill>
                <a:cs typeface="Calibri"/>
              </a:rPr>
              <a:t>Alternate script options are noted where necessary for virtual presentation. Follow “Alternate Options for Virtual Delivery” when provided.</a:t>
            </a:r>
            <a:endParaRPr lang="en-US" sz="1200" b="1" spc="-50" dirty="0">
              <a:solidFill>
                <a:srgbClr val="000000"/>
              </a:solidFill>
              <a:cs typeface="Calibri"/>
            </a:endParaRP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State Logo vs. General Logo: </a:t>
            </a:r>
            <a:r>
              <a:rPr lang="en-US" sz="1200" spc="-50" dirty="0">
                <a:solidFill>
                  <a:srgbClr val="000000"/>
                </a:solidFill>
                <a:cs typeface="Calibri"/>
              </a:rPr>
              <a:t>Several slides are duplicated for you to have the option of customizing them with your State AARP logo lock-up if desired. These include the title slide and several of the closing slides. Please hide/delete the slides you do not plan to use.</a:t>
            </a:r>
            <a:endParaRPr lang="en-US" sz="1200" b="1" spc="-50" dirty="0">
              <a:solidFill>
                <a:srgbClr val="000000"/>
              </a:solidFill>
              <a:cs typeface="Calibri"/>
            </a:endParaRPr>
          </a:p>
        </p:txBody>
      </p:sp>
    </p:spTree>
    <p:extLst>
      <p:ext uri="{BB962C8B-B14F-4D97-AF65-F5344CB8AC3E}">
        <p14:creationId xmlns:p14="http://schemas.microsoft.com/office/powerpoint/2010/main" val="30312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77E47AC7-61B3-DD4F-9F50-D880FA6D3E01}"/>
              </a:ext>
            </a:extLst>
          </p:cNvPr>
          <p:cNvSpPr txBox="1">
            <a:spLocks/>
          </p:cNvSpPr>
          <p:nvPr/>
        </p:nvSpPr>
        <p:spPr>
          <a:xfrm>
            <a:off x="457201" y="445675"/>
            <a:ext cx="8240232" cy="3092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400" b="1">
                <a:solidFill>
                  <a:schemeClr val="tx2"/>
                </a:solidFill>
              </a:rPr>
              <a:t>Facilitator Instructions </a:t>
            </a:r>
            <a:r>
              <a:rPr lang="en-US" sz="2400">
                <a:solidFill>
                  <a:schemeClr val="tx2"/>
                </a:solidFill>
              </a:rPr>
              <a:t>|</a:t>
            </a:r>
            <a:r>
              <a:rPr lang="en-US" sz="2400" b="1">
                <a:solidFill>
                  <a:schemeClr val="tx2"/>
                </a:solidFill>
              </a:rPr>
              <a:t> </a:t>
            </a:r>
            <a:r>
              <a:rPr lang="en-US" sz="2400" b="1">
                <a:solidFill>
                  <a:schemeClr val="tx2"/>
                </a:solidFill>
                <a:ea typeface="Lato Light" panose="020F0502020204030203" pitchFamily="34" charset="0"/>
              </a:rPr>
              <a:t>Read Before You Begin</a:t>
            </a:r>
          </a:p>
        </p:txBody>
      </p:sp>
      <p:sp>
        <p:nvSpPr>
          <p:cNvPr id="3" name="Content Placeholder 4">
            <a:extLst>
              <a:ext uri="{FF2B5EF4-FFF2-40B4-BE49-F238E27FC236}">
                <a16:creationId xmlns:a16="http://schemas.microsoft.com/office/drawing/2014/main" id="{6C37CD03-8737-354B-861C-BE63A7E1E157}"/>
              </a:ext>
            </a:extLst>
          </p:cNvPr>
          <p:cNvSpPr txBox="1">
            <a:spLocks/>
          </p:cNvSpPr>
          <p:nvPr/>
        </p:nvSpPr>
        <p:spPr>
          <a:xfrm>
            <a:off x="471630" y="1200150"/>
            <a:ext cx="7306025" cy="3856481"/>
          </a:xfrm>
          <a:prstGeom prst="rect">
            <a:avLst/>
          </a:prstGeom>
        </p:spPr>
        <p:txBody>
          <a:bodyPr vert="horz" lIns="91355" tIns="45678" rIns="91355" bIns="45678" rtlCol="0" anchor="t">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Calibri" panose="020F050202020403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Calibri" panose="020F050202020403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Ideal Number of Participants: </a:t>
            </a:r>
            <a:r>
              <a:rPr lang="en-US" sz="1200" spc="-50" dirty="0">
                <a:solidFill>
                  <a:srgbClr val="000000"/>
                </a:solidFill>
                <a:cs typeface="Calibri"/>
              </a:rPr>
              <a:t>Up to 30</a:t>
            </a: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Target Audience: </a:t>
            </a:r>
            <a:r>
              <a:rPr lang="en-US" sz="1200" spc="-50" dirty="0">
                <a:solidFill>
                  <a:srgbClr val="000000"/>
                </a:solidFill>
                <a:cs typeface="Calibri"/>
              </a:rPr>
              <a:t>Pre-retirees.</a:t>
            </a: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Venue/Event Time Considerations: </a:t>
            </a:r>
            <a:r>
              <a:rPr lang="en-US" sz="1200" spc="-50" dirty="0">
                <a:solidFill>
                  <a:srgbClr val="000000"/>
                </a:solidFill>
                <a:cs typeface="Calibri"/>
              </a:rPr>
              <a:t>Schedule during lunchtime, after traditional working hours or weekends at a venue that will appeal to the target audience.</a:t>
            </a: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Seating: </a:t>
            </a:r>
            <a:r>
              <a:rPr lang="en-US" sz="1200" spc="-50" dirty="0">
                <a:solidFill>
                  <a:srgbClr val="000000"/>
                </a:solidFill>
                <a:cs typeface="Calibri"/>
              </a:rPr>
              <a:t>This workshop is not highly interactive, as financial issues are personal. If in person, long tables/classroom- or lecture-style seating is recommended.</a:t>
            </a:r>
            <a:endParaRPr lang="en-US" sz="1200" b="1" spc="-50" dirty="0">
              <a:solidFill>
                <a:srgbClr val="000000"/>
              </a:solidFill>
              <a:cs typeface="Calibri"/>
            </a:endParaRP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Handouts: </a:t>
            </a:r>
            <a:r>
              <a:rPr lang="en-US" sz="1200" b="1" i="1" spc="-50" dirty="0">
                <a:solidFill>
                  <a:srgbClr val="000000"/>
                </a:solidFill>
                <a:cs typeface="Calibri"/>
              </a:rPr>
              <a:t>Social Security Resource Guide </a:t>
            </a:r>
            <a:r>
              <a:rPr lang="en-US" sz="1200" spc="-50" dirty="0">
                <a:solidFill>
                  <a:srgbClr val="000000"/>
                </a:solidFill>
                <a:cs typeface="Calibri"/>
              </a:rPr>
              <a:t>; </a:t>
            </a:r>
            <a:r>
              <a:rPr lang="en-US" sz="1200" b="1" i="1" spc="-50" dirty="0">
                <a:solidFill>
                  <a:srgbClr val="000000"/>
                </a:solidFill>
                <a:cs typeface="Calibri"/>
              </a:rPr>
              <a:t>You’ve Earned It! Options for Making Social Security Secure for the Future</a:t>
            </a:r>
          </a:p>
          <a:p>
            <a:pPr marL="171450" indent="-171450">
              <a:lnSpc>
                <a:spcPct val="120000"/>
              </a:lnSpc>
              <a:spcBef>
                <a:spcPts val="0"/>
              </a:spcBef>
              <a:buFont typeface="Arial" panose="020B0604020202020204" pitchFamily="34" charset="0"/>
              <a:buChar char="•"/>
            </a:pPr>
            <a:r>
              <a:rPr lang="en-US" sz="1200" b="1" spc="-50" dirty="0">
                <a:solidFill>
                  <a:srgbClr val="000000"/>
                </a:solidFill>
                <a:cs typeface="Calibri"/>
              </a:rPr>
              <a:t>Complementary Content: </a:t>
            </a:r>
            <a:r>
              <a:rPr lang="en-US" sz="1200" spc="-50" dirty="0" err="1">
                <a:solidFill>
                  <a:srgbClr val="000000"/>
                </a:solidFill>
                <a:cs typeface="Calibri"/>
              </a:rPr>
              <a:t>aarp.org</a:t>
            </a:r>
            <a:r>
              <a:rPr lang="en-US" sz="1200" spc="-50" dirty="0">
                <a:solidFill>
                  <a:srgbClr val="000000"/>
                </a:solidFill>
                <a:cs typeface="Calibri"/>
              </a:rPr>
              <a:t>/</a:t>
            </a:r>
            <a:r>
              <a:rPr lang="en-US" sz="1200" spc="-50" dirty="0" err="1">
                <a:solidFill>
                  <a:srgbClr val="000000"/>
                </a:solidFill>
                <a:cs typeface="Calibri"/>
              </a:rPr>
              <a:t>socialsecurity</a:t>
            </a:r>
            <a:r>
              <a:rPr lang="en-US" sz="1200" spc="-50" dirty="0">
                <a:solidFill>
                  <a:srgbClr val="000000"/>
                </a:solidFill>
                <a:cs typeface="Calibri"/>
              </a:rPr>
              <a:t> is an excellent source for additional information as you prepare for your presentation.</a:t>
            </a:r>
            <a:endParaRPr lang="en-US" sz="1200" spc="-10" dirty="0">
              <a:solidFill>
                <a:srgbClr val="000000"/>
              </a:solidFill>
              <a:cs typeface="Calibri"/>
            </a:endParaRPr>
          </a:p>
        </p:txBody>
      </p:sp>
    </p:spTree>
    <p:extLst>
      <p:ext uri="{BB962C8B-B14F-4D97-AF65-F5344CB8AC3E}">
        <p14:creationId xmlns:p14="http://schemas.microsoft.com/office/powerpoint/2010/main" val="3617145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2D2C9-C41E-164B-8E4F-BAF57C292852}"/>
              </a:ext>
            </a:extLst>
          </p:cNvPr>
          <p:cNvSpPr>
            <a:spLocks noGrp="1"/>
          </p:cNvSpPr>
          <p:nvPr>
            <p:ph type="title"/>
          </p:nvPr>
        </p:nvSpPr>
        <p:spPr/>
        <p:txBody>
          <a:bodyPr/>
          <a:lstStyle/>
          <a:p>
            <a:r>
              <a:rPr lang="en-US"/>
              <a:t>Social Security</a:t>
            </a:r>
          </a:p>
        </p:txBody>
      </p:sp>
      <p:sp>
        <p:nvSpPr>
          <p:cNvPr id="3" name="Text Placeholder 2">
            <a:extLst>
              <a:ext uri="{FF2B5EF4-FFF2-40B4-BE49-F238E27FC236}">
                <a16:creationId xmlns:a16="http://schemas.microsoft.com/office/drawing/2014/main" id="{8DD20928-181C-754A-BAF1-9F23E284F031}"/>
              </a:ext>
            </a:extLst>
          </p:cNvPr>
          <p:cNvSpPr>
            <a:spLocks noGrp="1"/>
          </p:cNvSpPr>
          <p:nvPr>
            <p:ph type="body" idx="1"/>
          </p:nvPr>
        </p:nvSpPr>
        <p:spPr>
          <a:xfrm>
            <a:off x="345518" y="3185743"/>
            <a:ext cx="8437978" cy="854664"/>
          </a:xfrm>
        </p:spPr>
        <p:txBody>
          <a:bodyPr>
            <a:normAutofit/>
          </a:bodyPr>
          <a:lstStyle/>
          <a:p>
            <a:r>
              <a:rPr lang="en-US" sz="3200" dirty="0">
                <a:cs typeface="Calibri"/>
              </a:rPr>
              <a:t>Understanding Your Benefits</a:t>
            </a:r>
            <a:endParaRPr lang="en-US" sz="3200" dirty="0"/>
          </a:p>
        </p:txBody>
      </p:sp>
      <p:pic>
        <p:nvPicPr>
          <p:cNvPr id="4" name="Picture 3" descr="A picture containing drawing&#10;&#10;Description automatically generated">
            <a:extLst>
              <a:ext uri="{FF2B5EF4-FFF2-40B4-BE49-F238E27FC236}">
                <a16:creationId xmlns:a16="http://schemas.microsoft.com/office/drawing/2014/main" id="{2E40DE43-D306-D148-B0D2-E18975767C8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5518" y="696439"/>
            <a:ext cx="1323025" cy="271854"/>
          </a:xfrm>
          <a:prstGeom prst="rect">
            <a:avLst/>
          </a:prstGeom>
          <a:ln>
            <a:noFill/>
          </a:ln>
        </p:spPr>
      </p:pic>
    </p:spTree>
    <p:extLst>
      <p:ext uri="{BB962C8B-B14F-4D97-AF65-F5344CB8AC3E}">
        <p14:creationId xmlns:p14="http://schemas.microsoft.com/office/powerpoint/2010/main" val="130450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ouple of people that are standing in the grass&#10;&#10;Description automatically generated">
            <a:extLst>
              <a:ext uri="{FF2B5EF4-FFF2-40B4-BE49-F238E27FC236}">
                <a16:creationId xmlns:a16="http://schemas.microsoft.com/office/drawing/2014/main" id="{437600A0-3855-B34A-A030-903A2E7984FA}"/>
              </a:ext>
            </a:extLst>
          </p:cNvPr>
          <p:cNvPicPr>
            <a:picLocks noGrp="1"/>
          </p:cNvPicPr>
          <p:nvPr>
            <p:ph type="pic" idx="1"/>
          </p:nvPr>
        </p:nvPicPr>
        <p:blipFill rotWithShape="1">
          <a:blip r:embed="rId3" cstate="hqprint">
            <a:extLst>
              <a:ext uri="{28A0092B-C50C-407E-A947-70E740481C1C}">
                <a14:useLocalDpi xmlns:a14="http://schemas.microsoft.com/office/drawing/2010/main"/>
              </a:ext>
            </a:extLst>
          </a:blip>
          <a:srcRect/>
          <a:stretch/>
        </p:blipFill>
        <p:spPr/>
      </p:pic>
      <p:sp>
        <p:nvSpPr>
          <p:cNvPr id="3" name="Text Placeholder 2">
            <a:extLst>
              <a:ext uri="{FF2B5EF4-FFF2-40B4-BE49-F238E27FC236}">
                <a16:creationId xmlns:a16="http://schemas.microsoft.com/office/drawing/2014/main" id="{BD2A1753-0C5C-4E47-8AED-C3299210CF5B}"/>
              </a:ext>
            </a:extLst>
          </p:cNvPr>
          <p:cNvSpPr>
            <a:spLocks noGrp="1"/>
          </p:cNvSpPr>
          <p:nvPr>
            <p:ph type="body" sz="quarter" idx="10"/>
          </p:nvPr>
        </p:nvSpPr>
        <p:spPr>
          <a:xfrm>
            <a:off x="5403850" y="1476104"/>
            <a:ext cx="3190023" cy="3329604"/>
          </a:xfrm>
        </p:spPr>
        <p:txBody>
          <a:bodyPr vert="horz" lIns="91440" tIns="45720" rIns="91440" bIns="45720" rtlCol="0" anchor="t">
            <a:normAutofit fontScale="92500" lnSpcReduction="10000"/>
          </a:bodyPr>
          <a:lstStyle/>
          <a:p>
            <a:pPr marL="228600" indent="-228600">
              <a:spcBef>
                <a:spcPts val="400"/>
              </a:spcBef>
              <a:spcAft>
                <a:spcPts val="600"/>
              </a:spcAft>
              <a:buSzPct val="110000"/>
            </a:pPr>
            <a:r>
              <a:rPr lang="en-US" spc="-20">
                <a:solidFill>
                  <a:srgbClr val="000000"/>
                </a:solidFill>
                <a:latin typeface="Arial" panose="020B0604020202020204" pitchFamily="34" charset="0"/>
                <a:cs typeface="Arial" panose="020B0604020202020204" pitchFamily="34" charset="0"/>
              </a:rPr>
              <a:t>What is Social Security?</a:t>
            </a:r>
          </a:p>
          <a:p>
            <a:pPr marL="228600" indent="-228600">
              <a:spcBef>
                <a:spcPts val="400"/>
              </a:spcBef>
              <a:spcAft>
                <a:spcPts val="600"/>
              </a:spcAft>
              <a:buSzPct val="110000"/>
            </a:pPr>
            <a:r>
              <a:rPr lang="en-US" spc="-20">
                <a:solidFill>
                  <a:srgbClr val="000000"/>
                </a:solidFill>
                <a:latin typeface="Arial" panose="020B0604020202020204" pitchFamily="34" charset="0"/>
                <a:cs typeface="Arial" panose="020B0604020202020204" pitchFamily="34" charset="0"/>
              </a:rPr>
              <a:t>Full, early and delayed benefits</a:t>
            </a:r>
          </a:p>
          <a:p>
            <a:pPr marL="228600" indent="-228600">
              <a:spcBef>
                <a:spcPts val="400"/>
              </a:spcBef>
              <a:spcAft>
                <a:spcPts val="600"/>
              </a:spcAft>
              <a:buSzPct val="110000"/>
            </a:pPr>
            <a:r>
              <a:rPr lang="en-US" spc="-20">
                <a:solidFill>
                  <a:srgbClr val="000000"/>
                </a:solidFill>
                <a:latin typeface="Arial" panose="020B0604020202020204" pitchFamily="34" charset="0"/>
                <a:cs typeface="Arial" panose="020B0604020202020204" pitchFamily="34" charset="0"/>
              </a:rPr>
              <a:t>Social Security and work</a:t>
            </a:r>
          </a:p>
          <a:p>
            <a:pPr marL="228600" indent="-228600">
              <a:spcBef>
                <a:spcPts val="400"/>
              </a:spcBef>
              <a:spcAft>
                <a:spcPts val="600"/>
              </a:spcAft>
              <a:buSzPct val="110000"/>
            </a:pPr>
            <a:r>
              <a:rPr lang="en-US" spc="-20">
                <a:solidFill>
                  <a:srgbClr val="000000"/>
                </a:solidFill>
                <a:latin typeface="Arial" panose="020B0604020202020204" pitchFamily="34" charset="0"/>
                <a:cs typeface="Arial" panose="020B0604020202020204" pitchFamily="34" charset="0"/>
              </a:rPr>
              <a:t>Family benefits</a:t>
            </a:r>
          </a:p>
          <a:p>
            <a:pPr marL="228600" indent="-228600">
              <a:spcBef>
                <a:spcPts val="400"/>
              </a:spcBef>
              <a:spcAft>
                <a:spcPts val="600"/>
              </a:spcAft>
              <a:buSzPct val="110000"/>
            </a:pPr>
            <a:r>
              <a:rPr lang="en-US" spc="-20">
                <a:solidFill>
                  <a:srgbClr val="000000"/>
                </a:solidFill>
                <a:latin typeface="Arial" panose="020B0604020202020204" pitchFamily="34" charset="0"/>
                <a:cs typeface="Arial" panose="020B0604020202020204" pitchFamily="34" charset="0"/>
              </a:rPr>
              <a:t>How to apply</a:t>
            </a:r>
          </a:p>
          <a:p>
            <a:pPr marL="228600" indent="-228600">
              <a:spcBef>
                <a:spcPts val="400"/>
              </a:spcBef>
              <a:spcAft>
                <a:spcPts val="600"/>
              </a:spcAft>
              <a:buSzPct val="110000"/>
            </a:pPr>
            <a:r>
              <a:rPr lang="en-US" spc="-20">
                <a:solidFill>
                  <a:srgbClr val="000000"/>
                </a:solidFill>
                <a:latin typeface="Arial"/>
                <a:cs typeface="Arial"/>
              </a:rPr>
              <a:t>Resources</a:t>
            </a:r>
          </a:p>
          <a:p>
            <a:pPr marL="228600" indent="-228600">
              <a:spcBef>
                <a:spcPts val="400"/>
              </a:spcBef>
              <a:spcAft>
                <a:spcPts val="600"/>
              </a:spcAft>
              <a:buSzPct val="110000"/>
            </a:pPr>
            <a:r>
              <a:rPr lang="en-US" spc="-20">
                <a:solidFill>
                  <a:srgbClr val="000000"/>
                </a:solidFill>
                <a:latin typeface="Arial"/>
                <a:cs typeface="Arial"/>
              </a:rPr>
              <a:t>The future of Social Security</a:t>
            </a:r>
          </a:p>
        </p:txBody>
      </p:sp>
    </p:spTree>
    <p:extLst>
      <p:ext uri="{BB962C8B-B14F-4D97-AF65-F5344CB8AC3E}">
        <p14:creationId xmlns:p14="http://schemas.microsoft.com/office/powerpoint/2010/main" val="3183780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sitting on a bench&#10;&#10;Description automatically generated">
            <a:extLst>
              <a:ext uri="{FF2B5EF4-FFF2-40B4-BE49-F238E27FC236}">
                <a16:creationId xmlns:a16="http://schemas.microsoft.com/office/drawing/2014/main" id="{1E0F89D8-328A-C84D-BB21-901A01778B25}"/>
              </a:ext>
            </a:extLst>
          </p:cNvPr>
          <p:cNvPicPr>
            <a:picLocks/>
          </p:cNvPicPr>
          <p:nvPr/>
        </p:nvPicPr>
        <p:blipFill rotWithShape="1">
          <a:blip r:embed="rId3" cstate="hqprint">
            <a:extLst>
              <a:ext uri="{28A0092B-C50C-407E-A947-70E740481C1C}">
                <a14:useLocalDpi xmlns:a14="http://schemas.microsoft.com/office/drawing/2010/main"/>
              </a:ext>
            </a:extLst>
          </a:blip>
          <a:srcRect b="-334"/>
          <a:stretch/>
        </p:blipFill>
        <p:spPr>
          <a:xfrm>
            <a:off x="442912" y="1151335"/>
            <a:ext cx="4041648" cy="3401568"/>
          </a:xfrm>
          <a:prstGeom prst="rect">
            <a:avLst/>
          </a:prstGeom>
        </p:spPr>
      </p:pic>
      <p:sp>
        <p:nvSpPr>
          <p:cNvPr id="6" name="Text Placeholder 5">
            <a:extLst>
              <a:ext uri="{FF2B5EF4-FFF2-40B4-BE49-F238E27FC236}">
                <a16:creationId xmlns:a16="http://schemas.microsoft.com/office/drawing/2014/main" id="{BDED0D1E-CA17-6F42-9C46-7C7BAE47CECC}"/>
              </a:ext>
            </a:extLst>
          </p:cNvPr>
          <p:cNvSpPr>
            <a:spLocks noGrp="1"/>
          </p:cNvSpPr>
          <p:nvPr>
            <p:ph type="body" sz="quarter" idx="14"/>
          </p:nvPr>
        </p:nvSpPr>
        <p:spPr>
          <a:xfrm>
            <a:off x="457200" y="337503"/>
            <a:ext cx="8228013" cy="479822"/>
          </a:xfrm>
        </p:spPr>
        <p:txBody>
          <a:bodyPr/>
          <a:lstStyle/>
          <a:p>
            <a:r>
              <a:rPr lang="en-US"/>
              <a:t>Social Security: </a:t>
            </a:r>
            <a:r>
              <a:rPr lang="en-US" spc="-30">
                <a:latin typeface="+mj-lt"/>
              </a:rPr>
              <a:t>The Basics</a:t>
            </a:r>
          </a:p>
          <a:p>
            <a:endParaRPr lang="en-US"/>
          </a:p>
        </p:txBody>
      </p:sp>
      <p:sp>
        <p:nvSpPr>
          <p:cNvPr id="3" name="Text Placeholder 2">
            <a:extLst>
              <a:ext uri="{FF2B5EF4-FFF2-40B4-BE49-F238E27FC236}">
                <a16:creationId xmlns:a16="http://schemas.microsoft.com/office/drawing/2014/main" id="{1C58E7BD-7D3B-2A41-82DC-3D23DE445828}"/>
              </a:ext>
            </a:extLst>
          </p:cNvPr>
          <p:cNvSpPr>
            <a:spLocks noGrp="1"/>
          </p:cNvSpPr>
          <p:nvPr>
            <p:ph type="body" sz="quarter" idx="13"/>
          </p:nvPr>
        </p:nvSpPr>
        <p:spPr>
          <a:xfrm>
            <a:off x="4589369" y="1026695"/>
            <a:ext cx="4095844" cy="3539391"/>
          </a:xfrm>
        </p:spPr>
        <p:txBody>
          <a:bodyPr vert="horz" lIns="91440" tIns="45720" rIns="91440" bIns="45720" rtlCol="0" anchor="t">
            <a:noAutofit/>
          </a:bodyPr>
          <a:lstStyle/>
          <a:p>
            <a:pPr marL="228600" indent="-228600">
              <a:spcBef>
                <a:spcPts val="1600"/>
              </a:spcBef>
              <a:buSzPct val="110000"/>
            </a:pPr>
            <a:r>
              <a:rPr lang="en-US" spc="-20" dirty="0">
                <a:latin typeface="Arial" panose="020B0604020202020204" pitchFamily="34" charset="0"/>
                <a:cs typeface="Arial" panose="020B0604020202020204" pitchFamily="34" charset="0"/>
              </a:rPr>
              <a:t>Social insurance</a:t>
            </a:r>
          </a:p>
          <a:p>
            <a:pPr marL="228600" indent="-228600">
              <a:spcBef>
                <a:spcPts val="1600"/>
              </a:spcBef>
              <a:buSzPct val="110000"/>
            </a:pPr>
            <a:r>
              <a:rPr lang="en-US" spc="-20" dirty="0">
                <a:latin typeface="Arial" panose="020B0604020202020204" pitchFamily="34" charset="0"/>
                <a:cs typeface="Arial" panose="020B0604020202020204" pitchFamily="34" charset="0"/>
              </a:rPr>
              <a:t>Payroll deductions: FICA</a:t>
            </a:r>
          </a:p>
          <a:p>
            <a:pPr marL="228600" indent="-228600">
              <a:spcBef>
                <a:spcPts val="1600"/>
              </a:spcBef>
              <a:buSzPct val="110000"/>
            </a:pPr>
            <a:r>
              <a:rPr lang="en-US" spc="-20" dirty="0">
                <a:latin typeface="Arial" panose="020B0604020202020204" pitchFamily="34" charset="0"/>
                <a:cs typeface="Arial" panose="020B0604020202020204" pitchFamily="34" charset="0"/>
              </a:rPr>
              <a:t>You or your spouse must have worked for 10 years</a:t>
            </a:r>
          </a:p>
          <a:p>
            <a:r>
              <a:rPr lang="en-US" dirty="0">
                <a:effectLst/>
                <a:latin typeface="Arial" panose="020B0604020202020204" pitchFamily="34" charset="0"/>
                <a:cs typeface="Arial" panose="020B0604020202020204" pitchFamily="34" charset="0"/>
              </a:rPr>
              <a:t>Provides benefits for retirees, the disabled and survivors</a:t>
            </a:r>
          </a:p>
          <a:p>
            <a:pPr marL="228600" indent="-228600">
              <a:spcBef>
                <a:spcPts val="1600"/>
              </a:spcBef>
              <a:buSzPct val="110000"/>
            </a:pPr>
            <a:r>
              <a:rPr lang="en-US" spc="-20" dirty="0">
                <a:latin typeface="Arial" panose="020B0604020202020204" pitchFamily="34" charset="0"/>
                <a:cs typeface="Arial" panose="020B0604020202020204" pitchFamily="34" charset="0"/>
              </a:rPr>
              <a:t>Not designed to be the only source of retirement income</a:t>
            </a:r>
          </a:p>
          <a:p>
            <a:pPr marL="228600" indent="-228600">
              <a:spcBef>
                <a:spcPts val="1600"/>
              </a:spcBef>
              <a:buSzPct val="110000"/>
            </a:pPr>
            <a:endParaRPr lang="en-US" spc="-20" dirty="0">
              <a:solidFill>
                <a:srgbClr val="000000"/>
              </a:solidFill>
              <a:latin typeface="+mj-lt"/>
              <a:cs typeface="Arial" panose="020B0604020202020204" pitchFamily="34" charset="0"/>
            </a:endParaRPr>
          </a:p>
          <a:p>
            <a:pPr marL="228600" indent="-228600">
              <a:spcBef>
                <a:spcPts val="1600"/>
              </a:spcBef>
              <a:buSzPct val="110000"/>
            </a:pPr>
            <a:endParaRPr lang="en-US" spc="-30" dirty="0">
              <a:latin typeface="+mj-lt"/>
            </a:endParaRPr>
          </a:p>
        </p:txBody>
      </p:sp>
    </p:spTree>
    <p:extLst>
      <p:ext uri="{BB962C8B-B14F-4D97-AF65-F5344CB8AC3E}">
        <p14:creationId xmlns:p14="http://schemas.microsoft.com/office/powerpoint/2010/main" val="2535817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6" name="Can 5">
            <a:extLst>
              <a:ext uri="{FF2B5EF4-FFF2-40B4-BE49-F238E27FC236}">
                <a16:creationId xmlns:a16="http://schemas.microsoft.com/office/drawing/2014/main" id="{FDAFC161-ED52-6A44-9FB6-35BF4CD2B87A}"/>
              </a:ext>
            </a:extLst>
          </p:cNvPr>
          <p:cNvSpPr/>
          <p:nvPr/>
        </p:nvSpPr>
        <p:spPr>
          <a:xfrm>
            <a:off x="5039541" y="1108365"/>
            <a:ext cx="1746504" cy="3435926"/>
          </a:xfrm>
          <a:prstGeom prst="can">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hape&#10;&#10;Description automatically generated">
            <a:extLst>
              <a:ext uri="{FF2B5EF4-FFF2-40B4-BE49-F238E27FC236}">
                <a16:creationId xmlns:a16="http://schemas.microsoft.com/office/drawing/2014/main" id="{DF2DDF64-472D-F9E8-8FF0-180F42B5B575}"/>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807365" y="1617244"/>
            <a:ext cx="1734561" cy="2921669"/>
          </a:xfrm>
          <a:prstGeom prst="rect">
            <a:avLst/>
          </a:prstGeom>
        </p:spPr>
      </p:pic>
      <p:pic>
        <p:nvPicPr>
          <p:cNvPr id="3" name="Picture 3" descr="Shape&#10;&#10;Description automatically generated">
            <a:extLst>
              <a:ext uri="{FF2B5EF4-FFF2-40B4-BE49-F238E27FC236}">
                <a16:creationId xmlns:a16="http://schemas.microsoft.com/office/drawing/2014/main" id="{A77AC8EE-12CC-7A54-14B7-F70C3DD54A5D}"/>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613610" y="2185927"/>
            <a:ext cx="1710490" cy="2355804"/>
          </a:xfrm>
          <a:prstGeom prst="rect">
            <a:avLst/>
          </a:prstGeom>
        </p:spPr>
      </p:pic>
      <p:sp>
        <p:nvSpPr>
          <p:cNvPr id="8" name="Title 14">
            <a:extLst>
              <a:ext uri="{FF2B5EF4-FFF2-40B4-BE49-F238E27FC236}">
                <a16:creationId xmlns:a16="http://schemas.microsoft.com/office/drawing/2014/main" id="{53B099E5-3408-6548-9AF5-959EC8D6CB02}"/>
              </a:ext>
            </a:extLst>
          </p:cNvPr>
          <p:cNvSpPr txBox="1">
            <a:spLocks/>
          </p:cNvSpPr>
          <p:nvPr/>
        </p:nvSpPr>
        <p:spPr>
          <a:xfrm>
            <a:off x="363096" y="356917"/>
            <a:ext cx="8357659" cy="425054"/>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Arial"/>
                <a:ea typeface="+mj-ea"/>
                <a:cs typeface="Arial"/>
              </a:defRPr>
            </a:lvl1pPr>
          </a:lstStyle>
          <a:p>
            <a:pPr algn="l"/>
            <a:r>
              <a:rPr lang="en-US" sz="2800" b="1" spc="-30">
                <a:solidFill>
                  <a:srgbClr val="FF0000"/>
                </a:solidFill>
              </a:rPr>
              <a:t>What’s the Average Social Security Benefit?</a:t>
            </a:r>
          </a:p>
        </p:txBody>
      </p:sp>
      <p:sp>
        <p:nvSpPr>
          <p:cNvPr id="9" name="Rectangle 8">
            <a:extLst>
              <a:ext uri="{FF2B5EF4-FFF2-40B4-BE49-F238E27FC236}">
                <a16:creationId xmlns:a16="http://schemas.microsoft.com/office/drawing/2014/main" id="{0FBDEE73-5FAD-C04E-A97C-15851FE5C845}"/>
              </a:ext>
            </a:extLst>
          </p:cNvPr>
          <p:cNvSpPr/>
          <p:nvPr/>
        </p:nvSpPr>
        <p:spPr>
          <a:xfrm>
            <a:off x="617869" y="3382147"/>
            <a:ext cx="1746504" cy="553998"/>
          </a:xfrm>
          <a:prstGeom prst="rect">
            <a:avLst/>
          </a:prstGeom>
        </p:spPr>
        <p:txBody>
          <a:bodyPr wrap="square">
            <a:spAutoFit/>
          </a:bodyPr>
          <a:lstStyle/>
          <a:p>
            <a:pPr algn="ctr">
              <a:spcAft>
                <a:spcPts val="1200"/>
              </a:spcAft>
            </a:pPr>
            <a:r>
              <a:rPr lang="en-US" sz="3000" b="1" spc="-100" dirty="0">
                <a:solidFill>
                  <a:srgbClr val="000000"/>
                </a:solidFill>
                <a:latin typeface="Arial" panose="020B0604020202020204" pitchFamily="34" charset="0"/>
                <a:cs typeface="Arial" panose="020B0604020202020204" pitchFamily="34" charset="0"/>
              </a:rPr>
              <a:t>A</a:t>
            </a:r>
            <a:endParaRPr lang="en-US" sz="4400" b="1" spc="-150" dirty="0">
              <a:solidFill>
                <a:srgbClr val="000000"/>
              </a:solidFill>
              <a:latin typeface="Avenir Black" panose="02000503020000020003" pitchFamily="2" charset="0"/>
            </a:endParaRPr>
          </a:p>
        </p:txBody>
      </p:sp>
      <p:sp>
        <p:nvSpPr>
          <p:cNvPr id="10" name="TextBox 9">
            <a:extLst>
              <a:ext uri="{FF2B5EF4-FFF2-40B4-BE49-F238E27FC236}">
                <a16:creationId xmlns:a16="http://schemas.microsoft.com/office/drawing/2014/main" id="{D3CC7ECA-38FF-024E-BCAE-C66960FA8588}"/>
              </a:ext>
            </a:extLst>
          </p:cNvPr>
          <p:cNvSpPr txBox="1"/>
          <p:nvPr/>
        </p:nvSpPr>
        <p:spPr>
          <a:xfrm>
            <a:off x="614235" y="2892358"/>
            <a:ext cx="1742871" cy="584775"/>
          </a:xfrm>
          <a:prstGeom prst="rect">
            <a:avLst/>
          </a:prstGeom>
          <a:noFill/>
        </p:spPr>
        <p:txBody>
          <a:bodyPr wrap="square" rtlCol="0">
            <a:spAutoFit/>
          </a:bodyPr>
          <a:lstStyle/>
          <a:p>
            <a:pPr algn="ctr"/>
            <a:r>
              <a:rPr lang="en-US" sz="3200" spc="110">
                <a:solidFill>
                  <a:srgbClr val="000000"/>
                </a:solidFill>
                <a:latin typeface="Arial" panose="020B0604020202020204" pitchFamily="34" charset="0"/>
                <a:cs typeface="Arial" panose="020B0604020202020204" pitchFamily="34" charset="0"/>
              </a:rPr>
              <a:t>$995</a:t>
            </a:r>
            <a:endParaRPr lang="en-US" sz="3200" spc="110"/>
          </a:p>
        </p:txBody>
      </p:sp>
      <p:sp>
        <p:nvSpPr>
          <p:cNvPr id="11" name="TextBox 10">
            <a:extLst>
              <a:ext uri="{FF2B5EF4-FFF2-40B4-BE49-F238E27FC236}">
                <a16:creationId xmlns:a16="http://schemas.microsoft.com/office/drawing/2014/main" id="{7B4E9EC8-CB1E-9249-8A16-DCE518F1C9C2}"/>
              </a:ext>
            </a:extLst>
          </p:cNvPr>
          <p:cNvSpPr txBox="1"/>
          <p:nvPr/>
        </p:nvSpPr>
        <p:spPr>
          <a:xfrm>
            <a:off x="2810385" y="2892358"/>
            <a:ext cx="1742871" cy="584775"/>
          </a:xfrm>
          <a:prstGeom prst="rect">
            <a:avLst/>
          </a:prstGeom>
          <a:noFill/>
        </p:spPr>
        <p:txBody>
          <a:bodyPr wrap="square" rtlCol="0">
            <a:spAutoFit/>
          </a:bodyPr>
          <a:lstStyle/>
          <a:p>
            <a:pPr algn="ctr"/>
            <a:r>
              <a:rPr lang="en-US" sz="3200" spc="110">
                <a:solidFill>
                  <a:srgbClr val="000000"/>
                </a:solidFill>
                <a:latin typeface="Arial" panose="020B0604020202020204" pitchFamily="34" charset="0"/>
                <a:cs typeface="Arial" panose="020B0604020202020204" pitchFamily="34" charset="0"/>
              </a:rPr>
              <a:t>$1,304</a:t>
            </a:r>
            <a:endParaRPr lang="en-US" sz="3200" spc="110"/>
          </a:p>
        </p:txBody>
      </p:sp>
      <p:sp>
        <p:nvSpPr>
          <p:cNvPr id="12" name="TextBox 11">
            <a:extLst>
              <a:ext uri="{FF2B5EF4-FFF2-40B4-BE49-F238E27FC236}">
                <a16:creationId xmlns:a16="http://schemas.microsoft.com/office/drawing/2014/main" id="{909A2635-2D5B-AC4F-9EEA-DB31909977F1}"/>
              </a:ext>
            </a:extLst>
          </p:cNvPr>
          <p:cNvSpPr txBox="1"/>
          <p:nvPr/>
        </p:nvSpPr>
        <p:spPr>
          <a:xfrm>
            <a:off x="5079814" y="2892358"/>
            <a:ext cx="1742871" cy="584775"/>
          </a:xfrm>
          <a:prstGeom prst="rect">
            <a:avLst/>
          </a:prstGeom>
          <a:noFill/>
        </p:spPr>
        <p:txBody>
          <a:bodyPr wrap="square" rtlCol="0">
            <a:spAutoFit/>
          </a:bodyPr>
          <a:lstStyle/>
          <a:p>
            <a:pPr algn="ctr"/>
            <a:r>
              <a:rPr lang="en-US" sz="3200" spc="110" dirty="0">
                <a:solidFill>
                  <a:srgbClr val="000000"/>
                </a:solidFill>
                <a:latin typeface="Arial" panose="020B0604020202020204" pitchFamily="34" charset="0"/>
                <a:cs typeface="Arial" panose="020B0604020202020204" pitchFamily="34" charset="0"/>
              </a:rPr>
              <a:t>$1,976</a:t>
            </a:r>
            <a:endParaRPr lang="en-US" sz="3200" spc="110" dirty="0"/>
          </a:p>
        </p:txBody>
      </p:sp>
      <p:sp>
        <p:nvSpPr>
          <p:cNvPr id="13" name="Rectangle 12">
            <a:extLst>
              <a:ext uri="{FF2B5EF4-FFF2-40B4-BE49-F238E27FC236}">
                <a16:creationId xmlns:a16="http://schemas.microsoft.com/office/drawing/2014/main" id="{2F8CD432-C252-B443-9B02-03AFDCC00DBE}"/>
              </a:ext>
            </a:extLst>
          </p:cNvPr>
          <p:cNvSpPr/>
          <p:nvPr/>
        </p:nvSpPr>
        <p:spPr>
          <a:xfrm>
            <a:off x="2802401" y="3382147"/>
            <a:ext cx="1746504" cy="553998"/>
          </a:xfrm>
          <a:prstGeom prst="rect">
            <a:avLst/>
          </a:prstGeom>
        </p:spPr>
        <p:txBody>
          <a:bodyPr wrap="square">
            <a:spAutoFit/>
          </a:bodyPr>
          <a:lstStyle/>
          <a:p>
            <a:pPr algn="ctr">
              <a:spcAft>
                <a:spcPts val="1200"/>
              </a:spcAft>
            </a:pPr>
            <a:r>
              <a:rPr lang="en-US" sz="3000" spc="-150">
                <a:solidFill>
                  <a:srgbClr val="000000"/>
                </a:solidFill>
                <a:latin typeface="Avenir Black" panose="02000503020000020003" pitchFamily="2" charset="0"/>
              </a:rPr>
              <a:t>B</a:t>
            </a:r>
          </a:p>
        </p:txBody>
      </p:sp>
      <p:sp>
        <p:nvSpPr>
          <p:cNvPr id="14" name="Rectangle 13">
            <a:extLst>
              <a:ext uri="{FF2B5EF4-FFF2-40B4-BE49-F238E27FC236}">
                <a16:creationId xmlns:a16="http://schemas.microsoft.com/office/drawing/2014/main" id="{4CBB521C-03E2-814B-9915-7384ED01E238}"/>
              </a:ext>
            </a:extLst>
          </p:cNvPr>
          <p:cNvSpPr/>
          <p:nvPr/>
        </p:nvSpPr>
        <p:spPr>
          <a:xfrm>
            <a:off x="5035908" y="3382147"/>
            <a:ext cx="1746504" cy="553998"/>
          </a:xfrm>
          <a:prstGeom prst="rect">
            <a:avLst/>
          </a:prstGeom>
        </p:spPr>
        <p:txBody>
          <a:bodyPr wrap="square">
            <a:spAutoFit/>
          </a:bodyPr>
          <a:lstStyle/>
          <a:p>
            <a:pPr algn="ctr">
              <a:spcAft>
                <a:spcPts val="1200"/>
              </a:spcAft>
            </a:pPr>
            <a:r>
              <a:rPr lang="en-US" sz="3000" b="1" spc="-100">
                <a:solidFill>
                  <a:srgbClr val="000000"/>
                </a:solidFill>
                <a:latin typeface="Arial" panose="020B0604020202020204" pitchFamily="34" charset="0"/>
                <a:cs typeface="Arial" panose="020B0604020202020204" pitchFamily="34" charset="0"/>
              </a:rPr>
              <a:t>C</a:t>
            </a:r>
            <a:endParaRPr lang="en-US" sz="4400" b="1" spc="-150">
              <a:solidFill>
                <a:srgbClr val="000000"/>
              </a:solidFill>
              <a:latin typeface="Avenir Black" panose="02000503020000020003" pitchFamily="2" charset="0"/>
            </a:endParaRPr>
          </a:p>
        </p:txBody>
      </p:sp>
      <p:sp>
        <p:nvSpPr>
          <p:cNvPr id="16" name="TextBox 15">
            <a:extLst>
              <a:ext uri="{FF2B5EF4-FFF2-40B4-BE49-F238E27FC236}">
                <a16:creationId xmlns:a16="http://schemas.microsoft.com/office/drawing/2014/main" id="{A6DB3547-7588-D042-9EAB-680347B7D8FC}"/>
              </a:ext>
            </a:extLst>
          </p:cNvPr>
          <p:cNvSpPr txBox="1"/>
          <p:nvPr/>
        </p:nvSpPr>
        <p:spPr>
          <a:xfrm>
            <a:off x="5254316" y="4772025"/>
            <a:ext cx="3549112" cy="307777"/>
          </a:xfrm>
          <a:prstGeom prst="rect">
            <a:avLst/>
          </a:prstGeom>
          <a:noFill/>
        </p:spPr>
        <p:txBody>
          <a:bodyPr wrap="square" rtlCol="0">
            <a:spAutoFit/>
          </a:bodyPr>
          <a:lstStyle/>
          <a:p>
            <a:r>
              <a:rPr lang="en-US" sz="1400" i="1">
                <a:solidFill>
                  <a:schemeClr val="bg1">
                    <a:lumMod val="50000"/>
                  </a:schemeClr>
                </a:solidFill>
              </a:rPr>
              <a:t>Source: Social Security Administration</a:t>
            </a:r>
          </a:p>
        </p:txBody>
      </p:sp>
    </p:spTree>
    <p:extLst>
      <p:ext uri="{BB962C8B-B14F-4D97-AF65-F5344CB8AC3E}">
        <p14:creationId xmlns:p14="http://schemas.microsoft.com/office/powerpoint/2010/main" val="745315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2BE5-B3FA-584E-85AB-1C85EDEAB807}"/>
              </a:ext>
            </a:extLst>
          </p:cNvPr>
          <p:cNvSpPr>
            <a:spLocks noGrp="1"/>
          </p:cNvSpPr>
          <p:nvPr>
            <p:ph type="title"/>
          </p:nvPr>
        </p:nvSpPr>
        <p:spPr/>
        <p:txBody>
          <a:bodyPr/>
          <a:lstStyle/>
          <a:p>
            <a:r>
              <a:rPr lang="en-US">
                <a:solidFill>
                  <a:srgbClr val="EC1300"/>
                </a:solidFill>
              </a:rPr>
              <a:t>When You Can Claim Your Retirement Benefit</a:t>
            </a:r>
            <a:endParaRPr lang="en-US"/>
          </a:p>
        </p:txBody>
      </p:sp>
      <p:sp>
        <p:nvSpPr>
          <p:cNvPr id="4" name="Rectangle 3">
            <a:extLst>
              <a:ext uri="{FF2B5EF4-FFF2-40B4-BE49-F238E27FC236}">
                <a16:creationId xmlns:a16="http://schemas.microsoft.com/office/drawing/2014/main" id="{894CFEA6-8403-9146-A165-8CDE7A6C62F5}"/>
              </a:ext>
            </a:extLst>
          </p:cNvPr>
          <p:cNvSpPr/>
          <p:nvPr/>
        </p:nvSpPr>
        <p:spPr>
          <a:xfrm>
            <a:off x="6087826" y="1818090"/>
            <a:ext cx="2531026" cy="2388416"/>
          </a:xfrm>
          <a:prstGeom prst="rect">
            <a:avLst/>
          </a:prstGeom>
          <a:solidFill>
            <a:srgbClr val="CFC9C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Up to</a:t>
            </a:r>
          </a:p>
          <a:p>
            <a:pPr algn="ctr"/>
            <a:r>
              <a:rPr lang="en-US">
                <a:solidFill>
                  <a:schemeClr val="tx1"/>
                </a:solidFill>
              </a:rPr>
              <a:t>age 70</a:t>
            </a:r>
          </a:p>
          <a:p>
            <a:pPr algn="ctr"/>
            <a:r>
              <a:rPr lang="en-US">
                <a:solidFill>
                  <a:schemeClr val="tx1"/>
                </a:solidFill>
              </a:rPr>
              <a:t>(increased benefit)</a:t>
            </a:r>
          </a:p>
        </p:txBody>
      </p:sp>
      <p:sp>
        <p:nvSpPr>
          <p:cNvPr id="5" name="Rectangle 4">
            <a:extLst>
              <a:ext uri="{FF2B5EF4-FFF2-40B4-BE49-F238E27FC236}">
                <a16:creationId xmlns:a16="http://schemas.microsoft.com/office/drawing/2014/main" id="{95C9E697-F03E-2C40-9117-0A9F2289042B}"/>
              </a:ext>
            </a:extLst>
          </p:cNvPr>
          <p:cNvSpPr/>
          <p:nvPr/>
        </p:nvSpPr>
        <p:spPr>
          <a:xfrm>
            <a:off x="3338768" y="1835800"/>
            <a:ext cx="2531026" cy="2388416"/>
          </a:xfrm>
          <a:prstGeom prst="rect">
            <a:avLst/>
          </a:prstGeom>
          <a:solidFill>
            <a:srgbClr val="CFC9C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Age 66 or 67</a:t>
            </a:r>
          </a:p>
          <a:p>
            <a:pPr algn="ctr"/>
            <a:r>
              <a:rPr lang="en-US">
                <a:solidFill>
                  <a:schemeClr val="tx1"/>
                </a:solidFill>
              </a:rPr>
              <a:t>100%</a:t>
            </a:r>
          </a:p>
          <a:p>
            <a:pPr algn="ctr"/>
            <a:r>
              <a:rPr lang="en-US">
                <a:solidFill>
                  <a:schemeClr val="tx1"/>
                </a:solidFill>
              </a:rPr>
              <a:t>(full benefit)</a:t>
            </a:r>
          </a:p>
        </p:txBody>
      </p:sp>
      <p:sp>
        <p:nvSpPr>
          <p:cNvPr id="6" name="Rectangle 5">
            <a:extLst>
              <a:ext uri="{FF2B5EF4-FFF2-40B4-BE49-F238E27FC236}">
                <a16:creationId xmlns:a16="http://schemas.microsoft.com/office/drawing/2014/main" id="{33A62728-879B-754B-AA80-5BC8536B6474}"/>
              </a:ext>
            </a:extLst>
          </p:cNvPr>
          <p:cNvSpPr/>
          <p:nvPr/>
        </p:nvSpPr>
        <p:spPr>
          <a:xfrm>
            <a:off x="563689" y="1835800"/>
            <a:ext cx="2531026" cy="2388416"/>
          </a:xfrm>
          <a:prstGeom prst="rect">
            <a:avLst/>
          </a:prstGeom>
          <a:solidFill>
            <a:srgbClr val="CFC9C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buSzPct val="110000"/>
            </a:pPr>
            <a:r>
              <a:rPr lang="en-US">
                <a:solidFill>
                  <a:srgbClr val="000000"/>
                </a:solidFill>
                <a:cs typeface="Arial" panose="020B0604020202020204" pitchFamily="34" charset="0"/>
              </a:rPr>
              <a:t>Beginning </a:t>
            </a:r>
            <a:br>
              <a:rPr lang="en-US">
                <a:solidFill>
                  <a:srgbClr val="000000"/>
                </a:solidFill>
                <a:cs typeface="Arial" panose="020B0604020202020204" pitchFamily="34" charset="0"/>
              </a:rPr>
            </a:br>
            <a:r>
              <a:rPr lang="en-US">
                <a:solidFill>
                  <a:srgbClr val="000000"/>
                </a:solidFill>
                <a:cs typeface="Arial" panose="020B0604020202020204" pitchFamily="34" charset="0"/>
              </a:rPr>
              <a:t>at age 62</a:t>
            </a:r>
            <a:br>
              <a:rPr lang="en-US">
                <a:solidFill>
                  <a:srgbClr val="000000"/>
                </a:solidFill>
                <a:cs typeface="Arial" panose="020B0604020202020204" pitchFamily="34" charset="0"/>
              </a:rPr>
            </a:br>
            <a:r>
              <a:rPr lang="en-US">
                <a:solidFill>
                  <a:srgbClr val="000000"/>
                </a:solidFill>
                <a:cs typeface="Arial" panose="020B0604020202020204" pitchFamily="34" charset="0"/>
              </a:rPr>
              <a:t>(reduced benefit)</a:t>
            </a:r>
          </a:p>
        </p:txBody>
      </p:sp>
      <p:sp>
        <p:nvSpPr>
          <p:cNvPr id="7" name="Rectangle 6">
            <a:extLst>
              <a:ext uri="{FF2B5EF4-FFF2-40B4-BE49-F238E27FC236}">
                <a16:creationId xmlns:a16="http://schemas.microsoft.com/office/drawing/2014/main" id="{0D94C501-8473-8649-B93A-91D3AA57B0E5}"/>
              </a:ext>
            </a:extLst>
          </p:cNvPr>
          <p:cNvSpPr/>
          <p:nvPr/>
        </p:nvSpPr>
        <p:spPr>
          <a:xfrm>
            <a:off x="563689" y="1416282"/>
            <a:ext cx="2531026" cy="5304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ctr"/>
            <a:r>
              <a:rPr lang="en-US" sz="2000" b="1">
                <a:solidFill>
                  <a:schemeClr val="bg2"/>
                </a:solidFill>
                <a:effectLst>
                  <a:outerShdw blurRad="50800" dist="38100" dir="8100000" algn="tr" rotWithShape="0">
                    <a:prstClr val="black">
                      <a:alpha val="40000"/>
                    </a:prstClr>
                  </a:outerShdw>
                </a:effectLst>
                <a:latin typeface="Arial" panose="020B0604020202020204" pitchFamily="34" charset="0"/>
                <a:cs typeface="Arial" panose="020B0604020202020204" pitchFamily="34" charset="0"/>
              </a:rPr>
              <a:t>Early</a:t>
            </a:r>
          </a:p>
        </p:txBody>
      </p:sp>
      <p:sp>
        <p:nvSpPr>
          <p:cNvPr id="8" name="Rectangle 7">
            <a:extLst>
              <a:ext uri="{FF2B5EF4-FFF2-40B4-BE49-F238E27FC236}">
                <a16:creationId xmlns:a16="http://schemas.microsoft.com/office/drawing/2014/main" id="{4BDDBA81-6061-E641-A552-A1E1F7994F8D}"/>
              </a:ext>
            </a:extLst>
          </p:cNvPr>
          <p:cNvSpPr/>
          <p:nvPr/>
        </p:nvSpPr>
        <p:spPr>
          <a:xfrm>
            <a:off x="6081421" y="1416277"/>
            <a:ext cx="2531025" cy="5304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ctr"/>
            <a:r>
              <a:rPr lang="en-US" sz="2000" b="1" spc="-20">
                <a:solidFill>
                  <a:schemeClr val="bg2"/>
                </a:solidFill>
                <a:effectLst>
                  <a:outerShdw blurRad="50800" dist="38100" dir="8100000" algn="tr" rotWithShape="0">
                    <a:prstClr val="black">
                      <a:alpha val="40000"/>
                    </a:prstClr>
                  </a:outerShdw>
                </a:effectLst>
                <a:latin typeface="Arial" panose="020B0604020202020204" pitchFamily="34" charset="0"/>
                <a:cs typeface="Arial" panose="020B0604020202020204" pitchFamily="34" charset="0"/>
              </a:rPr>
              <a:t>Delayed</a:t>
            </a:r>
          </a:p>
        </p:txBody>
      </p:sp>
      <p:sp>
        <p:nvSpPr>
          <p:cNvPr id="9" name="Rectangle 8">
            <a:extLst>
              <a:ext uri="{FF2B5EF4-FFF2-40B4-BE49-F238E27FC236}">
                <a16:creationId xmlns:a16="http://schemas.microsoft.com/office/drawing/2014/main" id="{AB153A3A-083C-2340-9508-B0C3B88CC8E1}"/>
              </a:ext>
            </a:extLst>
          </p:cNvPr>
          <p:cNvSpPr/>
          <p:nvPr/>
        </p:nvSpPr>
        <p:spPr>
          <a:xfrm>
            <a:off x="3332363" y="1413136"/>
            <a:ext cx="2531025" cy="53046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ctr"/>
            <a:r>
              <a:rPr lang="en-US" sz="1750" b="1" spc="-20">
                <a:solidFill>
                  <a:schemeClr val="bg2"/>
                </a:solidFill>
                <a:effectLst>
                  <a:outerShdw blurRad="50800" dist="38100" dir="8100000" algn="tr" rotWithShape="0">
                    <a:prstClr val="black">
                      <a:alpha val="40000"/>
                    </a:prstClr>
                  </a:outerShdw>
                </a:effectLst>
                <a:latin typeface="Arial" panose="020B0604020202020204" pitchFamily="34" charset="0"/>
                <a:cs typeface="Arial" panose="020B0604020202020204" pitchFamily="34" charset="0"/>
              </a:rPr>
              <a:t>Full Retirement Age</a:t>
            </a:r>
          </a:p>
        </p:txBody>
      </p:sp>
    </p:spTree>
    <p:extLst>
      <p:ext uri="{BB962C8B-B14F-4D97-AF65-F5344CB8AC3E}">
        <p14:creationId xmlns:p14="http://schemas.microsoft.com/office/powerpoint/2010/main" val="19459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2288088-BE0C-6F44-9062-1CFD1805E28A}"/>
              </a:ext>
            </a:extLst>
          </p:cNvPr>
          <p:cNvSpPr>
            <a:spLocks noGrp="1"/>
          </p:cNvSpPr>
          <p:nvPr>
            <p:ph type="body" idx="1"/>
          </p:nvPr>
        </p:nvSpPr>
        <p:spPr>
          <a:xfrm>
            <a:off x="364840" y="394018"/>
            <a:ext cx="8228013" cy="479822"/>
          </a:xfrm>
        </p:spPr>
        <p:txBody>
          <a:bodyPr>
            <a:noAutofit/>
          </a:bodyPr>
          <a:lstStyle/>
          <a:p>
            <a:r>
              <a:rPr lang="en-US" sz="2800"/>
              <a:t>Full Retirement Age</a:t>
            </a:r>
          </a:p>
        </p:txBody>
      </p:sp>
      <p:graphicFrame>
        <p:nvGraphicFramePr>
          <p:cNvPr id="7" name="Content Placeholder 14">
            <a:extLst>
              <a:ext uri="{FF2B5EF4-FFF2-40B4-BE49-F238E27FC236}">
                <a16:creationId xmlns:a16="http://schemas.microsoft.com/office/drawing/2014/main" id="{E6EA4822-1262-8741-89B1-4291C26C84E4}"/>
              </a:ext>
            </a:extLst>
          </p:cNvPr>
          <p:cNvGraphicFramePr>
            <a:graphicFrameLocks/>
          </p:cNvGraphicFramePr>
          <p:nvPr>
            <p:extLst>
              <p:ext uri="{D42A27DB-BD31-4B8C-83A1-F6EECF244321}">
                <p14:modId xmlns:p14="http://schemas.microsoft.com/office/powerpoint/2010/main" val="3097101196"/>
              </p:ext>
            </p:extLst>
          </p:nvPr>
        </p:nvGraphicFramePr>
        <p:xfrm>
          <a:off x="1151833" y="987548"/>
          <a:ext cx="6506836" cy="3538272"/>
        </p:xfrm>
        <a:graphic>
          <a:graphicData uri="http://schemas.openxmlformats.org/drawingml/2006/table">
            <a:tbl>
              <a:tblPr firstRow="1" bandRow="1">
                <a:tableStyleId>{5C22544A-7EE6-4342-B048-85BDC9FD1C3A}</a:tableStyleId>
              </a:tblPr>
              <a:tblGrid>
                <a:gridCol w="3253418">
                  <a:extLst>
                    <a:ext uri="{9D8B030D-6E8A-4147-A177-3AD203B41FA5}">
                      <a16:colId xmlns:a16="http://schemas.microsoft.com/office/drawing/2014/main" val="20000"/>
                    </a:ext>
                  </a:extLst>
                </a:gridCol>
                <a:gridCol w="3253418">
                  <a:extLst>
                    <a:ext uri="{9D8B030D-6E8A-4147-A177-3AD203B41FA5}">
                      <a16:colId xmlns:a16="http://schemas.microsoft.com/office/drawing/2014/main" val="20001"/>
                    </a:ext>
                  </a:extLst>
                </a:gridCol>
              </a:tblGrid>
              <a:tr h="442284">
                <a:tc>
                  <a:txBody>
                    <a:bodyPr/>
                    <a:lstStyle/>
                    <a:p>
                      <a:pPr algn="ctr"/>
                      <a:r>
                        <a:rPr lang="en-US" sz="2000" b="1" i="0" spc="-20" baseline="0">
                          <a:latin typeface="Arial" panose="020B0604020202020204" pitchFamily="34" charset="0"/>
                          <a:cs typeface="Arial" panose="020B0604020202020204" pitchFamily="34" charset="0"/>
                        </a:rPr>
                        <a:t>Year of Birth</a:t>
                      </a:r>
                    </a:p>
                  </a:txBody>
                  <a:tcPr>
                    <a:solidFill>
                      <a:schemeClr val="bg2">
                        <a:lumMod val="50000"/>
                      </a:schemeClr>
                    </a:solidFill>
                  </a:tcPr>
                </a:tc>
                <a:tc>
                  <a:txBody>
                    <a:bodyPr/>
                    <a:lstStyle/>
                    <a:p>
                      <a:pPr algn="ctr"/>
                      <a:r>
                        <a:rPr lang="en-US" sz="2000" b="1" i="0" spc="-10" baseline="0">
                          <a:latin typeface="Arial" panose="020B0604020202020204" pitchFamily="34" charset="0"/>
                          <a:cs typeface="Arial" panose="020B0604020202020204" pitchFamily="34" charset="0"/>
                        </a:rPr>
                        <a:t>Full Retirement Age</a:t>
                      </a:r>
                    </a:p>
                  </a:txBody>
                  <a:tcPr>
                    <a:solidFill>
                      <a:schemeClr val="bg2">
                        <a:lumMod val="50000"/>
                      </a:schemeClr>
                    </a:solidFill>
                  </a:tcPr>
                </a:tc>
                <a:extLst>
                  <a:ext uri="{0D108BD9-81ED-4DB2-BD59-A6C34878D82A}">
                    <a16:rowId xmlns:a16="http://schemas.microsoft.com/office/drawing/2014/main" val="10000"/>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1943-1954</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a:t>
                      </a:r>
                    </a:p>
                  </a:txBody>
                  <a:tcPr>
                    <a:solidFill>
                      <a:schemeClr val="bg2">
                        <a:lumMod val="50000"/>
                        <a:alpha val="30000"/>
                      </a:schemeClr>
                    </a:solidFill>
                  </a:tcPr>
                </a:tc>
                <a:extLst>
                  <a:ext uri="{0D108BD9-81ED-4DB2-BD59-A6C34878D82A}">
                    <a16:rowId xmlns:a16="http://schemas.microsoft.com/office/drawing/2014/main" val="10001"/>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1955</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 and 2 months</a:t>
                      </a:r>
                    </a:p>
                  </a:txBody>
                  <a:tcPr>
                    <a:solidFill>
                      <a:schemeClr val="bg2">
                        <a:lumMod val="50000"/>
                        <a:alpha val="30000"/>
                      </a:schemeClr>
                    </a:solidFill>
                  </a:tcPr>
                </a:tc>
                <a:extLst>
                  <a:ext uri="{0D108BD9-81ED-4DB2-BD59-A6C34878D82A}">
                    <a16:rowId xmlns:a16="http://schemas.microsoft.com/office/drawing/2014/main" val="10002"/>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1956</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 and 4 months</a:t>
                      </a:r>
                    </a:p>
                  </a:txBody>
                  <a:tcPr>
                    <a:solidFill>
                      <a:schemeClr val="bg2">
                        <a:lumMod val="50000"/>
                        <a:alpha val="30000"/>
                      </a:schemeClr>
                    </a:solidFill>
                  </a:tcPr>
                </a:tc>
                <a:extLst>
                  <a:ext uri="{0D108BD9-81ED-4DB2-BD59-A6C34878D82A}">
                    <a16:rowId xmlns:a16="http://schemas.microsoft.com/office/drawing/2014/main" val="10003"/>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1957</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 and 6 months</a:t>
                      </a:r>
                    </a:p>
                  </a:txBody>
                  <a:tcPr>
                    <a:solidFill>
                      <a:schemeClr val="bg2">
                        <a:lumMod val="50000"/>
                        <a:alpha val="30000"/>
                      </a:schemeClr>
                    </a:solidFill>
                  </a:tcPr>
                </a:tc>
                <a:extLst>
                  <a:ext uri="{0D108BD9-81ED-4DB2-BD59-A6C34878D82A}">
                    <a16:rowId xmlns:a16="http://schemas.microsoft.com/office/drawing/2014/main" val="10004"/>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1958</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 and 8 months</a:t>
                      </a:r>
                    </a:p>
                  </a:txBody>
                  <a:tcPr>
                    <a:solidFill>
                      <a:schemeClr val="bg2">
                        <a:lumMod val="50000"/>
                        <a:alpha val="30000"/>
                      </a:schemeClr>
                    </a:solidFill>
                  </a:tcPr>
                </a:tc>
                <a:extLst>
                  <a:ext uri="{0D108BD9-81ED-4DB2-BD59-A6C34878D82A}">
                    <a16:rowId xmlns:a16="http://schemas.microsoft.com/office/drawing/2014/main" val="10005"/>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1959</a:t>
                      </a:r>
                    </a:p>
                  </a:txBody>
                  <a:tcPr>
                    <a:solidFill>
                      <a:schemeClr val="bg2">
                        <a:lumMod val="50000"/>
                        <a:alpha val="30000"/>
                      </a:schemeClr>
                    </a:solidFill>
                  </a:tcPr>
                </a:tc>
                <a:tc>
                  <a:txBody>
                    <a:bodyPr/>
                    <a:lstStyle/>
                    <a:p>
                      <a:pPr algn="ctr"/>
                      <a:r>
                        <a:rPr lang="en-US" sz="2000" b="0" i="0" spc="-10" baseline="0">
                          <a:solidFill>
                            <a:srgbClr val="000000"/>
                          </a:solidFill>
                          <a:latin typeface="Arial" panose="020B0604020202020204" pitchFamily="34" charset="0"/>
                          <a:cs typeface="Arial" panose="020B0604020202020204" pitchFamily="34" charset="0"/>
                        </a:rPr>
                        <a:t>66 and 10 months</a:t>
                      </a:r>
                    </a:p>
                  </a:txBody>
                  <a:tcPr>
                    <a:solidFill>
                      <a:schemeClr val="bg2">
                        <a:lumMod val="50000"/>
                        <a:alpha val="30000"/>
                      </a:schemeClr>
                    </a:solidFill>
                  </a:tcPr>
                </a:tc>
                <a:extLst>
                  <a:ext uri="{0D108BD9-81ED-4DB2-BD59-A6C34878D82A}">
                    <a16:rowId xmlns:a16="http://schemas.microsoft.com/office/drawing/2014/main" val="10006"/>
                  </a:ext>
                </a:extLst>
              </a:tr>
              <a:tr h="442284">
                <a:tc>
                  <a:txBody>
                    <a:bodyPr/>
                    <a:lstStyle/>
                    <a:p>
                      <a:pPr algn="ctr"/>
                      <a:r>
                        <a:rPr lang="en-US" sz="2000" b="0" i="0" spc="-20" baseline="0">
                          <a:solidFill>
                            <a:srgbClr val="000000"/>
                          </a:solidFill>
                          <a:latin typeface="Arial" panose="020B0604020202020204" pitchFamily="34" charset="0"/>
                          <a:cs typeface="Arial" panose="020B0604020202020204" pitchFamily="34" charset="0"/>
                        </a:rPr>
                        <a:t>1960 and later</a:t>
                      </a:r>
                    </a:p>
                  </a:txBody>
                  <a:tcPr>
                    <a:solidFill>
                      <a:schemeClr val="bg2">
                        <a:lumMod val="50000"/>
                        <a:alpha val="30000"/>
                      </a:schemeClr>
                    </a:solidFill>
                  </a:tcPr>
                </a:tc>
                <a:tc>
                  <a:txBody>
                    <a:bodyPr/>
                    <a:lstStyle/>
                    <a:p>
                      <a:pPr algn="ctr"/>
                      <a:r>
                        <a:rPr lang="en-US" sz="2000" b="0" i="0" spc="-10" baseline="0" dirty="0">
                          <a:solidFill>
                            <a:srgbClr val="000000"/>
                          </a:solidFill>
                          <a:latin typeface="Arial" panose="020B0604020202020204" pitchFamily="34" charset="0"/>
                          <a:cs typeface="Arial" panose="020B0604020202020204" pitchFamily="34" charset="0"/>
                        </a:rPr>
                        <a:t>67</a:t>
                      </a:r>
                    </a:p>
                  </a:txBody>
                  <a:tcPr>
                    <a:solidFill>
                      <a:schemeClr val="bg2">
                        <a:lumMod val="50000"/>
                        <a:alpha val="3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1066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2288088-BE0C-6F44-9062-1CFD1805E28A}"/>
              </a:ext>
            </a:extLst>
          </p:cNvPr>
          <p:cNvSpPr>
            <a:spLocks noGrp="1"/>
          </p:cNvSpPr>
          <p:nvPr>
            <p:ph type="body" idx="1"/>
          </p:nvPr>
        </p:nvSpPr>
        <p:spPr>
          <a:xfrm>
            <a:off x="364840" y="394018"/>
            <a:ext cx="8228013" cy="479822"/>
          </a:xfrm>
        </p:spPr>
        <p:txBody>
          <a:bodyPr>
            <a:noAutofit/>
          </a:bodyPr>
          <a:lstStyle/>
          <a:p>
            <a:r>
              <a:rPr lang="en-US" sz="2800"/>
              <a:t>Full Retirement Age</a:t>
            </a:r>
          </a:p>
        </p:txBody>
      </p:sp>
      <p:graphicFrame>
        <p:nvGraphicFramePr>
          <p:cNvPr id="4" name="Chart 3">
            <a:extLst>
              <a:ext uri="{FF2B5EF4-FFF2-40B4-BE49-F238E27FC236}">
                <a16:creationId xmlns:a16="http://schemas.microsoft.com/office/drawing/2014/main" id="{F5E5E77F-E23B-ED45-B9FD-7DA92CD9F537}"/>
              </a:ext>
            </a:extLst>
          </p:cNvPr>
          <p:cNvGraphicFramePr/>
          <p:nvPr>
            <p:extLst>
              <p:ext uri="{D42A27DB-BD31-4B8C-83A1-F6EECF244321}">
                <p14:modId xmlns:p14="http://schemas.microsoft.com/office/powerpoint/2010/main" val="421818652"/>
              </p:ext>
            </p:extLst>
          </p:nvPr>
        </p:nvGraphicFramePr>
        <p:xfrm>
          <a:off x="771237" y="635775"/>
          <a:ext cx="7601525" cy="38719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93049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83C0-5617-D761-D0A8-6E9F2B189373}"/>
              </a:ext>
            </a:extLst>
          </p:cNvPr>
          <p:cNvSpPr>
            <a:spLocks noGrp="1"/>
          </p:cNvSpPr>
          <p:nvPr>
            <p:ph type="title"/>
          </p:nvPr>
        </p:nvSpPr>
        <p:spPr/>
        <p:txBody>
          <a:bodyPr/>
          <a:lstStyle/>
          <a:p>
            <a:r>
              <a:rPr lang="en-US" dirty="0"/>
              <a:t>Discussion: When to File for Social Security </a:t>
            </a:r>
          </a:p>
        </p:txBody>
      </p:sp>
      <p:pic>
        <p:nvPicPr>
          <p:cNvPr id="4" name="Picture Placeholder 7" descr="A picture containing person, indoor, person, person&#10;&#10;Description automatically generated">
            <a:extLst>
              <a:ext uri="{FF2B5EF4-FFF2-40B4-BE49-F238E27FC236}">
                <a16:creationId xmlns:a16="http://schemas.microsoft.com/office/drawing/2014/main" id="{2228C6C5-3A0D-3B48-C2DD-F36491495D02}"/>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241300" y="1270535"/>
            <a:ext cx="8661400" cy="3062657"/>
          </a:xfrm>
          <a:prstGeom prst="rect">
            <a:avLst/>
          </a:prstGeom>
        </p:spPr>
      </p:pic>
    </p:spTree>
    <p:extLst>
      <p:ext uri="{BB962C8B-B14F-4D97-AF65-F5344CB8AC3E}">
        <p14:creationId xmlns:p14="http://schemas.microsoft.com/office/powerpoint/2010/main" val="470021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4AA76614-5E6E-F045-9253-69C5F1972D90}"/>
              </a:ext>
            </a:extLst>
          </p:cNvPr>
          <p:cNvSpPr>
            <a:spLocks noGrp="1"/>
          </p:cNvSpPr>
          <p:nvPr>
            <p:ph type="body" sz="quarter" idx="14"/>
          </p:nvPr>
        </p:nvSpPr>
        <p:spPr/>
        <p:txBody>
          <a:bodyPr/>
          <a:lstStyle/>
          <a:p>
            <a:pPr marL="0" indent="0">
              <a:spcBef>
                <a:spcPts val="1200"/>
              </a:spcBef>
              <a:buSzPct val="110000"/>
              <a:buNone/>
            </a:pPr>
            <a:r>
              <a:rPr lang="en-US" sz="2800" b="1"/>
              <a:t>Ways to Estimate Your Social Security Benefits</a:t>
            </a:r>
            <a:endParaRPr lang="en-US" sz="2800" b="1" spc="-20">
              <a:solidFill>
                <a:srgbClr val="000000"/>
              </a:solidFill>
              <a:latin typeface="Arial" panose="020B0604020202020204" pitchFamily="34" charset="0"/>
              <a:cs typeface="Arial" panose="020B0604020202020204" pitchFamily="34" charset="0"/>
            </a:endParaRPr>
          </a:p>
          <a:p>
            <a:endParaRPr lang="en-US"/>
          </a:p>
        </p:txBody>
      </p:sp>
      <p:sp>
        <p:nvSpPr>
          <p:cNvPr id="8" name="Text Placeholder 7">
            <a:extLst>
              <a:ext uri="{FF2B5EF4-FFF2-40B4-BE49-F238E27FC236}">
                <a16:creationId xmlns:a16="http://schemas.microsoft.com/office/drawing/2014/main" id="{08942629-D756-D144-851E-4A0B86E07704}"/>
              </a:ext>
            </a:extLst>
          </p:cNvPr>
          <p:cNvSpPr>
            <a:spLocks noGrp="1"/>
          </p:cNvSpPr>
          <p:nvPr>
            <p:ph type="body" sz="quarter" idx="13"/>
          </p:nvPr>
        </p:nvSpPr>
        <p:spPr>
          <a:xfrm>
            <a:off x="4589369" y="1060704"/>
            <a:ext cx="4095844" cy="3505382"/>
          </a:xfrm>
        </p:spPr>
        <p:txBody>
          <a:bodyPr vert="horz" lIns="91440" tIns="45720" rIns="91440" bIns="45720" rtlCol="0" anchor="t">
            <a:normAutofit/>
          </a:bodyPr>
          <a:lstStyle/>
          <a:p>
            <a:pPr marL="285750" indent="-285750">
              <a:spcBef>
                <a:spcPts val="1200"/>
              </a:spcBef>
              <a:buSzPct val="110000"/>
            </a:pPr>
            <a:r>
              <a:rPr lang="en-US" sz="2200" spc="-20">
                <a:solidFill>
                  <a:srgbClr val="000000"/>
                </a:solidFill>
                <a:latin typeface="Arial"/>
                <a:cs typeface="Arial"/>
              </a:rPr>
              <a:t>Open a </a:t>
            </a:r>
            <a:r>
              <a:rPr lang="en-US" sz="2200" i="1" spc="-20">
                <a:solidFill>
                  <a:srgbClr val="000000"/>
                </a:solidFill>
                <a:latin typeface="Arial"/>
                <a:cs typeface="Arial"/>
              </a:rPr>
              <a:t>my</a:t>
            </a:r>
            <a:r>
              <a:rPr lang="en-US" sz="2200" spc="-20">
                <a:solidFill>
                  <a:srgbClr val="000000"/>
                </a:solidFill>
                <a:latin typeface="Arial"/>
                <a:cs typeface="Arial"/>
              </a:rPr>
              <a:t> Social Security Account (</a:t>
            </a:r>
            <a:r>
              <a:rPr lang="en-US" sz="2200" i="1" spc="-20" err="1">
                <a:solidFill>
                  <a:srgbClr val="000000"/>
                </a:solidFill>
                <a:latin typeface="Arial"/>
                <a:cs typeface="Arial"/>
              </a:rPr>
              <a:t>my</a:t>
            </a:r>
            <a:r>
              <a:rPr lang="en-US" sz="2200" spc="-20" err="1">
                <a:solidFill>
                  <a:srgbClr val="000000"/>
                </a:solidFill>
                <a:latin typeface="Arial"/>
                <a:cs typeface="Arial"/>
              </a:rPr>
              <a:t>SSA</a:t>
            </a:r>
            <a:r>
              <a:rPr lang="en-US" sz="2200" spc="-20">
                <a:solidFill>
                  <a:srgbClr val="000000"/>
                </a:solidFill>
                <a:latin typeface="Arial"/>
                <a:cs typeface="Arial"/>
              </a:rPr>
              <a:t>) </a:t>
            </a:r>
            <a:r>
              <a:rPr lang="en-US" sz="2200" u="sng" spc="-20" err="1">
                <a:latin typeface="Arial"/>
                <a:cs typeface="Arial"/>
              </a:rPr>
              <a:t>login.gov</a:t>
            </a:r>
            <a:endParaRPr lang="en-US" sz="2200" u="sng" spc="-20">
              <a:latin typeface="Arial"/>
              <a:cs typeface="Arial"/>
            </a:endParaRPr>
          </a:p>
          <a:p>
            <a:pPr marL="285750" indent="-285750">
              <a:spcBef>
                <a:spcPts val="1200"/>
              </a:spcBef>
              <a:buSzPct val="110000"/>
            </a:pPr>
            <a:r>
              <a:rPr lang="en-US" sz="2200" spc="-20">
                <a:solidFill>
                  <a:srgbClr val="000000"/>
                </a:solidFill>
                <a:latin typeface="Arial" panose="020B0604020202020204" pitchFamily="34" charset="0"/>
                <a:cs typeface="Arial" panose="020B0604020202020204" pitchFamily="34" charset="0"/>
              </a:rPr>
              <a:t>Complete and mail Form SSA-7004</a:t>
            </a:r>
          </a:p>
          <a:p>
            <a:pPr marL="285750" indent="-285750">
              <a:spcBef>
                <a:spcPts val="1200"/>
              </a:spcBef>
              <a:buSzPct val="110000"/>
            </a:pPr>
            <a:r>
              <a:rPr lang="en-US" sz="2200" spc="-20">
                <a:solidFill>
                  <a:srgbClr val="000000"/>
                </a:solidFill>
                <a:latin typeface="Arial" panose="020B0604020202020204" pitchFamily="34" charset="0"/>
                <a:cs typeface="Arial" panose="020B0604020202020204" pitchFamily="34" charset="0"/>
              </a:rPr>
              <a:t>Call 800-772-1213</a:t>
            </a:r>
          </a:p>
          <a:p>
            <a:pPr marL="285750" indent="-285750">
              <a:spcBef>
                <a:spcPts val="1200"/>
              </a:spcBef>
              <a:buSzPct val="110000"/>
            </a:pPr>
            <a:r>
              <a:rPr lang="en-US" sz="2200" spc="-20">
                <a:solidFill>
                  <a:srgbClr val="000000"/>
                </a:solidFill>
                <a:latin typeface="Arial"/>
                <a:cs typeface="Arial"/>
              </a:rPr>
              <a:t>Mailed to those age 60+ who have not started benefits and don’t have a </a:t>
            </a:r>
            <a:r>
              <a:rPr lang="en-US" sz="2200" i="1" spc="-20" err="1">
                <a:solidFill>
                  <a:srgbClr val="000000"/>
                </a:solidFill>
                <a:latin typeface="Arial"/>
                <a:cs typeface="Arial"/>
              </a:rPr>
              <a:t>my</a:t>
            </a:r>
            <a:r>
              <a:rPr lang="en-US" sz="2200" spc="-20" err="1">
                <a:solidFill>
                  <a:srgbClr val="000000"/>
                </a:solidFill>
                <a:latin typeface="Arial"/>
                <a:cs typeface="Arial"/>
              </a:rPr>
              <a:t>SSA</a:t>
            </a:r>
            <a:endParaRPr lang="en-US" sz="2200" spc="-20">
              <a:solidFill>
                <a:srgbClr val="000000"/>
              </a:solidFill>
              <a:latin typeface="Arial"/>
              <a:cs typeface="Arial"/>
            </a:endParaRPr>
          </a:p>
        </p:txBody>
      </p:sp>
      <p:pic>
        <p:nvPicPr>
          <p:cNvPr id="10" name="Content Placeholder 9">
            <a:extLst>
              <a:ext uri="{FF2B5EF4-FFF2-40B4-BE49-F238E27FC236}">
                <a16:creationId xmlns:a16="http://schemas.microsoft.com/office/drawing/2014/main" id="{FD14DA54-B527-B147-AA01-A0FF79F5CFD3}"/>
              </a:ext>
            </a:extLst>
          </p:cNvPr>
          <p:cNvPicPr>
            <a:picLocks noGrp="1" noChangeAspect="1"/>
          </p:cNvPicPr>
          <p:nvPr>
            <p:ph sz="quarter" idx="11"/>
          </p:nvPr>
        </p:nvPicPr>
        <p:blipFill>
          <a:blip r:embed="rId3"/>
          <a:stretch>
            <a:fillRect/>
          </a:stretch>
        </p:blipFill>
        <p:spPr>
          <a:xfrm>
            <a:off x="457200" y="1529553"/>
            <a:ext cx="4040188" cy="2692406"/>
          </a:xfrm>
          <a:prstGeom prst="rect">
            <a:avLst/>
          </a:prstGeom>
        </p:spPr>
      </p:pic>
    </p:spTree>
    <p:extLst>
      <p:ext uri="{BB962C8B-B14F-4D97-AF65-F5344CB8AC3E}">
        <p14:creationId xmlns:p14="http://schemas.microsoft.com/office/powerpoint/2010/main" val="388406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5AC2-FDEB-537C-04C1-0B308C0C268A}"/>
              </a:ext>
            </a:extLst>
          </p:cNvPr>
          <p:cNvSpPr>
            <a:spLocks noGrp="1"/>
          </p:cNvSpPr>
          <p:nvPr>
            <p:ph type="title"/>
          </p:nvPr>
        </p:nvSpPr>
        <p:spPr/>
        <p:txBody>
          <a:bodyPr>
            <a:normAutofit fontScale="90000"/>
          </a:bodyPr>
          <a:lstStyle/>
          <a:p>
            <a:r>
              <a:rPr lang="en-US" dirty="0"/>
              <a:t>Cost of Living Adjustment and Wage Cap</a:t>
            </a:r>
          </a:p>
        </p:txBody>
      </p:sp>
      <p:sp>
        <p:nvSpPr>
          <p:cNvPr id="3" name="Text Placeholder 2">
            <a:extLst>
              <a:ext uri="{FF2B5EF4-FFF2-40B4-BE49-F238E27FC236}">
                <a16:creationId xmlns:a16="http://schemas.microsoft.com/office/drawing/2014/main" id="{B5A06E00-D8C5-91F5-5FD4-9301EFD62408}"/>
              </a:ext>
            </a:extLst>
          </p:cNvPr>
          <p:cNvSpPr>
            <a:spLocks noGrp="1"/>
          </p:cNvSpPr>
          <p:nvPr>
            <p:ph type="body" sz="quarter" idx="10"/>
          </p:nvPr>
        </p:nvSpPr>
        <p:spPr/>
        <p:txBody>
          <a:bodyPr>
            <a:normAutofit fontScale="92500" lnSpcReduction="20000"/>
          </a:bodyPr>
          <a:lstStyle/>
          <a:p>
            <a:r>
              <a:rPr lang="en-US" dirty="0">
                <a:latin typeface="Arial" panose="020B0604020202020204" pitchFamily="34" charset="0"/>
                <a:cs typeface="Arial" panose="020B0604020202020204" pitchFamily="34" charset="0"/>
              </a:rPr>
              <a:t>Social Security benefits adjust each year to account for inflation</a:t>
            </a:r>
          </a:p>
          <a:p>
            <a:endParaRPr lang="en-US" dirty="0">
              <a:latin typeface="Arial" panose="020B0604020202020204" pitchFamily="34" charset="0"/>
              <a:cs typeface="Arial" panose="020B0604020202020204" pitchFamily="34" charset="0"/>
            </a:endParaRPr>
          </a:p>
          <a:p>
            <a:r>
              <a:rPr lang="en-US" sz="2000" spc="-20" dirty="0">
                <a:solidFill>
                  <a:srgbClr val="000000"/>
                </a:solidFill>
                <a:latin typeface="Arial" panose="020B0604020202020204" pitchFamily="34" charset="0"/>
                <a:cs typeface="Arial" panose="020B0604020202020204" pitchFamily="34" charset="0"/>
              </a:rPr>
              <a:t>The COLA for 2025 is 2.5%</a:t>
            </a:r>
          </a:p>
          <a:p>
            <a:endParaRPr lang="en-US" spc="-20" dirty="0">
              <a:solidFill>
                <a:srgbClr val="000000"/>
              </a:solidFill>
              <a:highlight>
                <a:srgbClr val="FFFF00"/>
              </a:highlight>
              <a:latin typeface="Arial" panose="020B0604020202020204" pitchFamily="34" charset="0"/>
              <a:cs typeface="Arial" panose="020B0604020202020204" pitchFamily="34" charset="0"/>
            </a:endParaRPr>
          </a:p>
          <a:p>
            <a:r>
              <a:rPr lang="en-US" spc="-20" dirty="0">
                <a:solidFill>
                  <a:srgbClr val="000000"/>
                </a:solidFill>
                <a:latin typeface="Arial" panose="020B0604020202020204" pitchFamily="34" charset="0"/>
                <a:cs typeface="Arial" panose="020B0604020202020204" pitchFamily="34" charset="0"/>
              </a:rPr>
              <a:t>Wage cap limits the amount of FICA taxes</a:t>
            </a:r>
          </a:p>
          <a:p>
            <a:endParaRPr lang="en-US" spc="-20" dirty="0">
              <a:solidFill>
                <a:srgbClr val="000000"/>
              </a:solidFill>
              <a:latin typeface="Arial" panose="020B0604020202020204" pitchFamily="34" charset="0"/>
              <a:cs typeface="Arial" panose="020B0604020202020204" pitchFamily="34" charset="0"/>
            </a:endParaRPr>
          </a:p>
          <a:p>
            <a:r>
              <a:rPr lang="en-US" spc="-20" dirty="0">
                <a:solidFill>
                  <a:srgbClr val="000000"/>
                </a:solidFill>
                <a:latin typeface="Arial" panose="020B0604020202020204" pitchFamily="34" charset="0"/>
                <a:cs typeface="Arial" panose="020B0604020202020204" pitchFamily="34" charset="0"/>
              </a:rPr>
              <a:t>The wage cap for 2025 is $176,100</a:t>
            </a:r>
            <a:endParaRPr lang="en-US" dirty="0">
              <a:latin typeface="Arial" panose="020B0604020202020204" pitchFamily="34" charset="0"/>
              <a:cs typeface="Arial" panose="020B0604020202020204" pitchFamily="34" charset="0"/>
            </a:endParaRPr>
          </a:p>
        </p:txBody>
      </p:sp>
      <p:pic>
        <p:nvPicPr>
          <p:cNvPr id="5" name="Content Placeholder 4" descr="A picture containing person, indoor, man, sitting&#10;&#10;Description automatically generated">
            <a:extLst>
              <a:ext uri="{FF2B5EF4-FFF2-40B4-BE49-F238E27FC236}">
                <a16:creationId xmlns:a16="http://schemas.microsoft.com/office/drawing/2014/main" id="{F264A138-4B31-ACE4-AC25-FB117ABA3AD0}"/>
              </a:ext>
            </a:extLst>
          </p:cNvPr>
          <p:cNvPicPr>
            <a:picLocks noGrp="1" noChangeAspect="1"/>
          </p:cNvPicPr>
          <p:nvPr>
            <p:ph sz="quarter" idx="11"/>
          </p:nvPr>
        </p:nvPicPr>
        <p:blipFill rotWithShape="1">
          <a:blip r:embed="rId3" cstate="screen">
            <a:extLst>
              <a:ext uri="{28A0092B-C50C-407E-A947-70E740481C1C}">
                <a14:useLocalDpi xmlns:a14="http://schemas.microsoft.com/office/drawing/2010/main"/>
              </a:ext>
            </a:extLst>
          </a:blip>
          <a:srcRect/>
          <a:stretch/>
        </p:blipFill>
        <p:spPr>
          <a:xfrm>
            <a:off x="810419" y="947738"/>
            <a:ext cx="4025900" cy="3403600"/>
          </a:xfrm>
          <a:prstGeom prst="rect">
            <a:avLst/>
          </a:prstGeom>
          <a:effectLst/>
        </p:spPr>
      </p:pic>
    </p:spTree>
    <p:extLst>
      <p:ext uri="{BB962C8B-B14F-4D97-AF65-F5344CB8AC3E}">
        <p14:creationId xmlns:p14="http://schemas.microsoft.com/office/powerpoint/2010/main" val="1605312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903755-D19B-C64C-B97F-1BDE023F8CC7}"/>
              </a:ext>
            </a:extLst>
          </p:cNvPr>
          <p:cNvSpPr>
            <a:spLocks noGrp="1"/>
          </p:cNvSpPr>
          <p:nvPr>
            <p:ph type="body" sz="quarter" idx="14"/>
          </p:nvPr>
        </p:nvSpPr>
        <p:spPr/>
        <p:txBody>
          <a:bodyPr/>
          <a:lstStyle/>
          <a:p>
            <a:r>
              <a:rPr lang="en-US"/>
              <a:t>Collecting Social Security While Working</a:t>
            </a:r>
          </a:p>
        </p:txBody>
      </p:sp>
      <p:sp>
        <p:nvSpPr>
          <p:cNvPr id="4" name="Text Placeholder 3">
            <a:extLst>
              <a:ext uri="{FF2B5EF4-FFF2-40B4-BE49-F238E27FC236}">
                <a16:creationId xmlns:a16="http://schemas.microsoft.com/office/drawing/2014/main" id="{A9465027-9A21-C542-A489-CC5ECD246512}"/>
              </a:ext>
            </a:extLst>
          </p:cNvPr>
          <p:cNvSpPr>
            <a:spLocks noGrp="1"/>
          </p:cNvSpPr>
          <p:nvPr>
            <p:ph type="body" sz="quarter" idx="13"/>
          </p:nvPr>
        </p:nvSpPr>
        <p:spPr>
          <a:xfrm>
            <a:off x="4589369" y="1078992"/>
            <a:ext cx="4095844" cy="3487094"/>
          </a:xfrm>
        </p:spPr>
        <p:txBody>
          <a:bodyPr vert="horz" lIns="91440" tIns="45720" rIns="91440" bIns="45720" rtlCol="0" anchor="t">
            <a:normAutofit fontScale="92500"/>
          </a:bodyPr>
          <a:lstStyle/>
          <a:p>
            <a:pPr marL="0" indent="0">
              <a:spcBef>
                <a:spcPts val="1200"/>
              </a:spcBef>
              <a:buSzPct val="110000"/>
              <a:buNone/>
            </a:pPr>
            <a:r>
              <a:rPr lang="en-US" sz="2200" b="1" dirty="0"/>
              <a:t>Social Security Earnings Limit</a:t>
            </a:r>
            <a:endParaRPr lang="en-US" sz="2200" b="1" spc="-20" dirty="0">
              <a:solidFill>
                <a:srgbClr val="000000"/>
              </a:solidFill>
              <a:latin typeface="Arial" panose="020B0604020202020204" pitchFamily="34" charset="0"/>
              <a:cs typeface="Arial" panose="020B0604020202020204" pitchFamily="34" charset="0"/>
            </a:endParaRPr>
          </a:p>
          <a:p>
            <a:pPr marL="285750" indent="-285750">
              <a:spcBef>
                <a:spcPts val="1200"/>
              </a:spcBef>
              <a:buSzPct val="110000"/>
            </a:pPr>
            <a:r>
              <a:rPr lang="en-US" sz="2200" spc="-20" dirty="0">
                <a:solidFill>
                  <a:srgbClr val="000000"/>
                </a:solidFill>
                <a:latin typeface="Arial" panose="020B0604020202020204" pitchFamily="34" charset="0"/>
                <a:cs typeface="Arial" panose="020B0604020202020204" pitchFamily="34" charset="0"/>
              </a:rPr>
              <a:t>Applies if you are below Full Retirement Age</a:t>
            </a:r>
          </a:p>
          <a:p>
            <a:pPr marL="285750" indent="-285750">
              <a:spcBef>
                <a:spcPts val="1200"/>
              </a:spcBef>
              <a:buSzPct val="110000"/>
            </a:pPr>
            <a:r>
              <a:rPr lang="en-US" sz="2200" spc="-20" dirty="0">
                <a:solidFill>
                  <a:srgbClr val="000000"/>
                </a:solidFill>
                <a:latin typeface="Arial"/>
                <a:cs typeface="Arial"/>
              </a:rPr>
              <a:t>$1 is deducted for every $2 earned above the limit</a:t>
            </a:r>
          </a:p>
          <a:p>
            <a:pPr marL="285750" indent="-285750">
              <a:spcBef>
                <a:spcPts val="1200"/>
              </a:spcBef>
              <a:buSzPct val="110000"/>
            </a:pPr>
            <a:r>
              <a:rPr lang="en-US" sz="2200" spc="-20" dirty="0">
                <a:solidFill>
                  <a:srgbClr val="000000"/>
                </a:solidFill>
                <a:latin typeface="Arial"/>
                <a:cs typeface="Arial"/>
              </a:rPr>
              <a:t>In the year you reach Full Retirement Age, the limit rises: $1 is deducted for every $3 earned above the limit</a:t>
            </a:r>
          </a:p>
          <a:p>
            <a:pPr marL="229870" indent="-229870"/>
            <a:endParaRPr lang="en-US" dirty="0"/>
          </a:p>
        </p:txBody>
      </p:sp>
      <p:pic>
        <p:nvPicPr>
          <p:cNvPr id="7" name="Content Placeholder 4">
            <a:extLst>
              <a:ext uri="{FF2B5EF4-FFF2-40B4-BE49-F238E27FC236}">
                <a16:creationId xmlns:a16="http://schemas.microsoft.com/office/drawing/2014/main" id="{0BBBD0F7-ACB2-58A9-A1D3-5FD2A747B3B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453200" y="1323976"/>
            <a:ext cx="4051571" cy="3028950"/>
          </a:xfrm>
          <a:prstGeom prst="rect">
            <a:avLst/>
          </a:prstGeom>
        </p:spPr>
      </p:pic>
    </p:spTree>
    <p:extLst>
      <p:ext uri="{BB962C8B-B14F-4D97-AF65-F5344CB8AC3E}">
        <p14:creationId xmlns:p14="http://schemas.microsoft.com/office/powerpoint/2010/main" val="368278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5CDE-FC0E-6C4F-B3FD-144248B3B247}"/>
              </a:ext>
            </a:extLst>
          </p:cNvPr>
          <p:cNvSpPr>
            <a:spLocks noGrp="1"/>
          </p:cNvSpPr>
          <p:nvPr>
            <p:ph type="title"/>
          </p:nvPr>
        </p:nvSpPr>
        <p:spPr/>
        <p:txBody>
          <a:bodyPr/>
          <a:lstStyle/>
          <a:p>
            <a:r>
              <a:rPr lang="en-US"/>
              <a:t>Who Can Collect on Your Record?</a:t>
            </a:r>
          </a:p>
        </p:txBody>
      </p:sp>
      <p:grpSp>
        <p:nvGrpSpPr>
          <p:cNvPr id="4" name="Group 3">
            <a:extLst>
              <a:ext uri="{FF2B5EF4-FFF2-40B4-BE49-F238E27FC236}">
                <a16:creationId xmlns:a16="http://schemas.microsoft.com/office/drawing/2014/main" id="{3B0AC440-C79F-E940-9101-810BFC4B7808}"/>
              </a:ext>
            </a:extLst>
          </p:cNvPr>
          <p:cNvGrpSpPr/>
          <p:nvPr/>
        </p:nvGrpSpPr>
        <p:grpSpPr>
          <a:xfrm>
            <a:off x="2368690" y="1182446"/>
            <a:ext cx="3356046" cy="3371729"/>
            <a:chOff x="2234610" y="851564"/>
            <a:chExt cx="3721972" cy="3739365"/>
          </a:xfrm>
        </p:grpSpPr>
        <p:sp>
          <p:nvSpPr>
            <p:cNvPr id="5" name="Freeform 6">
              <a:extLst>
                <a:ext uri="{FF2B5EF4-FFF2-40B4-BE49-F238E27FC236}">
                  <a16:creationId xmlns:a16="http://schemas.microsoft.com/office/drawing/2014/main" id="{C040D5B8-24CD-C943-A4A6-FDFA63B8DD69}"/>
                </a:ext>
              </a:extLst>
            </p:cNvPr>
            <p:cNvSpPr>
              <a:spLocks/>
            </p:cNvSpPr>
            <p:nvPr/>
          </p:nvSpPr>
          <p:spPr bwMode="auto">
            <a:xfrm>
              <a:off x="4092032" y="851564"/>
              <a:ext cx="1858640" cy="2232192"/>
            </a:xfrm>
            <a:custGeom>
              <a:avLst/>
              <a:gdLst/>
              <a:ahLst/>
              <a:cxnLst>
                <a:cxn ang="0">
                  <a:pos x="0" y="196"/>
                </a:cxn>
                <a:cxn ang="0">
                  <a:pos x="0" y="61"/>
                </a:cxn>
                <a:cxn ang="0">
                  <a:pos x="1" y="61"/>
                </a:cxn>
                <a:cxn ang="0">
                  <a:pos x="32" y="62"/>
                </a:cxn>
                <a:cxn ang="0">
                  <a:pos x="67" y="0"/>
                </a:cxn>
                <a:cxn ang="0">
                  <a:pos x="126" y="15"/>
                </a:cxn>
                <a:cxn ang="0">
                  <a:pos x="126" y="86"/>
                </a:cxn>
                <a:cxn ang="0">
                  <a:pos x="185" y="120"/>
                </a:cxn>
                <a:cxn ang="0">
                  <a:pos x="186" y="120"/>
                </a:cxn>
                <a:cxn ang="0">
                  <a:pos x="246" y="84"/>
                </a:cxn>
                <a:cxn ang="0">
                  <a:pos x="269" y="106"/>
                </a:cxn>
                <a:cxn ang="0">
                  <a:pos x="283" y="120"/>
                </a:cxn>
                <a:cxn ang="0">
                  <a:pos x="288" y="126"/>
                </a:cxn>
                <a:cxn ang="0">
                  <a:pos x="252" y="186"/>
                </a:cxn>
                <a:cxn ang="0">
                  <a:pos x="287" y="244"/>
                </a:cxn>
                <a:cxn ang="0">
                  <a:pos x="359" y="244"/>
                </a:cxn>
                <a:cxn ang="0">
                  <a:pos x="374" y="301"/>
                </a:cxn>
                <a:cxn ang="0">
                  <a:pos x="313" y="341"/>
                </a:cxn>
                <a:cxn ang="0">
                  <a:pos x="314" y="374"/>
                </a:cxn>
                <a:cxn ang="0">
                  <a:pos x="314" y="376"/>
                </a:cxn>
                <a:cxn ang="0">
                  <a:pos x="175" y="376"/>
                </a:cxn>
                <a:cxn ang="0">
                  <a:pos x="174" y="376"/>
                </a:cxn>
                <a:cxn ang="0">
                  <a:pos x="175" y="377"/>
                </a:cxn>
                <a:cxn ang="0">
                  <a:pos x="187" y="406"/>
                </a:cxn>
                <a:cxn ang="0">
                  <a:pos x="175" y="434"/>
                </a:cxn>
                <a:cxn ang="0">
                  <a:pos x="146" y="446"/>
                </a:cxn>
                <a:cxn ang="0">
                  <a:pos x="117" y="434"/>
                </a:cxn>
                <a:cxn ang="0">
                  <a:pos x="106" y="406"/>
                </a:cxn>
                <a:cxn ang="0">
                  <a:pos x="117" y="377"/>
                </a:cxn>
                <a:cxn ang="0">
                  <a:pos x="118" y="376"/>
                </a:cxn>
                <a:cxn ang="0">
                  <a:pos x="117" y="376"/>
                </a:cxn>
                <a:cxn ang="0">
                  <a:pos x="0" y="376"/>
                </a:cxn>
                <a:cxn ang="0">
                  <a:pos x="0" y="253"/>
                </a:cxn>
                <a:cxn ang="0">
                  <a:pos x="3" y="253"/>
                </a:cxn>
                <a:cxn ang="0">
                  <a:pos x="32" y="265"/>
                </a:cxn>
                <a:cxn ang="0">
                  <a:pos x="61" y="253"/>
                </a:cxn>
                <a:cxn ang="0">
                  <a:pos x="73" y="224"/>
                </a:cxn>
                <a:cxn ang="0">
                  <a:pos x="61" y="196"/>
                </a:cxn>
                <a:cxn ang="0">
                  <a:pos x="32" y="184"/>
                </a:cxn>
                <a:cxn ang="0">
                  <a:pos x="3" y="196"/>
                </a:cxn>
                <a:cxn ang="0">
                  <a:pos x="0" y="196"/>
                </a:cxn>
              </a:cxnLst>
              <a:rect l="0" t="0" r="r" b="b"/>
              <a:pathLst>
                <a:path w="374" h="446">
                  <a:moveTo>
                    <a:pt x="0" y="196"/>
                  </a:moveTo>
                  <a:cubicBezTo>
                    <a:pt x="0" y="61"/>
                    <a:pt x="0" y="61"/>
                    <a:pt x="0" y="61"/>
                  </a:cubicBezTo>
                  <a:cubicBezTo>
                    <a:pt x="0" y="61"/>
                    <a:pt x="1" y="61"/>
                    <a:pt x="1" y="61"/>
                  </a:cubicBezTo>
                  <a:cubicBezTo>
                    <a:pt x="12" y="61"/>
                    <a:pt x="22" y="61"/>
                    <a:pt x="32" y="62"/>
                  </a:cubicBezTo>
                  <a:cubicBezTo>
                    <a:pt x="67" y="0"/>
                    <a:pt x="67" y="0"/>
                    <a:pt x="67" y="0"/>
                  </a:cubicBezTo>
                  <a:cubicBezTo>
                    <a:pt x="87" y="4"/>
                    <a:pt x="107" y="8"/>
                    <a:pt x="126" y="15"/>
                  </a:cubicBezTo>
                  <a:cubicBezTo>
                    <a:pt x="126" y="86"/>
                    <a:pt x="126" y="86"/>
                    <a:pt x="126" y="86"/>
                  </a:cubicBezTo>
                  <a:cubicBezTo>
                    <a:pt x="146" y="95"/>
                    <a:pt x="166" y="106"/>
                    <a:pt x="185" y="120"/>
                  </a:cubicBezTo>
                  <a:cubicBezTo>
                    <a:pt x="185" y="120"/>
                    <a:pt x="185" y="120"/>
                    <a:pt x="186" y="120"/>
                  </a:cubicBezTo>
                  <a:cubicBezTo>
                    <a:pt x="246" y="84"/>
                    <a:pt x="246" y="84"/>
                    <a:pt x="246" y="84"/>
                  </a:cubicBezTo>
                  <a:cubicBezTo>
                    <a:pt x="254" y="91"/>
                    <a:pt x="262" y="98"/>
                    <a:pt x="269" y="106"/>
                  </a:cubicBezTo>
                  <a:cubicBezTo>
                    <a:pt x="274" y="111"/>
                    <a:pt x="278" y="115"/>
                    <a:pt x="283" y="120"/>
                  </a:cubicBezTo>
                  <a:cubicBezTo>
                    <a:pt x="284" y="122"/>
                    <a:pt x="286" y="124"/>
                    <a:pt x="288" y="126"/>
                  </a:cubicBezTo>
                  <a:cubicBezTo>
                    <a:pt x="252" y="186"/>
                    <a:pt x="252" y="186"/>
                    <a:pt x="252" y="186"/>
                  </a:cubicBezTo>
                  <a:cubicBezTo>
                    <a:pt x="266" y="204"/>
                    <a:pt x="278" y="224"/>
                    <a:pt x="287" y="244"/>
                  </a:cubicBezTo>
                  <a:cubicBezTo>
                    <a:pt x="359" y="244"/>
                    <a:pt x="359" y="244"/>
                    <a:pt x="359" y="244"/>
                  </a:cubicBezTo>
                  <a:cubicBezTo>
                    <a:pt x="365" y="263"/>
                    <a:pt x="370" y="282"/>
                    <a:pt x="374" y="301"/>
                  </a:cubicBezTo>
                  <a:cubicBezTo>
                    <a:pt x="313" y="341"/>
                    <a:pt x="313" y="341"/>
                    <a:pt x="313" y="341"/>
                  </a:cubicBezTo>
                  <a:cubicBezTo>
                    <a:pt x="314" y="352"/>
                    <a:pt x="314" y="363"/>
                    <a:pt x="314" y="374"/>
                  </a:cubicBezTo>
                  <a:cubicBezTo>
                    <a:pt x="314" y="375"/>
                    <a:pt x="314" y="375"/>
                    <a:pt x="314" y="376"/>
                  </a:cubicBezTo>
                  <a:cubicBezTo>
                    <a:pt x="175" y="376"/>
                    <a:pt x="175" y="376"/>
                    <a:pt x="175" y="376"/>
                  </a:cubicBezTo>
                  <a:cubicBezTo>
                    <a:pt x="174" y="376"/>
                    <a:pt x="174" y="376"/>
                    <a:pt x="174" y="376"/>
                  </a:cubicBezTo>
                  <a:cubicBezTo>
                    <a:pt x="174" y="376"/>
                    <a:pt x="175" y="377"/>
                    <a:pt x="175" y="377"/>
                  </a:cubicBezTo>
                  <a:cubicBezTo>
                    <a:pt x="183" y="385"/>
                    <a:pt x="187" y="395"/>
                    <a:pt x="187" y="406"/>
                  </a:cubicBezTo>
                  <a:cubicBezTo>
                    <a:pt x="187" y="417"/>
                    <a:pt x="183" y="427"/>
                    <a:pt x="175" y="434"/>
                  </a:cubicBezTo>
                  <a:cubicBezTo>
                    <a:pt x="167" y="442"/>
                    <a:pt x="157" y="446"/>
                    <a:pt x="146" y="446"/>
                  </a:cubicBezTo>
                  <a:cubicBezTo>
                    <a:pt x="135" y="446"/>
                    <a:pt x="125" y="442"/>
                    <a:pt x="117" y="434"/>
                  </a:cubicBezTo>
                  <a:cubicBezTo>
                    <a:pt x="110" y="427"/>
                    <a:pt x="106" y="417"/>
                    <a:pt x="106" y="406"/>
                  </a:cubicBezTo>
                  <a:cubicBezTo>
                    <a:pt x="106" y="395"/>
                    <a:pt x="110" y="385"/>
                    <a:pt x="117" y="377"/>
                  </a:cubicBezTo>
                  <a:cubicBezTo>
                    <a:pt x="118" y="377"/>
                    <a:pt x="118" y="376"/>
                    <a:pt x="118" y="376"/>
                  </a:cubicBezTo>
                  <a:cubicBezTo>
                    <a:pt x="117" y="376"/>
                    <a:pt x="117" y="376"/>
                    <a:pt x="117" y="376"/>
                  </a:cubicBezTo>
                  <a:cubicBezTo>
                    <a:pt x="0" y="376"/>
                    <a:pt x="0" y="376"/>
                    <a:pt x="0" y="376"/>
                  </a:cubicBezTo>
                  <a:cubicBezTo>
                    <a:pt x="0" y="253"/>
                    <a:pt x="0" y="253"/>
                    <a:pt x="0" y="253"/>
                  </a:cubicBezTo>
                  <a:cubicBezTo>
                    <a:pt x="3" y="253"/>
                    <a:pt x="3" y="253"/>
                    <a:pt x="3" y="253"/>
                  </a:cubicBezTo>
                  <a:cubicBezTo>
                    <a:pt x="11" y="261"/>
                    <a:pt x="21" y="265"/>
                    <a:pt x="32" y="265"/>
                  </a:cubicBezTo>
                  <a:cubicBezTo>
                    <a:pt x="43" y="265"/>
                    <a:pt x="53" y="261"/>
                    <a:pt x="61" y="253"/>
                  </a:cubicBezTo>
                  <a:cubicBezTo>
                    <a:pt x="69" y="245"/>
                    <a:pt x="73" y="236"/>
                    <a:pt x="73" y="224"/>
                  </a:cubicBezTo>
                  <a:cubicBezTo>
                    <a:pt x="73" y="213"/>
                    <a:pt x="69" y="204"/>
                    <a:pt x="61" y="196"/>
                  </a:cubicBezTo>
                  <a:cubicBezTo>
                    <a:pt x="53" y="188"/>
                    <a:pt x="43" y="184"/>
                    <a:pt x="32" y="184"/>
                  </a:cubicBezTo>
                  <a:cubicBezTo>
                    <a:pt x="21" y="184"/>
                    <a:pt x="11" y="188"/>
                    <a:pt x="3" y="196"/>
                  </a:cubicBezTo>
                  <a:lnTo>
                    <a:pt x="0" y="196"/>
                  </a:lnTo>
                  <a:close/>
                </a:path>
              </a:pathLst>
            </a:custGeom>
            <a:solidFill>
              <a:schemeClr val="accent3"/>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FDCC3280-09CF-104F-ADD4-93A589C0E3FC}"/>
                </a:ext>
              </a:extLst>
            </p:cNvPr>
            <p:cNvSpPr>
              <a:spLocks/>
            </p:cNvSpPr>
            <p:nvPr/>
          </p:nvSpPr>
          <p:spPr bwMode="auto">
            <a:xfrm>
              <a:off x="3719546" y="2733068"/>
              <a:ext cx="2237036" cy="1857861"/>
            </a:xfrm>
            <a:custGeom>
              <a:avLst/>
              <a:gdLst/>
              <a:ahLst/>
              <a:cxnLst>
                <a:cxn ang="0">
                  <a:pos x="75" y="311"/>
                </a:cxn>
                <a:cxn ang="0">
                  <a:pos x="75" y="166"/>
                </a:cxn>
                <a:cxn ang="0">
                  <a:pos x="70" y="172"/>
                </a:cxn>
                <a:cxn ang="0">
                  <a:pos x="41" y="184"/>
                </a:cxn>
                <a:cxn ang="0">
                  <a:pos x="12" y="172"/>
                </a:cxn>
                <a:cxn ang="0">
                  <a:pos x="0" y="144"/>
                </a:cxn>
                <a:cxn ang="0">
                  <a:pos x="12" y="115"/>
                </a:cxn>
                <a:cxn ang="0">
                  <a:pos x="41" y="103"/>
                </a:cxn>
                <a:cxn ang="0">
                  <a:pos x="70" y="115"/>
                </a:cxn>
                <a:cxn ang="0">
                  <a:pos x="75" y="121"/>
                </a:cxn>
                <a:cxn ang="0">
                  <a:pos x="75" y="0"/>
                </a:cxn>
                <a:cxn ang="0">
                  <a:pos x="192" y="0"/>
                </a:cxn>
                <a:cxn ang="0">
                  <a:pos x="192" y="1"/>
                </a:cxn>
                <a:cxn ang="0">
                  <a:pos x="181" y="30"/>
                </a:cxn>
                <a:cxn ang="0">
                  <a:pos x="192" y="58"/>
                </a:cxn>
                <a:cxn ang="0">
                  <a:pos x="221" y="70"/>
                </a:cxn>
                <a:cxn ang="0">
                  <a:pos x="250" y="58"/>
                </a:cxn>
                <a:cxn ang="0">
                  <a:pos x="262" y="30"/>
                </a:cxn>
                <a:cxn ang="0">
                  <a:pos x="250" y="1"/>
                </a:cxn>
                <a:cxn ang="0">
                  <a:pos x="250" y="0"/>
                </a:cxn>
                <a:cxn ang="0">
                  <a:pos x="389" y="0"/>
                </a:cxn>
                <a:cxn ang="0">
                  <a:pos x="388" y="32"/>
                </a:cxn>
                <a:cxn ang="0">
                  <a:pos x="450" y="66"/>
                </a:cxn>
                <a:cxn ang="0">
                  <a:pos x="436" y="121"/>
                </a:cxn>
                <a:cxn ang="0">
                  <a:pos x="363" y="125"/>
                </a:cxn>
                <a:cxn ang="0">
                  <a:pos x="329" y="183"/>
                </a:cxn>
                <a:cxn ang="0">
                  <a:pos x="366" y="243"/>
                </a:cxn>
                <a:cxn ang="0">
                  <a:pos x="344" y="266"/>
                </a:cxn>
                <a:cxn ang="0">
                  <a:pos x="322" y="287"/>
                </a:cxn>
                <a:cxn ang="0">
                  <a:pos x="260" y="251"/>
                </a:cxn>
                <a:cxn ang="0">
                  <a:pos x="203" y="285"/>
                </a:cxn>
                <a:cxn ang="0">
                  <a:pos x="203" y="356"/>
                </a:cxn>
                <a:cxn ang="0">
                  <a:pos x="145" y="371"/>
                </a:cxn>
                <a:cxn ang="0">
                  <a:pos x="108" y="309"/>
                </a:cxn>
                <a:cxn ang="0">
                  <a:pos x="76" y="311"/>
                </a:cxn>
                <a:cxn ang="0">
                  <a:pos x="75" y="311"/>
                </a:cxn>
              </a:cxnLst>
              <a:rect l="0" t="0" r="r" b="b"/>
              <a:pathLst>
                <a:path w="450" h="371">
                  <a:moveTo>
                    <a:pt x="75" y="311"/>
                  </a:moveTo>
                  <a:cubicBezTo>
                    <a:pt x="75" y="166"/>
                    <a:pt x="75" y="166"/>
                    <a:pt x="75" y="166"/>
                  </a:cubicBezTo>
                  <a:cubicBezTo>
                    <a:pt x="73" y="168"/>
                    <a:pt x="72" y="170"/>
                    <a:pt x="70" y="172"/>
                  </a:cubicBezTo>
                  <a:cubicBezTo>
                    <a:pt x="62" y="180"/>
                    <a:pt x="52" y="184"/>
                    <a:pt x="41" y="184"/>
                  </a:cubicBezTo>
                  <a:cubicBezTo>
                    <a:pt x="30" y="184"/>
                    <a:pt x="20" y="180"/>
                    <a:pt x="12" y="172"/>
                  </a:cubicBezTo>
                  <a:cubicBezTo>
                    <a:pt x="4" y="165"/>
                    <a:pt x="0" y="155"/>
                    <a:pt x="0" y="144"/>
                  </a:cubicBezTo>
                  <a:cubicBezTo>
                    <a:pt x="0" y="133"/>
                    <a:pt x="4" y="123"/>
                    <a:pt x="12" y="115"/>
                  </a:cubicBezTo>
                  <a:cubicBezTo>
                    <a:pt x="20" y="107"/>
                    <a:pt x="30" y="103"/>
                    <a:pt x="41" y="103"/>
                  </a:cubicBezTo>
                  <a:cubicBezTo>
                    <a:pt x="52" y="103"/>
                    <a:pt x="62" y="107"/>
                    <a:pt x="70" y="115"/>
                  </a:cubicBezTo>
                  <a:cubicBezTo>
                    <a:pt x="72" y="117"/>
                    <a:pt x="73" y="119"/>
                    <a:pt x="75" y="121"/>
                  </a:cubicBezTo>
                  <a:cubicBezTo>
                    <a:pt x="75" y="0"/>
                    <a:pt x="75" y="0"/>
                    <a:pt x="75" y="0"/>
                  </a:cubicBezTo>
                  <a:cubicBezTo>
                    <a:pt x="192" y="0"/>
                    <a:pt x="192" y="0"/>
                    <a:pt x="192" y="0"/>
                  </a:cubicBezTo>
                  <a:cubicBezTo>
                    <a:pt x="192" y="1"/>
                    <a:pt x="192" y="1"/>
                    <a:pt x="192" y="1"/>
                  </a:cubicBezTo>
                  <a:cubicBezTo>
                    <a:pt x="185" y="9"/>
                    <a:pt x="181" y="19"/>
                    <a:pt x="181" y="30"/>
                  </a:cubicBezTo>
                  <a:cubicBezTo>
                    <a:pt x="181" y="41"/>
                    <a:pt x="185" y="51"/>
                    <a:pt x="192" y="58"/>
                  </a:cubicBezTo>
                  <a:cubicBezTo>
                    <a:pt x="200" y="66"/>
                    <a:pt x="210" y="70"/>
                    <a:pt x="221" y="70"/>
                  </a:cubicBezTo>
                  <a:cubicBezTo>
                    <a:pt x="232" y="70"/>
                    <a:pt x="242" y="66"/>
                    <a:pt x="250" y="58"/>
                  </a:cubicBezTo>
                  <a:cubicBezTo>
                    <a:pt x="258" y="51"/>
                    <a:pt x="262" y="41"/>
                    <a:pt x="262" y="30"/>
                  </a:cubicBezTo>
                  <a:cubicBezTo>
                    <a:pt x="262" y="19"/>
                    <a:pt x="258" y="9"/>
                    <a:pt x="250" y="1"/>
                  </a:cubicBezTo>
                  <a:cubicBezTo>
                    <a:pt x="250" y="0"/>
                    <a:pt x="250" y="0"/>
                    <a:pt x="250" y="0"/>
                  </a:cubicBezTo>
                  <a:cubicBezTo>
                    <a:pt x="389" y="0"/>
                    <a:pt x="389" y="0"/>
                    <a:pt x="389" y="0"/>
                  </a:cubicBezTo>
                  <a:cubicBezTo>
                    <a:pt x="389" y="11"/>
                    <a:pt x="389" y="22"/>
                    <a:pt x="388" y="32"/>
                  </a:cubicBezTo>
                  <a:cubicBezTo>
                    <a:pt x="450" y="66"/>
                    <a:pt x="450" y="66"/>
                    <a:pt x="450" y="66"/>
                  </a:cubicBezTo>
                  <a:cubicBezTo>
                    <a:pt x="446" y="85"/>
                    <a:pt x="442" y="103"/>
                    <a:pt x="436" y="121"/>
                  </a:cubicBezTo>
                  <a:cubicBezTo>
                    <a:pt x="363" y="125"/>
                    <a:pt x="363" y="125"/>
                    <a:pt x="363" y="125"/>
                  </a:cubicBezTo>
                  <a:cubicBezTo>
                    <a:pt x="354" y="145"/>
                    <a:pt x="343" y="164"/>
                    <a:pt x="329" y="183"/>
                  </a:cubicBezTo>
                  <a:cubicBezTo>
                    <a:pt x="366" y="243"/>
                    <a:pt x="366" y="243"/>
                    <a:pt x="366" y="243"/>
                  </a:cubicBezTo>
                  <a:cubicBezTo>
                    <a:pt x="359" y="251"/>
                    <a:pt x="352" y="258"/>
                    <a:pt x="344" y="266"/>
                  </a:cubicBezTo>
                  <a:cubicBezTo>
                    <a:pt x="337" y="273"/>
                    <a:pt x="329" y="280"/>
                    <a:pt x="322" y="287"/>
                  </a:cubicBezTo>
                  <a:cubicBezTo>
                    <a:pt x="260" y="251"/>
                    <a:pt x="260" y="251"/>
                    <a:pt x="260" y="251"/>
                  </a:cubicBezTo>
                  <a:cubicBezTo>
                    <a:pt x="242" y="265"/>
                    <a:pt x="223" y="276"/>
                    <a:pt x="203" y="285"/>
                  </a:cubicBezTo>
                  <a:cubicBezTo>
                    <a:pt x="203" y="356"/>
                    <a:pt x="203" y="356"/>
                    <a:pt x="203" y="356"/>
                  </a:cubicBezTo>
                  <a:cubicBezTo>
                    <a:pt x="184" y="363"/>
                    <a:pt x="165" y="368"/>
                    <a:pt x="145" y="371"/>
                  </a:cubicBezTo>
                  <a:cubicBezTo>
                    <a:pt x="108" y="309"/>
                    <a:pt x="108" y="309"/>
                    <a:pt x="108" y="309"/>
                  </a:cubicBezTo>
                  <a:cubicBezTo>
                    <a:pt x="98" y="310"/>
                    <a:pt x="87" y="311"/>
                    <a:pt x="76" y="311"/>
                  </a:cubicBezTo>
                  <a:cubicBezTo>
                    <a:pt x="76" y="311"/>
                    <a:pt x="75" y="311"/>
                    <a:pt x="75" y="311"/>
                  </a:cubicBezTo>
                  <a:close/>
                </a:path>
              </a:pathLst>
            </a:custGeom>
            <a:solidFill>
              <a:schemeClr val="accent4"/>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2516BACF-1666-C44F-95A6-E1B0CCE97FA7}"/>
                </a:ext>
              </a:extLst>
            </p:cNvPr>
            <p:cNvSpPr>
              <a:spLocks/>
            </p:cNvSpPr>
            <p:nvPr/>
          </p:nvSpPr>
          <p:spPr bwMode="auto">
            <a:xfrm>
              <a:off x="2236286" y="855504"/>
              <a:ext cx="2211546" cy="1877564"/>
            </a:xfrm>
            <a:custGeom>
              <a:avLst/>
              <a:gdLst/>
              <a:ahLst/>
              <a:cxnLst>
                <a:cxn ang="0">
                  <a:pos x="372" y="375"/>
                </a:cxn>
                <a:cxn ang="0">
                  <a:pos x="239" y="375"/>
                </a:cxn>
                <a:cxn ang="0">
                  <a:pos x="248" y="368"/>
                </a:cxn>
                <a:cxn ang="0">
                  <a:pos x="260" y="340"/>
                </a:cxn>
                <a:cxn ang="0">
                  <a:pos x="248" y="311"/>
                </a:cxn>
                <a:cxn ang="0">
                  <a:pos x="220" y="299"/>
                </a:cxn>
                <a:cxn ang="0">
                  <a:pos x="191" y="311"/>
                </a:cxn>
                <a:cxn ang="0">
                  <a:pos x="179" y="340"/>
                </a:cxn>
                <a:cxn ang="0">
                  <a:pos x="191" y="368"/>
                </a:cxn>
                <a:cxn ang="0">
                  <a:pos x="200" y="375"/>
                </a:cxn>
                <a:cxn ang="0">
                  <a:pos x="61" y="375"/>
                </a:cxn>
                <a:cxn ang="0">
                  <a:pos x="61" y="375"/>
                </a:cxn>
                <a:cxn ang="0">
                  <a:pos x="61" y="373"/>
                </a:cxn>
                <a:cxn ang="0">
                  <a:pos x="61" y="367"/>
                </a:cxn>
                <a:cxn ang="0">
                  <a:pos x="62" y="342"/>
                </a:cxn>
                <a:cxn ang="0">
                  <a:pos x="0" y="307"/>
                </a:cxn>
                <a:cxn ang="0">
                  <a:pos x="16" y="243"/>
                </a:cxn>
                <a:cxn ang="0">
                  <a:pos x="86" y="247"/>
                </a:cxn>
                <a:cxn ang="0">
                  <a:pos x="119" y="191"/>
                </a:cxn>
                <a:cxn ang="0">
                  <a:pos x="85" y="127"/>
                </a:cxn>
                <a:cxn ang="0">
                  <a:pos x="92" y="119"/>
                </a:cxn>
                <a:cxn ang="0">
                  <a:pos x="106" y="105"/>
                </a:cxn>
                <a:cxn ang="0">
                  <a:pos x="128" y="84"/>
                </a:cxn>
                <a:cxn ang="0">
                  <a:pos x="188" y="120"/>
                </a:cxn>
                <a:cxn ang="0">
                  <a:pos x="190" y="119"/>
                </a:cxn>
                <a:cxn ang="0">
                  <a:pos x="243" y="88"/>
                </a:cxn>
                <a:cxn ang="0">
                  <a:pos x="243" y="16"/>
                </a:cxn>
                <a:cxn ang="0">
                  <a:pos x="303" y="0"/>
                </a:cxn>
                <a:cxn ang="0">
                  <a:pos x="339" y="62"/>
                </a:cxn>
                <a:cxn ang="0">
                  <a:pos x="372" y="60"/>
                </a:cxn>
                <a:cxn ang="0">
                  <a:pos x="372" y="195"/>
                </a:cxn>
                <a:cxn ang="0">
                  <a:pos x="372" y="199"/>
                </a:cxn>
                <a:cxn ang="0">
                  <a:pos x="375" y="195"/>
                </a:cxn>
                <a:cxn ang="0">
                  <a:pos x="404" y="183"/>
                </a:cxn>
                <a:cxn ang="0">
                  <a:pos x="433" y="195"/>
                </a:cxn>
                <a:cxn ang="0">
                  <a:pos x="445" y="223"/>
                </a:cxn>
                <a:cxn ang="0">
                  <a:pos x="433" y="252"/>
                </a:cxn>
                <a:cxn ang="0">
                  <a:pos x="404" y="264"/>
                </a:cxn>
                <a:cxn ang="0">
                  <a:pos x="375" y="252"/>
                </a:cxn>
                <a:cxn ang="0">
                  <a:pos x="372" y="248"/>
                </a:cxn>
                <a:cxn ang="0">
                  <a:pos x="372" y="252"/>
                </a:cxn>
                <a:cxn ang="0">
                  <a:pos x="372" y="375"/>
                </a:cxn>
              </a:cxnLst>
              <a:rect l="0" t="0" r="r" b="b"/>
              <a:pathLst>
                <a:path w="445" h="375">
                  <a:moveTo>
                    <a:pt x="372" y="375"/>
                  </a:moveTo>
                  <a:cubicBezTo>
                    <a:pt x="239" y="375"/>
                    <a:pt x="239" y="375"/>
                    <a:pt x="239" y="375"/>
                  </a:cubicBezTo>
                  <a:cubicBezTo>
                    <a:pt x="243" y="373"/>
                    <a:pt x="246" y="371"/>
                    <a:pt x="248" y="368"/>
                  </a:cubicBezTo>
                  <a:cubicBezTo>
                    <a:pt x="256" y="360"/>
                    <a:pt x="260" y="351"/>
                    <a:pt x="260" y="340"/>
                  </a:cubicBezTo>
                  <a:cubicBezTo>
                    <a:pt x="260" y="328"/>
                    <a:pt x="256" y="319"/>
                    <a:pt x="248" y="311"/>
                  </a:cubicBezTo>
                  <a:cubicBezTo>
                    <a:pt x="241" y="303"/>
                    <a:pt x="231" y="299"/>
                    <a:pt x="220" y="299"/>
                  </a:cubicBezTo>
                  <a:cubicBezTo>
                    <a:pt x="209" y="299"/>
                    <a:pt x="199" y="303"/>
                    <a:pt x="191" y="311"/>
                  </a:cubicBezTo>
                  <a:cubicBezTo>
                    <a:pt x="183" y="319"/>
                    <a:pt x="179" y="328"/>
                    <a:pt x="179" y="340"/>
                  </a:cubicBezTo>
                  <a:cubicBezTo>
                    <a:pt x="179" y="351"/>
                    <a:pt x="183" y="360"/>
                    <a:pt x="191" y="368"/>
                  </a:cubicBezTo>
                  <a:cubicBezTo>
                    <a:pt x="194" y="371"/>
                    <a:pt x="197" y="373"/>
                    <a:pt x="200" y="375"/>
                  </a:cubicBezTo>
                  <a:cubicBezTo>
                    <a:pt x="61" y="375"/>
                    <a:pt x="61" y="375"/>
                    <a:pt x="61" y="375"/>
                  </a:cubicBezTo>
                  <a:cubicBezTo>
                    <a:pt x="61" y="375"/>
                    <a:pt x="61" y="375"/>
                    <a:pt x="61" y="375"/>
                  </a:cubicBezTo>
                  <a:cubicBezTo>
                    <a:pt x="61" y="374"/>
                    <a:pt x="61" y="374"/>
                    <a:pt x="61" y="373"/>
                  </a:cubicBezTo>
                  <a:cubicBezTo>
                    <a:pt x="61" y="371"/>
                    <a:pt x="61" y="369"/>
                    <a:pt x="61" y="367"/>
                  </a:cubicBezTo>
                  <a:cubicBezTo>
                    <a:pt x="61" y="359"/>
                    <a:pt x="61" y="350"/>
                    <a:pt x="62" y="342"/>
                  </a:cubicBezTo>
                  <a:cubicBezTo>
                    <a:pt x="0" y="307"/>
                    <a:pt x="0" y="307"/>
                    <a:pt x="0" y="307"/>
                  </a:cubicBezTo>
                  <a:cubicBezTo>
                    <a:pt x="4" y="285"/>
                    <a:pt x="9" y="263"/>
                    <a:pt x="16" y="243"/>
                  </a:cubicBezTo>
                  <a:cubicBezTo>
                    <a:pt x="86" y="247"/>
                    <a:pt x="86" y="247"/>
                    <a:pt x="86" y="247"/>
                  </a:cubicBezTo>
                  <a:cubicBezTo>
                    <a:pt x="95" y="227"/>
                    <a:pt x="106" y="209"/>
                    <a:pt x="119" y="191"/>
                  </a:cubicBezTo>
                  <a:cubicBezTo>
                    <a:pt x="85" y="127"/>
                    <a:pt x="85" y="127"/>
                    <a:pt x="85" y="127"/>
                  </a:cubicBezTo>
                  <a:cubicBezTo>
                    <a:pt x="87" y="124"/>
                    <a:pt x="90" y="122"/>
                    <a:pt x="92" y="119"/>
                  </a:cubicBezTo>
                  <a:cubicBezTo>
                    <a:pt x="97" y="114"/>
                    <a:pt x="101" y="110"/>
                    <a:pt x="106" y="105"/>
                  </a:cubicBezTo>
                  <a:cubicBezTo>
                    <a:pt x="113" y="98"/>
                    <a:pt x="120" y="91"/>
                    <a:pt x="128" y="84"/>
                  </a:cubicBezTo>
                  <a:cubicBezTo>
                    <a:pt x="188" y="120"/>
                    <a:pt x="188" y="120"/>
                    <a:pt x="188" y="120"/>
                  </a:cubicBezTo>
                  <a:cubicBezTo>
                    <a:pt x="189" y="120"/>
                    <a:pt x="190" y="119"/>
                    <a:pt x="190" y="119"/>
                  </a:cubicBezTo>
                  <a:cubicBezTo>
                    <a:pt x="207" y="106"/>
                    <a:pt x="225" y="96"/>
                    <a:pt x="243" y="88"/>
                  </a:cubicBezTo>
                  <a:cubicBezTo>
                    <a:pt x="243" y="16"/>
                    <a:pt x="243" y="16"/>
                    <a:pt x="243" y="16"/>
                  </a:cubicBezTo>
                  <a:cubicBezTo>
                    <a:pt x="262" y="9"/>
                    <a:pt x="282" y="4"/>
                    <a:pt x="303" y="0"/>
                  </a:cubicBezTo>
                  <a:cubicBezTo>
                    <a:pt x="339" y="62"/>
                    <a:pt x="339" y="62"/>
                    <a:pt x="339" y="62"/>
                  </a:cubicBezTo>
                  <a:cubicBezTo>
                    <a:pt x="350" y="61"/>
                    <a:pt x="361" y="60"/>
                    <a:pt x="372" y="60"/>
                  </a:cubicBezTo>
                  <a:cubicBezTo>
                    <a:pt x="372" y="195"/>
                    <a:pt x="372" y="195"/>
                    <a:pt x="372" y="195"/>
                  </a:cubicBezTo>
                  <a:cubicBezTo>
                    <a:pt x="372" y="199"/>
                    <a:pt x="372" y="199"/>
                    <a:pt x="372" y="199"/>
                  </a:cubicBezTo>
                  <a:cubicBezTo>
                    <a:pt x="373" y="197"/>
                    <a:pt x="374" y="196"/>
                    <a:pt x="375" y="195"/>
                  </a:cubicBezTo>
                  <a:cubicBezTo>
                    <a:pt x="383" y="187"/>
                    <a:pt x="393" y="183"/>
                    <a:pt x="404" y="183"/>
                  </a:cubicBezTo>
                  <a:cubicBezTo>
                    <a:pt x="415" y="183"/>
                    <a:pt x="425" y="187"/>
                    <a:pt x="433" y="195"/>
                  </a:cubicBezTo>
                  <a:cubicBezTo>
                    <a:pt x="441" y="203"/>
                    <a:pt x="445" y="212"/>
                    <a:pt x="445" y="223"/>
                  </a:cubicBezTo>
                  <a:cubicBezTo>
                    <a:pt x="445" y="235"/>
                    <a:pt x="441" y="244"/>
                    <a:pt x="433" y="252"/>
                  </a:cubicBezTo>
                  <a:cubicBezTo>
                    <a:pt x="425" y="260"/>
                    <a:pt x="415" y="264"/>
                    <a:pt x="404" y="264"/>
                  </a:cubicBezTo>
                  <a:cubicBezTo>
                    <a:pt x="393" y="264"/>
                    <a:pt x="383" y="260"/>
                    <a:pt x="375" y="252"/>
                  </a:cubicBezTo>
                  <a:cubicBezTo>
                    <a:pt x="374" y="251"/>
                    <a:pt x="373" y="250"/>
                    <a:pt x="372" y="248"/>
                  </a:cubicBezTo>
                  <a:cubicBezTo>
                    <a:pt x="372" y="252"/>
                    <a:pt x="372" y="252"/>
                    <a:pt x="372" y="252"/>
                  </a:cubicBezTo>
                  <a:lnTo>
                    <a:pt x="372" y="375"/>
                  </a:lnTo>
                  <a:close/>
                </a:path>
              </a:pathLst>
            </a:custGeom>
            <a:solidFill>
              <a:schemeClr val="accent1"/>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78CD8AD1-68A9-4F42-9FD7-A1BC8324468A}"/>
                </a:ext>
              </a:extLst>
            </p:cNvPr>
            <p:cNvSpPr>
              <a:spLocks/>
            </p:cNvSpPr>
            <p:nvPr/>
          </p:nvSpPr>
          <p:spPr bwMode="auto">
            <a:xfrm>
              <a:off x="2234610" y="2352826"/>
              <a:ext cx="1848838" cy="2232192"/>
            </a:xfrm>
            <a:custGeom>
              <a:avLst/>
              <a:gdLst/>
              <a:ahLst/>
              <a:cxnLst>
                <a:cxn ang="0">
                  <a:pos x="61" y="76"/>
                </a:cxn>
                <a:cxn ang="0">
                  <a:pos x="200" y="76"/>
                </a:cxn>
                <a:cxn ang="0">
                  <a:pos x="191" y="69"/>
                </a:cxn>
                <a:cxn ang="0">
                  <a:pos x="179" y="41"/>
                </a:cxn>
                <a:cxn ang="0">
                  <a:pos x="191" y="12"/>
                </a:cxn>
                <a:cxn ang="0">
                  <a:pos x="220" y="0"/>
                </a:cxn>
                <a:cxn ang="0">
                  <a:pos x="248" y="12"/>
                </a:cxn>
                <a:cxn ang="0">
                  <a:pos x="260" y="41"/>
                </a:cxn>
                <a:cxn ang="0">
                  <a:pos x="248" y="69"/>
                </a:cxn>
                <a:cxn ang="0">
                  <a:pos x="239" y="76"/>
                </a:cxn>
                <a:cxn ang="0">
                  <a:pos x="372" y="76"/>
                </a:cxn>
                <a:cxn ang="0">
                  <a:pos x="372" y="197"/>
                </a:cxn>
                <a:cxn ang="0">
                  <a:pos x="367" y="191"/>
                </a:cxn>
                <a:cxn ang="0">
                  <a:pos x="338" y="179"/>
                </a:cxn>
                <a:cxn ang="0">
                  <a:pos x="309" y="191"/>
                </a:cxn>
                <a:cxn ang="0">
                  <a:pos x="297" y="220"/>
                </a:cxn>
                <a:cxn ang="0">
                  <a:pos x="309" y="248"/>
                </a:cxn>
                <a:cxn ang="0">
                  <a:pos x="338" y="260"/>
                </a:cxn>
                <a:cxn ang="0">
                  <a:pos x="367" y="248"/>
                </a:cxn>
                <a:cxn ang="0">
                  <a:pos x="372" y="242"/>
                </a:cxn>
                <a:cxn ang="0">
                  <a:pos x="372" y="387"/>
                </a:cxn>
                <a:cxn ang="0">
                  <a:pos x="340" y="385"/>
                </a:cxn>
                <a:cxn ang="0">
                  <a:pos x="302" y="446"/>
                </a:cxn>
                <a:cxn ang="0">
                  <a:pos x="242" y="430"/>
                </a:cxn>
                <a:cxn ang="0">
                  <a:pos x="247" y="361"/>
                </a:cxn>
                <a:cxn ang="0">
                  <a:pos x="184" y="323"/>
                </a:cxn>
                <a:cxn ang="0">
                  <a:pos x="129" y="363"/>
                </a:cxn>
                <a:cxn ang="0">
                  <a:pos x="106" y="342"/>
                </a:cxn>
                <a:cxn ang="0">
                  <a:pos x="82" y="316"/>
                </a:cxn>
                <a:cxn ang="0">
                  <a:pos x="118" y="254"/>
                </a:cxn>
                <a:cxn ang="0">
                  <a:pos x="86" y="199"/>
                </a:cxn>
                <a:cxn ang="0">
                  <a:pos x="15" y="199"/>
                </a:cxn>
                <a:cxn ang="0">
                  <a:pos x="0" y="141"/>
                </a:cxn>
                <a:cxn ang="0">
                  <a:pos x="62" y="104"/>
                </a:cxn>
                <a:cxn ang="0">
                  <a:pos x="61" y="84"/>
                </a:cxn>
                <a:cxn ang="0">
                  <a:pos x="61" y="76"/>
                </a:cxn>
              </a:cxnLst>
              <a:rect l="0" t="0" r="r" b="b"/>
              <a:pathLst>
                <a:path w="372" h="446">
                  <a:moveTo>
                    <a:pt x="61" y="76"/>
                  </a:moveTo>
                  <a:cubicBezTo>
                    <a:pt x="200" y="76"/>
                    <a:pt x="200" y="76"/>
                    <a:pt x="200" y="76"/>
                  </a:cubicBezTo>
                  <a:cubicBezTo>
                    <a:pt x="197" y="74"/>
                    <a:pt x="194" y="72"/>
                    <a:pt x="191" y="69"/>
                  </a:cubicBezTo>
                  <a:cubicBezTo>
                    <a:pt x="183" y="61"/>
                    <a:pt x="179" y="52"/>
                    <a:pt x="179" y="41"/>
                  </a:cubicBezTo>
                  <a:cubicBezTo>
                    <a:pt x="179" y="29"/>
                    <a:pt x="183" y="20"/>
                    <a:pt x="191" y="12"/>
                  </a:cubicBezTo>
                  <a:cubicBezTo>
                    <a:pt x="199" y="4"/>
                    <a:pt x="209" y="0"/>
                    <a:pt x="220" y="0"/>
                  </a:cubicBezTo>
                  <a:cubicBezTo>
                    <a:pt x="231" y="0"/>
                    <a:pt x="241" y="4"/>
                    <a:pt x="248" y="12"/>
                  </a:cubicBezTo>
                  <a:cubicBezTo>
                    <a:pt x="256" y="20"/>
                    <a:pt x="260" y="29"/>
                    <a:pt x="260" y="41"/>
                  </a:cubicBezTo>
                  <a:cubicBezTo>
                    <a:pt x="260" y="52"/>
                    <a:pt x="256" y="61"/>
                    <a:pt x="248" y="69"/>
                  </a:cubicBezTo>
                  <a:cubicBezTo>
                    <a:pt x="246" y="72"/>
                    <a:pt x="243" y="74"/>
                    <a:pt x="239" y="76"/>
                  </a:cubicBezTo>
                  <a:cubicBezTo>
                    <a:pt x="372" y="76"/>
                    <a:pt x="372" y="76"/>
                    <a:pt x="372" y="76"/>
                  </a:cubicBezTo>
                  <a:cubicBezTo>
                    <a:pt x="372" y="197"/>
                    <a:pt x="372" y="197"/>
                    <a:pt x="372" y="197"/>
                  </a:cubicBezTo>
                  <a:cubicBezTo>
                    <a:pt x="370" y="195"/>
                    <a:pt x="369" y="193"/>
                    <a:pt x="367" y="191"/>
                  </a:cubicBezTo>
                  <a:cubicBezTo>
                    <a:pt x="359" y="183"/>
                    <a:pt x="349" y="179"/>
                    <a:pt x="338" y="179"/>
                  </a:cubicBezTo>
                  <a:cubicBezTo>
                    <a:pt x="327" y="179"/>
                    <a:pt x="317" y="183"/>
                    <a:pt x="309" y="191"/>
                  </a:cubicBezTo>
                  <a:cubicBezTo>
                    <a:pt x="301" y="199"/>
                    <a:pt x="297" y="209"/>
                    <a:pt x="297" y="220"/>
                  </a:cubicBezTo>
                  <a:cubicBezTo>
                    <a:pt x="297" y="231"/>
                    <a:pt x="301" y="241"/>
                    <a:pt x="309" y="248"/>
                  </a:cubicBezTo>
                  <a:cubicBezTo>
                    <a:pt x="317" y="256"/>
                    <a:pt x="327" y="260"/>
                    <a:pt x="338" y="260"/>
                  </a:cubicBezTo>
                  <a:cubicBezTo>
                    <a:pt x="349" y="260"/>
                    <a:pt x="359" y="256"/>
                    <a:pt x="367" y="248"/>
                  </a:cubicBezTo>
                  <a:cubicBezTo>
                    <a:pt x="369" y="246"/>
                    <a:pt x="370" y="244"/>
                    <a:pt x="372" y="242"/>
                  </a:cubicBezTo>
                  <a:cubicBezTo>
                    <a:pt x="372" y="387"/>
                    <a:pt x="372" y="387"/>
                    <a:pt x="372" y="387"/>
                  </a:cubicBezTo>
                  <a:cubicBezTo>
                    <a:pt x="361" y="387"/>
                    <a:pt x="351" y="386"/>
                    <a:pt x="340" y="385"/>
                  </a:cubicBezTo>
                  <a:cubicBezTo>
                    <a:pt x="302" y="446"/>
                    <a:pt x="302" y="446"/>
                    <a:pt x="302" y="446"/>
                  </a:cubicBezTo>
                  <a:cubicBezTo>
                    <a:pt x="281" y="443"/>
                    <a:pt x="261" y="437"/>
                    <a:pt x="242" y="430"/>
                  </a:cubicBezTo>
                  <a:cubicBezTo>
                    <a:pt x="247" y="361"/>
                    <a:pt x="247" y="361"/>
                    <a:pt x="247" y="361"/>
                  </a:cubicBezTo>
                  <a:cubicBezTo>
                    <a:pt x="225" y="351"/>
                    <a:pt x="204" y="338"/>
                    <a:pt x="184" y="323"/>
                  </a:cubicBezTo>
                  <a:cubicBezTo>
                    <a:pt x="129" y="363"/>
                    <a:pt x="129" y="363"/>
                    <a:pt x="129" y="363"/>
                  </a:cubicBezTo>
                  <a:cubicBezTo>
                    <a:pt x="121" y="356"/>
                    <a:pt x="113" y="349"/>
                    <a:pt x="106" y="342"/>
                  </a:cubicBezTo>
                  <a:cubicBezTo>
                    <a:pt x="97" y="333"/>
                    <a:pt x="89" y="325"/>
                    <a:pt x="82" y="316"/>
                  </a:cubicBezTo>
                  <a:cubicBezTo>
                    <a:pt x="118" y="254"/>
                    <a:pt x="118" y="254"/>
                    <a:pt x="118" y="254"/>
                  </a:cubicBezTo>
                  <a:cubicBezTo>
                    <a:pt x="105" y="237"/>
                    <a:pt x="94" y="219"/>
                    <a:pt x="86" y="199"/>
                  </a:cubicBezTo>
                  <a:cubicBezTo>
                    <a:pt x="15" y="199"/>
                    <a:pt x="15" y="199"/>
                    <a:pt x="15" y="199"/>
                  </a:cubicBezTo>
                  <a:cubicBezTo>
                    <a:pt x="8" y="180"/>
                    <a:pt x="3" y="161"/>
                    <a:pt x="0" y="141"/>
                  </a:cubicBezTo>
                  <a:cubicBezTo>
                    <a:pt x="62" y="104"/>
                    <a:pt x="62" y="104"/>
                    <a:pt x="62" y="104"/>
                  </a:cubicBezTo>
                  <a:cubicBezTo>
                    <a:pt x="62" y="98"/>
                    <a:pt x="61" y="91"/>
                    <a:pt x="61" y="84"/>
                  </a:cubicBezTo>
                  <a:lnTo>
                    <a:pt x="61" y="76"/>
                  </a:lnTo>
                  <a:close/>
                </a:path>
              </a:pathLst>
            </a:custGeom>
            <a:solidFill>
              <a:schemeClr val="accent2"/>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TextBox 8">
            <a:extLst>
              <a:ext uri="{FF2B5EF4-FFF2-40B4-BE49-F238E27FC236}">
                <a16:creationId xmlns:a16="http://schemas.microsoft.com/office/drawing/2014/main" id="{5EB7F3CE-F454-6B43-B15C-1CEA3AD91581}"/>
              </a:ext>
            </a:extLst>
          </p:cNvPr>
          <p:cNvSpPr txBox="1"/>
          <p:nvPr/>
        </p:nvSpPr>
        <p:spPr>
          <a:xfrm>
            <a:off x="1352873" y="1588410"/>
            <a:ext cx="1307461" cy="830997"/>
          </a:xfrm>
          <a:prstGeom prst="rect">
            <a:avLst/>
          </a:prstGeom>
          <a:noFill/>
        </p:spPr>
        <p:txBody>
          <a:bodyPr wrap="square" rtlCol="0">
            <a:spAutoFit/>
          </a:bodyPr>
          <a:lstStyle/>
          <a:p>
            <a:r>
              <a:rPr lang="en-US" sz="2400" spc="-20">
                <a:solidFill>
                  <a:srgbClr val="000000"/>
                </a:solidFill>
                <a:latin typeface="Arial" panose="020B0604020202020204" pitchFamily="34" charset="0"/>
                <a:cs typeface="Arial" panose="020B0604020202020204" pitchFamily="34" charset="0"/>
              </a:rPr>
              <a:t>Children</a:t>
            </a:r>
          </a:p>
          <a:p>
            <a:endParaRPr lang="en-US" sz="2400" spc="-2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C26A08C-6FE6-9A46-BC5E-78E392D60DE7}"/>
              </a:ext>
            </a:extLst>
          </p:cNvPr>
          <p:cNvSpPr txBox="1"/>
          <p:nvPr/>
        </p:nvSpPr>
        <p:spPr>
          <a:xfrm>
            <a:off x="5446638" y="1520410"/>
            <a:ext cx="2218185" cy="830997"/>
          </a:xfrm>
          <a:prstGeom prst="rect">
            <a:avLst/>
          </a:prstGeom>
          <a:noFill/>
        </p:spPr>
        <p:txBody>
          <a:bodyPr wrap="square" rtlCol="0">
            <a:spAutoFit/>
          </a:bodyPr>
          <a:lstStyle/>
          <a:p>
            <a:r>
              <a:rPr lang="en-US" sz="2400" spc="-20">
                <a:solidFill>
                  <a:srgbClr val="000000"/>
                </a:solidFill>
                <a:latin typeface="Arial" panose="020B0604020202020204" pitchFamily="34" charset="0"/>
                <a:cs typeface="Arial" panose="020B0604020202020204" pitchFamily="34" charset="0"/>
              </a:rPr>
              <a:t>Spouse </a:t>
            </a:r>
          </a:p>
          <a:p>
            <a:endParaRPr lang="en-US" sz="2400" spc="-2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8C8E965-8C7C-3E4E-8872-A942BA5C9277}"/>
              </a:ext>
            </a:extLst>
          </p:cNvPr>
          <p:cNvSpPr txBox="1"/>
          <p:nvPr/>
        </p:nvSpPr>
        <p:spPr>
          <a:xfrm>
            <a:off x="5433191" y="3509267"/>
            <a:ext cx="2688833" cy="830997"/>
          </a:xfrm>
          <a:prstGeom prst="rect">
            <a:avLst/>
          </a:prstGeom>
          <a:noFill/>
        </p:spPr>
        <p:txBody>
          <a:bodyPr wrap="square" rtlCol="0">
            <a:spAutoFit/>
          </a:bodyPr>
          <a:lstStyle/>
          <a:p>
            <a:r>
              <a:rPr lang="en-US" sz="2400" spc="-20">
                <a:solidFill>
                  <a:srgbClr val="000000"/>
                </a:solidFill>
                <a:latin typeface="Arial" panose="020B0604020202020204" pitchFamily="34" charset="0"/>
                <a:cs typeface="Arial" panose="020B0604020202020204" pitchFamily="34" charset="0"/>
              </a:rPr>
              <a:t>Ex-Spouse</a:t>
            </a:r>
          </a:p>
          <a:p>
            <a:endParaRPr lang="en-US" sz="2400" spc="-2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869DD03-0CBC-1F4F-BE4D-68DEE94F9204}"/>
              </a:ext>
            </a:extLst>
          </p:cNvPr>
          <p:cNvSpPr txBox="1"/>
          <p:nvPr/>
        </p:nvSpPr>
        <p:spPr>
          <a:xfrm>
            <a:off x="500986" y="3425424"/>
            <a:ext cx="2211546" cy="1015663"/>
          </a:xfrm>
          <a:prstGeom prst="rect">
            <a:avLst/>
          </a:prstGeom>
          <a:noFill/>
        </p:spPr>
        <p:txBody>
          <a:bodyPr wrap="square" rtlCol="0">
            <a:spAutoFit/>
          </a:bodyPr>
          <a:lstStyle/>
          <a:p>
            <a:pPr algn="r">
              <a:spcBef>
                <a:spcPts val="1200"/>
              </a:spcBef>
              <a:buSzPct val="110000"/>
            </a:pPr>
            <a:r>
              <a:rPr lang="en-US" sz="2400" spc="-20">
                <a:solidFill>
                  <a:srgbClr val="000000"/>
                </a:solidFill>
                <a:latin typeface="Arial" panose="020B0604020202020204" pitchFamily="34" charset="0"/>
                <a:cs typeface="Arial" panose="020B0604020202020204" pitchFamily="34" charset="0"/>
              </a:rPr>
              <a:t>Survivors </a:t>
            </a:r>
            <a:r>
              <a:rPr lang="en-US" spc="-20">
                <a:solidFill>
                  <a:srgbClr val="000000"/>
                </a:solidFill>
                <a:latin typeface="Arial" panose="020B0604020202020204" pitchFamily="34" charset="0"/>
                <a:cs typeface="Arial" panose="020B0604020202020204" pitchFamily="34" charset="0"/>
              </a:rPr>
              <a:t>(widows/widowers, dependent parents)</a:t>
            </a:r>
          </a:p>
        </p:txBody>
      </p:sp>
    </p:spTree>
    <p:extLst>
      <p:ext uri="{BB962C8B-B14F-4D97-AF65-F5344CB8AC3E}">
        <p14:creationId xmlns:p14="http://schemas.microsoft.com/office/powerpoint/2010/main" val="3939095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75C37-13B2-1040-BA2C-C256D057C3C8}"/>
              </a:ext>
            </a:extLst>
          </p:cNvPr>
          <p:cNvSpPr>
            <a:spLocks noGrp="1"/>
          </p:cNvSpPr>
          <p:nvPr>
            <p:ph type="title"/>
          </p:nvPr>
        </p:nvSpPr>
        <p:spPr/>
        <p:txBody>
          <a:bodyPr>
            <a:noAutofit/>
          </a:bodyPr>
          <a:lstStyle/>
          <a:p>
            <a:r>
              <a:rPr lang="en-US"/>
              <a:t>Children’s Benefits</a:t>
            </a:r>
          </a:p>
        </p:txBody>
      </p:sp>
      <p:sp>
        <p:nvSpPr>
          <p:cNvPr id="21" name="Rectangle 20">
            <a:extLst>
              <a:ext uri="{FF2B5EF4-FFF2-40B4-BE49-F238E27FC236}">
                <a16:creationId xmlns:a16="http://schemas.microsoft.com/office/drawing/2014/main" id="{327F77D7-2270-2E4E-B760-3A1197EF9CC1}"/>
              </a:ext>
            </a:extLst>
          </p:cNvPr>
          <p:cNvSpPr/>
          <p:nvPr/>
        </p:nvSpPr>
        <p:spPr>
          <a:xfrm>
            <a:off x="457201" y="991100"/>
            <a:ext cx="7818974" cy="830997"/>
          </a:xfrm>
          <a:prstGeom prst="rect">
            <a:avLst/>
          </a:prstGeom>
        </p:spPr>
        <p:txBody>
          <a:bodyPr wrap="square">
            <a:spAutoFit/>
          </a:bodyPr>
          <a:lstStyle/>
          <a:p>
            <a:pPr>
              <a:spcBef>
                <a:spcPts val="1200"/>
              </a:spcBef>
              <a:buSzPct val="110000"/>
            </a:pPr>
            <a:r>
              <a:rPr lang="en-US" sz="2400" spc="-20" dirty="0">
                <a:solidFill>
                  <a:srgbClr val="000000"/>
                </a:solidFill>
                <a:latin typeface="Arial" panose="020B0604020202020204" pitchFamily="34" charset="0"/>
                <a:cs typeface="Arial" panose="020B0604020202020204" pitchFamily="34" charset="0"/>
              </a:rPr>
              <a:t>Each qualified child may receive a monthly payment up to half of your Full Retirement Age benefit. They must be:</a:t>
            </a:r>
          </a:p>
        </p:txBody>
      </p:sp>
      <p:sp>
        <p:nvSpPr>
          <p:cNvPr id="22" name="Freeform 21">
            <a:extLst>
              <a:ext uri="{FF2B5EF4-FFF2-40B4-BE49-F238E27FC236}">
                <a16:creationId xmlns:a16="http://schemas.microsoft.com/office/drawing/2014/main" id="{EAC19375-5FC3-F047-BEB3-CA2A246817BE}"/>
              </a:ext>
            </a:extLst>
          </p:cNvPr>
          <p:cNvSpPr/>
          <p:nvPr/>
        </p:nvSpPr>
        <p:spPr>
          <a:xfrm>
            <a:off x="556897" y="2444822"/>
            <a:ext cx="1942878" cy="466884"/>
          </a:xfrm>
          <a:custGeom>
            <a:avLst/>
            <a:gdLst>
              <a:gd name="connsiteX0" fmla="*/ 0 w 3564157"/>
              <a:gd name="connsiteY0" fmla="*/ 178208 h 1782078"/>
              <a:gd name="connsiteX1" fmla="*/ 178208 w 3564157"/>
              <a:gd name="connsiteY1" fmla="*/ 0 h 1782078"/>
              <a:gd name="connsiteX2" fmla="*/ 3385949 w 3564157"/>
              <a:gd name="connsiteY2" fmla="*/ 0 h 1782078"/>
              <a:gd name="connsiteX3" fmla="*/ 3564157 w 3564157"/>
              <a:gd name="connsiteY3" fmla="*/ 178208 h 1782078"/>
              <a:gd name="connsiteX4" fmla="*/ 3564157 w 3564157"/>
              <a:gd name="connsiteY4" fmla="*/ 1603870 h 1782078"/>
              <a:gd name="connsiteX5" fmla="*/ 3385949 w 3564157"/>
              <a:gd name="connsiteY5" fmla="*/ 1782078 h 1782078"/>
              <a:gd name="connsiteX6" fmla="*/ 178208 w 3564157"/>
              <a:gd name="connsiteY6" fmla="*/ 1782078 h 1782078"/>
              <a:gd name="connsiteX7" fmla="*/ 0 w 3564157"/>
              <a:gd name="connsiteY7" fmla="*/ 1603870 h 1782078"/>
              <a:gd name="connsiteX8" fmla="*/ 0 w 3564157"/>
              <a:gd name="connsiteY8" fmla="*/ 178208 h 17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4157" h="1782078">
                <a:moveTo>
                  <a:pt x="0" y="178208"/>
                </a:moveTo>
                <a:cubicBezTo>
                  <a:pt x="0" y="79786"/>
                  <a:pt x="79786" y="0"/>
                  <a:pt x="178208" y="0"/>
                </a:cubicBezTo>
                <a:lnTo>
                  <a:pt x="3385949" y="0"/>
                </a:lnTo>
                <a:cubicBezTo>
                  <a:pt x="3484371" y="0"/>
                  <a:pt x="3564157" y="79786"/>
                  <a:pt x="3564157" y="178208"/>
                </a:cubicBezTo>
                <a:lnTo>
                  <a:pt x="3564157" y="1603870"/>
                </a:lnTo>
                <a:cubicBezTo>
                  <a:pt x="3564157" y="1702292"/>
                  <a:pt x="3484371" y="1782078"/>
                  <a:pt x="3385949" y="1782078"/>
                </a:cubicBezTo>
                <a:lnTo>
                  <a:pt x="178208" y="1782078"/>
                </a:lnTo>
                <a:cubicBezTo>
                  <a:pt x="79786" y="1782078"/>
                  <a:pt x="0" y="1702292"/>
                  <a:pt x="0" y="1603870"/>
                </a:cubicBezTo>
                <a:lnTo>
                  <a:pt x="0" y="178208"/>
                </a:lnTo>
                <a:close/>
              </a:path>
            </a:pathLst>
          </a:custGeom>
          <a:solidFill>
            <a:schemeClr val="accent2"/>
          </a:solidFill>
          <a:ln w="9525" cmpd="sng">
            <a:solidFill>
              <a:schemeClr val="accent1"/>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775" tIns="97915" rIns="120775" bIns="97915" numCol="1" spcCol="1270" anchor="ctr" anchorCtr="0">
            <a:noAutofit/>
          </a:bodyPr>
          <a:lstStyle/>
          <a:p>
            <a:pPr lvl="0" algn="ctr" defTabSz="1600200">
              <a:lnSpc>
                <a:spcPct val="90000"/>
              </a:lnSpc>
              <a:spcBef>
                <a:spcPct val="0"/>
              </a:spcBef>
              <a:spcAft>
                <a:spcPct val="35000"/>
              </a:spcAft>
            </a:pPr>
            <a:r>
              <a:rPr lang="en-US" sz="2000" kern="1200" spc="-20">
                <a:solidFill>
                  <a:srgbClr val="000000"/>
                </a:solidFill>
                <a:latin typeface="Arial" panose="020B0604020202020204" pitchFamily="34" charset="0"/>
                <a:cs typeface="Arial" panose="020B0604020202020204" pitchFamily="34" charset="0"/>
              </a:rPr>
              <a:t>Unmarried</a:t>
            </a:r>
          </a:p>
        </p:txBody>
      </p:sp>
      <p:sp>
        <p:nvSpPr>
          <p:cNvPr id="23" name="Freeform 22">
            <a:extLst>
              <a:ext uri="{FF2B5EF4-FFF2-40B4-BE49-F238E27FC236}">
                <a16:creationId xmlns:a16="http://schemas.microsoft.com/office/drawing/2014/main" id="{E97A3D5E-A57D-D343-9781-612B0DEE787E}"/>
              </a:ext>
            </a:extLst>
          </p:cNvPr>
          <p:cNvSpPr/>
          <p:nvPr/>
        </p:nvSpPr>
        <p:spPr>
          <a:xfrm>
            <a:off x="3203155" y="2451141"/>
            <a:ext cx="1942878" cy="466883"/>
          </a:xfrm>
          <a:custGeom>
            <a:avLst/>
            <a:gdLst>
              <a:gd name="connsiteX0" fmla="*/ 0 w 3564157"/>
              <a:gd name="connsiteY0" fmla="*/ 178208 h 1782078"/>
              <a:gd name="connsiteX1" fmla="*/ 178208 w 3564157"/>
              <a:gd name="connsiteY1" fmla="*/ 0 h 1782078"/>
              <a:gd name="connsiteX2" fmla="*/ 3385949 w 3564157"/>
              <a:gd name="connsiteY2" fmla="*/ 0 h 1782078"/>
              <a:gd name="connsiteX3" fmla="*/ 3564157 w 3564157"/>
              <a:gd name="connsiteY3" fmla="*/ 178208 h 1782078"/>
              <a:gd name="connsiteX4" fmla="*/ 3564157 w 3564157"/>
              <a:gd name="connsiteY4" fmla="*/ 1603870 h 1782078"/>
              <a:gd name="connsiteX5" fmla="*/ 3385949 w 3564157"/>
              <a:gd name="connsiteY5" fmla="*/ 1782078 h 1782078"/>
              <a:gd name="connsiteX6" fmla="*/ 178208 w 3564157"/>
              <a:gd name="connsiteY6" fmla="*/ 1782078 h 1782078"/>
              <a:gd name="connsiteX7" fmla="*/ 0 w 3564157"/>
              <a:gd name="connsiteY7" fmla="*/ 1603870 h 1782078"/>
              <a:gd name="connsiteX8" fmla="*/ 0 w 3564157"/>
              <a:gd name="connsiteY8" fmla="*/ 178208 h 17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4157" h="1782078">
                <a:moveTo>
                  <a:pt x="0" y="178208"/>
                </a:moveTo>
                <a:cubicBezTo>
                  <a:pt x="0" y="79786"/>
                  <a:pt x="79786" y="0"/>
                  <a:pt x="178208" y="0"/>
                </a:cubicBezTo>
                <a:lnTo>
                  <a:pt x="3385949" y="0"/>
                </a:lnTo>
                <a:cubicBezTo>
                  <a:pt x="3484371" y="0"/>
                  <a:pt x="3564157" y="79786"/>
                  <a:pt x="3564157" y="178208"/>
                </a:cubicBezTo>
                <a:lnTo>
                  <a:pt x="3564157" y="1603870"/>
                </a:lnTo>
                <a:cubicBezTo>
                  <a:pt x="3564157" y="1702292"/>
                  <a:pt x="3484371" y="1782078"/>
                  <a:pt x="3385949" y="1782078"/>
                </a:cubicBezTo>
                <a:lnTo>
                  <a:pt x="178208" y="1782078"/>
                </a:lnTo>
                <a:cubicBezTo>
                  <a:pt x="79786" y="1782078"/>
                  <a:pt x="0" y="1702292"/>
                  <a:pt x="0" y="1603870"/>
                </a:cubicBezTo>
                <a:lnTo>
                  <a:pt x="0" y="178208"/>
                </a:lnTo>
                <a:close/>
              </a:path>
            </a:pathLst>
          </a:custGeom>
          <a:solidFill>
            <a:schemeClr val="accent3"/>
          </a:solidFill>
          <a:ln w="9525" cmpd="sng">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0775" tIns="97915" rIns="120775" bIns="97915" numCol="1" spcCol="1270" anchor="ctr" anchorCtr="0">
            <a:noAutofit/>
          </a:bodyPr>
          <a:lstStyle/>
          <a:p>
            <a:pPr lvl="0" algn="ctr" defTabSz="1600200">
              <a:lnSpc>
                <a:spcPct val="90000"/>
              </a:lnSpc>
              <a:spcBef>
                <a:spcPct val="0"/>
              </a:spcBef>
              <a:spcAft>
                <a:spcPct val="35000"/>
              </a:spcAft>
            </a:pPr>
            <a:r>
              <a:rPr lang="en-US" sz="2000" kern="1200" spc="-20">
                <a:solidFill>
                  <a:srgbClr val="000000"/>
                </a:solidFill>
                <a:latin typeface="Arial" panose="020B0604020202020204" pitchFamily="34" charset="0"/>
                <a:cs typeface="Arial" panose="020B0604020202020204" pitchFamily="34" charset="0"/>
              </a:rPr>
              <a:t>Under age 18</a:t>
            </a:r>
          </a:p>
        </p:txBody>
      </p:sp>
      <p:sp>
        <p:nvSpPr>
          <p:cNvPr id="24" name="Freeform 23">
            <a:extLst>
              <a:ext uri="{FF2B5EF4-FFF2-40B4-BE49-F238E27FC236}">
                <a16:creationId xmlns:a16="http://schemas.microsoft.com/office/drawing/2014/main" id="{384F3E3A-E83C-8C48-BB19-2020BC3340E3}"/>
              </a:ext>
            </a:extLst>
          </p:cNvPr>
          <p:cNvSpPr/>
          <p:nvPr/>
        </p:nvSpPr>
        <p:spPr>
          <a:xfrm>
            <a:off x="1033090" y="3080434"/>
            <a:ext cx="2526960" cy="1443655"/>
          </a:xfrm>
          <a:custGeom>
            <a:avLst/>
            <a:gdLst>
              <a:gd name="connsiteX0" fmla="*/ 0 w 3564157"/>
              <a:gd name="connsiteY0" fmla="*/ 178208 h 1782078"/>
              <a:gd name="connsiteX1" fmla="*/ 178208 w 3564157"/>
              <a:gd name="connsiteY1" fmla="*/ 0 h 1782078"/>
              <a:gd name="connsiteX2" fmla="*/ 3385949 w 3564157"/>
              <a:gd name="connsiteY2" fmla="*/ 0 h 1782078"/>
              <a:gd name="connsiteX3" fmla="*/ 3564157 w 3564157"/>
              <a:gd name="connsiteY3" fmla="*/ 178208 h 1782078"/>
              <a:gd name="connsiteX4" fmla="*/ 3564157 w 3564157"/>
              <a:gd name="connsiteY4" fmla="*/ 1603870 h 1782078"/>
              <a:gd name="connsiteX5" fmla="*/ 3385949 w 3564157"/>
              <a:gd name="connsiteY5" fmla="*/ 1782078 h 1782078"/>
              <a:gd name="connsiteX6" fmla="*/ 178208 w 3564157"/>
              <a:gd name="connsiteY6" fmla="*/ 1782078 h 1782078"/>
              <a:gd name="connsiteX7" fmla="*/ 0 w 3564157"/>
              <a:gd name="connsiteY7" fmla="*/ 1603870 h 1782078"/>
              <a:gd name="connsiteX8" fmla="*/ 0 w 3564157"/>
              <a:gd name="connsiteY8" fmla="*/ 178208 h 17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4157" h="1782078">
                <a:moveTo>
                  <a:pt x="0" y="178208"/>
                </a:moveTo>
                <a:cubicBezTo>
                  <a:pt x="0" y="79786"/>
                  <a:pt x="79786" y="0"/>
                  <a:pt x="178208" y="0"/>
                </a:cubicBezTo>
                <a:lnTo>
                  <a:pt x="3385949" y="0"/>
                </a:lnTo>
                <a:cubicBezTo>
                  <a:pt x="3484371" y="0"/>
                  <a:pt x="3564157" y="79786"/>
                  <a:pt x="3564157" y="178208"/>
                </a:cubicBezTo>
                <a:lnTo>
                  <a:pt x="3564157" y="1603870"/>
                </a:lnTo>
                <a:cubicBezTo>
                  <a:pt x="3564157" y="1702292"/>
                  <a:pt x="3484371" y="1782078"/>
                  <a:pt x="3385949" y="1782078"/>
                </a:cubicBezTo>
                <a:lnTo>
                  <a:pt x="178208" y="1782078"/>
                </a:lnTo>
                <a:cubicBezTo>
                  <a:pt x="79786" y="1782078"/>
                  <a:pt x="0" y="1702292"/>
                  <a:pt x="0" y="1603870"/>
                </a:cubicBezTo>
                <a:lnTo>
                  <a:pt x="0" y="178208"/>
                </a:lnTo>
                <a:close/>
              </a:path>
            </a:pathLst>
          </a:custGeom>
          <a:solidFill>
            <a:schemeClr val="accent4">
              <a:alpha val="29000"/>
            </a:schemeClr>
          </a:solidFill>
          <a:ln w="9525" cmpd="sng">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0775" tIns="97915" rIns="120775" bIns="97915" numCol="1" spcCol="1270" anchor="ctr" anchorCtr="0">
            <a:noAutofit/>
          </a:bodyPr>
          <a:lstStyle/>
          <a:p>
            <a:pPr lvl="0" algn="ctr" defTabSz="1600200">
              <a:spcBef>
                <a:spcPct val="0"/>
              </a:spcBef>
              <a:spcAft>
                <a:spcPct val="35000"/>
              </a:spcAft>
            </a:pPr>
            <a:r>
              <a:rPr lang="en-US" sz="2000" b="0" i="0" kern="1200" spc="-20">
                <a:solidFill>
                  <a:srgbClr val="000000"/>
                </a:solidFill>
                <a:latin typeface="Arial" panose="020B0604020202020204" pitchFamily="34" charset="0"/>
                <a:cs typeface="Arial" panose="020B0604020202020204" pitchFamily="34" charset="0"/>
              </a:rPr>
              <a:t>18-19 years old and a full-time student up to grade 12</a:t>
            </a:r>
          </a:p>
        </p:txBody>
      </p:sp>
      <p:sp>
        <p:nvSpPr>
          <p:cNvPr id="25" name="Freeform 24">
            <a:extLst>
              <a:ext uri="{FF2B5EF4-FFF2-40B4-BE49-F238E27FC236}">
                <a16:creationId xmlns:a16="http://schemas.microsoft.com/office/drawing/2014/main" id="{5564AB4B-39BE-D349-86E3-A2C9EB931042}"/>
              </a:ext>
            </a:extLst>
          </p:cNvPr>
          <p:cNvSpPr/>
          <p:nvPr/>
        </p:nvSpPr>
        <p:spPr>
          <a:xfrm>
            <a:off x="5018100" y="3080433"/>
            <a:ext cx="2526960" cy="1443655"/>
          </a:xfrm>
          <a:custGeom>
            <a:avLst/>
            <a:gdLst>
              <a:gd name="connsiteX0" fmla="*/ 0 w 3564157"/>
              <a:gd name="connsiteY0" fmla="*/ 178208 h 1782078"/>
              <a:gd name="connsiteX1" fmla="*/ 178208 w 3564157"/>
              <a:gd name="connsiteY1" fmla="*/ 0 h 1782078"/>
              <a:gd name="connsiteX2" fmla="*/ 3385949 w 3564157"/>
              <a:gd name="connsiteY2" fmla="*/ 0 h 1782078"/>
              <a:gd name="connsiteX3" fmla="*/ 3564157 w 3564157"/>
              <a:gd name="connsiteY3" fmla="*/ 178208 h 1782078"/>
              <a:gd name="connsiteX4" fmla="*/ 3564157 w 3564157"/>
              <a:gd name="connsiteY4" fmla="*/ 1603870 h 1782078"/>
              <a:gd name="connsiteX5" fmla="*/ 3385949 w 3564157"/>
              <a:gd name="connsiteY5" fmla="*/ 1782078 h 1782078"/>
              <a:gd name="connsiteX6" fmla="*/ 178208 w 3564157"/>
              <a:gd name="connsiteY6" fmla="*/ 1782078 h 1782078"/>
              <a:gd name="connsiteX7" fmla="*/ 0 w 3564157"/>
              <a:gd name="connsiteY7" fmla="*/ 1603870 h 1782078"/>
              <a:gd name="connsiteX8" fmla="*/ 0 w 3564157"/>
              <a:gd name="connsiteY8" fmla="*/ 178208 h 17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4157" h="1782078">
                <a:moveTo>
                  <a:pt x="0" y="178208"/>
                </a:moveTo>
                <a:cubicBezTo>
                  <a:pt x="0" y="79786"/>
                  <a:pt x="79786" y="0"/>
                  <a:pt x="178208" y="0"/>
                </a:cubicBezTo>
                <a:lnTo>
                  <a:pt x="3385949" y="0"/>
                </a:lnTo>
                <a:cubicBezTo>
                  <a:pt x="3484371" y="0"/>
                  <a:pt x="3564157" y="79786"/>
                  <a:pt x="3564157" y="178208"/>
                </a:cubicBezTo>
                <a:lnTo>
                  <a:pt x="3564157" y="1603870"/>
                </a:lnTo>
                <a:cubicBezTo>
                  <a:pt x="3564157" y="1702292"/>
                  <a:pt x="3484371" y="1782078"/>
                  <a:pt x="3385949" y="1782078"/>
                </a:cubicBezTo>
                <a:lnTo>
                  <a:pt x="178208" y="1782078"/>
                </a:lnTo>
                <a:cubicBezTo>
                  <a:pt x="79786" y="1782078"/>
                  <a:pt x="0" y="1702292"/>
                  <a:pt x="0" y="1603870"/>
                </a:cubicBezTo>
                <a:lnTo>
                  <a:pt x="0" y="178208"/>
                </a:lnTo>
                <a:close/>
              </a:path>
            </a:pathLst>
          </a:custGeom>
          <a:solidFill>
            <a:schemeClr val="bg2">
              <a:lumMod val="90000"/>
            </a:schemeClr>
          </a:solidFill>
          <a:ln w="9525" cmpd="sng">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0775" tIns="97915" rIns="120775" bIns="97915" numCol="1" spcCol="1270" anchor="ctr" anchorCtr="0">
            <a:noAutofit/>
          </a:bodyPr>
          <a:lstStyle/>
          <a:p>
            <a:pPr algn="ctr" defTabSz="1600200">
              <a:spcBef>
                <a:spcPct val="0"/>
              </a:spcBef>
              <a:spcAft>
                <a:spcPct val="35000"/>
              </a:spcAft>
            </a:pPr>
            <a:r>
              <a:rPr lang="en-US" sz="2000" spc="-20">
                <a:solidFill>
                  <a:srgbClr val="000000"/>
                </a:solidFill>
                <a:latin typeface="Arial" panose="020B0604020202020204" pitchFamily="34" charset="0"/>
                <a:cs typeface="Arial" panose="020B0604020202020204" pitchFamily="34" charset="0"/>
              </a:rPr>
              <a:t>18 or older and disabled prior to age 22</a:t>
            </a:r>
          </a:p>
        </p:txBody>
      </p:sp>
      <p:sp>
        <p:nvSpPr>
          <p:cNvPr id="26" name="TextBox 25">
            <a:extLst>
              <a:ext uri="{FF2B5EF4-FFF2-40B4-BE49-F238E27FC236}">
                <a16:creationId xmlns:a16="http://schemas.microsoft.com/office/drawing/2014/main" id="{0D4A0B14-7A94-1F4A-8CD6-23B23F28CF82}"/>
              </a:ext>
            </a:extLst>
          </p:cNvPr>
          <p:cNvSpPr txBox="1"/>
          <p:nvPr/>
        </p:nvSpPr>
        <p:spPr>
          <a:xfrm>
            <a:off x="2499775" y="2499916"/>
            <a:ext cx="663643" cy="369332"/>
          </a:xfrm>
          <a:prstGeom prst="rect">
            <a:avLst/>
          </a:prstGeom>
          <a:noFill/>
        </p:spPr>
        <p:txBody>
          <a:bodyPr wrap="none" rtlCol="0">
            <a:spAutoFit/>
          </a:bodyPr>
          <a:lstStyle/>
          <a:p>
            <a:r>
              <a:rPr lang="en-US" spc="-20">
                <a:solidFill>
                  <a:srgbClr val="000000"/>
                </a:solidFill>
                <a:latin typeface="Arial" panose="020B0604020202020204" pitchFamily="34" charset="0"/>
                <a:cs typeface="Arial" panose="020B0604020202020204" pitchFamily="34" charset="0"/>
              </a:rPr>
              <a:t>AND</a:t>
            </a:r>
            <a:endParaRPr lang="en-US" spc="-2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8767061-1191-7A43-A008-F03161FA8EE7}"/>
              </a:ext>
            </a:extLst>
          </p:cNvPr>
          <p:cNvSpPr txBox="1"/>
          <p:nvPr/>
        </p:nvSpPr>
        <p:spPr>
          <a:xfrm>
            <a:off x="5185770" y="2499916"/>
            <a:ext cx="525785" cy="369332"/>
          </a:xfrm>
          <a:prstGeom prst="rect">
            <a:avLst/>
          </a:prstGeom>
          <a:noFill/>
        </p:spPr>
        <p:txBody>
          <a:bodyPr wrap="none" rtlCol="0">
            <a:spAutoFit/>
          </a:bodyPr>
          <a:lstStyle/>
          <a:p>
            <a:r>
              <a:rPr lang="en-US" spc="-20">
                <a:solidFill>
                  <a:srgbClr val="000000"/>
                </a:solidFill>
                <a:latin typeface="Arial" panose="020B0604020202020204" pitchFamily="34" charset="0"/>
                <a:cs typeface="Arial" panose="020B0604020202020204" pitchFamily="34" charset="0"/>
              </a:rPr>
              <a:t>OR</a:t>
            </a:r>
            <a:endParaRPr lang="en-US" spc="-2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5193206D-9E89-E04A-9AE1-3853A19198AA}"/>
              </a:ext>
            </a:extLst>
          </p:cNvPr>
          <p:cNvSpPr txBox="1"/>
          <p:nvPr/>
        </p:nvSpPr>
        <p:spPr>
          <a:xfrm>
            <a:off x="3911701" y="3617594"/>
            <a:ext cx="525785" cy="369332"/>
          </a:xfrm>
          <a:prstGeom prst="rect">
            <a:avLst/>
          </a:prstGeom>
          <a:noFill/>
        </p:spPr>
        <p:txBody>
          <a:bodyPr wrap="none" rtlCol="0">
            <a:spAutoFit/>
          </a:bodyPr>
          <a:lstStyle/>
          <a:p>
            <a:r>
              <a:rPr lang="en-US" spc="-20">
                <a:solidFill>
                  <a:srgbClr val="000000"/>
                </a:solidFill>
                <a:latin typeface="Arial" panose="020B0604020202020204" pitchFamily="34" charset="0"/>
                <a:cs typeface="Arial" panose="020B0604020202020204" pitchFamily="34" charset="0"/>
              </a:rPr>
              <a:t>OR</a:t>
            </a:r>
            <a:endParaRPr lang="en-US" spc="-2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9359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AE58E8-3EDF-8AC2-1A85-C2C736EA56DC}"/>
              </a:ext>
            </a:extLst>
          </p:cNvPr>
          <p:cNvSpPr>
            <a:spLocks noGrp="1"/>
          </p:cNvSpPr>
          <p:nvPr>
            <p:ph type="body" idx="1"/>
          </p:nvPr>
        </p:nvSpPr>
        <p:spPr/>
        <p:txBody>
          <a:bodyPr/>
          <a:lstStyle/>
          <a:p>
            <a:r>
              <a:rPr lang="en-US"/>
              <a:t>Benefits</a:t>
            </a:r>
          </a:p>
        </p:txBody>
      </p:sp>
      <p:sp>
        <p:nvSpPr>
          <p:cNvPr id="3" name="Text Placeholder 2">
            <a:extLst>
              <a:ext uri="{FF2B5EF4-FFF2-40B4-BE49-F238E27FC236}">
                <a16:creationId xmlns:a16="http://schemas.microsoft.com/office/drawing/2014/main" id="{715B0803-18BB-0D0D-FADB-70551F2266C8}"/>
              </a:ext>
            </a:extLst>
          </p:cNvPr>
          <p:cNvSpPr>
            <a:spLocks noGrp="1"/>
          </p:cNvSpPr>
          <p:nvPr>
            <p:ph type="body" sz="quarter" idx="3"/>
          </p:nvPr>
        </p:nvSpPr>
        <p:spPr>
          <a:xfrm>
            <a:off x="3313739" y="1238800"/>
            <a:ext cx="4041775" cy="479822"/>
          </a:xfrm>
        </p:spPr>
        <p:txBody>
          <a:bodyPr/>
          <a:lstStyle/>
          <a:p>
            <a:r>
              <a:rPr lang="en-US" dirty="0"/>
              <a:t>Eligibility</a:t>
            </a:r>
          </a:p>
        </p:txBody>
      </p:sp>
      <p:sp>
        <p:nvSpPr>
          <p:cNvPr id="4" name="Text Placeholder 3">
            <a:extLst>
              <a:ext uri="{FF2B5EF4-FFF2-40B4-BE49-F238E27FC236}">
                <a16:creationId xmlns:a16="http://schemas.microsoft.com/office/drawing/2014/main" id="{593CF658-D5A9-F4D9-943F-92E33E86BF8D}"/>
              </a:ext>
            </a:extLst>
          </p:cNvPr>
          <p:cNvSpPr>
            <a:spLocks noGrp="1"/>
          </p:cNvSpPr>
          <p:nvPr>
            <p:ph type="body" sz="quarter" idx="12"/>
          </p:nvPr>
        </p:nvSpPr>
        <p:spPr>
          <a:xfrm>
            <a:off x="3257287" y="1892749"/>
            <a:ext cx="2516524" cy="2925763"/>
          </a:xfrm>
        </p:spPr>
        <p:txBody>
          <a:bodyPr/>
          <a:lstStyle/>
          <a:p>
            <a:pPr>
              <a:buFont typeface="Arial" panose="020B0604020202020204" pitchFamily="34" charset="0"/>
              <a:buChar char="•"/>
            </a:pPr>
            <a:r>
              <a:rPr lang="en-US" dirty="0">
                <a:solidFill>
                  <a:srgbClr val="000000"/>
                </a:solidFill>
                <a:effectLst/>
                <a:latin typeface="Arial" panose="020B0604020202020204" pitchFamily="34" charset="0"/>
                <a:cs typeface="Arial" panose="020B0604020202020204" pitchFamily="34" charset="0"/>
              </a:rPr>
              <a:t>Married at least one year</a:t>
            </a:r>
          </a:p>
          <a:p>
            <a:pPr>
              <a:buFont typeface="Arial" panose="020B0604020202020204" pitchFamily="34" charset="0"/>
              <a:buChar char="•"/>
            </a:pPr>
            <a:r>
              <a:rPr lang="en-US" dirty="0">
                <a:solidFill>
                  <a:srgbClr val="000000"/>
                </a:solidFill>
                <a:effectLst/>
                <a:latin typeface="Arial" panose="020B0604020202020204" pitchFamily="34" charset="0"/>
                <a:cs typeface="Arial" panose="020B0604020202020204" pitchFamily="34" charset="0"/>
              </a:rPr>
              <a:t>Be at least 62 years old</a:t>
            </a:r>
          </a:p>
          <a:p>
            <a:pPr>
              <a:buFont typeface="Arial" panose="020B0604020202020204" pitchFamily="34" charset="0"/>
              <a:buChar char="•"/>
            </a:pPr>
            <a:r>
              <a:rPr lang="en-US" dirty="0">
                <a:solidFill>
                  <a:srgbClr val="000000"/>
                </a:solidFill>
                <a:latin typeface="Arial" panose="020B0604020202020204" pitchFamily="34" charset="0"/>
                <a:cs typeface="Arial" panose="020B0604020202020204" pitchFamily="34" charset="0"/>
              </a:rPr>
              <a:t>Any age </a:t>
            </a:r>
            <a:r>
              <a:rPr lang="en-US" dirty="0">
                <a:solidFill>
                  <a:srgbClr val="000000"/>
                </a:solidFill>
                <a:effectLst/>
                <a:latin typeface="Arial" panose="020B0604020202020204" pitchFamily="34" charset="0"/>
                <a:cs typeface="Arial" panose="020B0604020202020204" pitchFamily="34" charset="0"/>
              </a:rPr>
              <a:t>if you are caring for a child under 16 or a child with a disability</a:t>
            </a:r>
          </a:p>
          <a:p>
            <a:endParaRPr lang="en-US" dirty="0"/>
          </a:p>
        </p:txBody>
      </p:sp>
      <p:sp>
        <p:nvSpPr>
          <p:cNvPr id="5" name="Text Placeholder 4">
            <a:extLst>
              <a:ext uri="{FF2B5EF4-FFF2-40B4-BE49-F238E27FC236}">
                <a16:creationId xmlns:a16="http://schemas.microsoft.com/office/drawing/2014/main" id="{C3B8520A-C010-9F54-3754-9CCE2E05F1C3}"/>
              </a:ext>
            </a:extLst>
          </p:cNvPr>
          <p:cNvSpPr>
            <a:spLocks noGrp="1"/>
          </p:cNvSpPr>
          <p:nvPr>
            <p:ph type="body" sz="quarter" idx="13"/>
          </p:nvPr>
        </p:nvSpPr>
        <p:spPr>
          <a:xfrm>
            <a:off x="531812" y="1892750"/>
            <a:ext cx="2781927" cy="2925763"/>
          </a:xfrm>
        </p:spPr>
        <p:txBody>
          <a:bodyPr>
            <a:normAutofit lnSpcReduction="10000"/>
          </a:bodyPr>
          <a:lstStyle/>
          <a:p>
            <a:pPr>
              <a:buFont typeface="Arial" panose="020B0604020202020204" pitchFamily="34" charset="0"/>
              <a:buChar char="•"/>
            </a:pPr>
            <a:r>
              <a:rPr lang="en-US" dirty="0">
                <a:latin typeface="Arial" panose="020B0604020202020204" pitchFamily="34" charset="0"/>
                <a:cs typeface="Arial" panose="020B0604020202020204" pitchFamily="34" charset="0"/>
              </a:rPr>
              <a:t>50% of working spouse’s FRA benefit amount</a:t>
            </a:r>
          </a:p>
          <a:p>
            <a:pPr>
              <a:buFont typeface="Arial" panose="020B0604020202020204" pitchFamily="34" charset="0"/>
              <a:buChar char="•"/>
            </a:pPr>
            <a:r>
              <a:rPr lang="en-US" dirty="0">
                <a:latin typeface="Arial" panose="020B0604020202020204" pitchFamily="34" charset="0"/>
                <a:cs typeface="Arial" panose="020B0604020202020204" pitchFamily="34" charset="0"/>
              </a:rPr>
              <a:t>Can only collect higher benefit (not both)</a:t>
            </a:r>
          </a:p>
          <a:p>
            <a:pPr>
              <a:buFont typeface="Arial" panose="020B0604020202020204" pitchFamily="34" charset="0"/>
              <a:buChar char="•"/>
            </a:pPr>
            <a:r>
              <a:rPr lang="en-US" dirty="0">
                <a:latin typeface="Arial" panose="020B0604020202020204" pitchFamily="34" charset="0"/>
                <a:cs typeface="Arial" panose="020B0604020202020204" pitchFamily="34" charset="0"/>
              </a:rPr>
              <a:t>Working spouse must be collecting benefits</a:t>
            </a:r>
          </a:p>
          <a:p>
            <a:endParaRPr lang="en-US" dirty="0"/>
          </a:p>
        </p:txBody>
      </p:sp>
      <p:sp>
        <p:nvSpPr>
          <p:cNvPr id="6" name="Text Placeholder 5">
            <a:extLst>
              <a:ext uri="{FF2B5EF4-FFF2-40B4-BE49-F238E27FC236}">
                <a16:creationId xmlns:a16="http://schemas.microsoft.com/office/drawing/2014/main" id="{EF516608-E257-AC6C-F8E4-0236795FCA23}"/>
              </a:ext>
            </a:extLst>
          </p:cNvPr>
          <p:cNvSpPr>
            <a:spLocks noGrp="1"/>
          </p:cNvSpPr>
          <p:nvPr>
            <p:ph type="body" sz="quarter" idx="14"/>
          </p:nvPr>
        </p:nvSpPr>
        <p:spPr/>
        <p:txBody>
          <a:bodyPr/>
          <a:lstStyle/>
          <a:p>
            <a:r>
              <a:rPr lang="en-US"/>
              <a:t>Spousal Benefits</a:t>
            </a:r>
          </a:p>
        </p:txBody>
      </p:sp>
      <p:pic>
        <p:nvPicPr>
          <p:cNvPr id="9" name="Picture 8">
            <a:extLst>
              <a:ext uri="{FF2B5EF4-FFF2-40B4-BE49-F238E27FC236}">
                <a16:creationId xmlns:a16="http://schemas.microsoft.com/office/drawing/2014/main" id="{8C0725A0-6E96-2199-5B39-16FCCDB3B02C}"/>
              </a:ext>
            </a:extLst>
          </p:cNvPr>
          <p:cNvPicPr>
            <a:picLocks noChangeAspect="1"/>
          </p:cNvPicPr>
          <p:nvPr/>
        </p:nvPicPr>
        <p:blipFill>
          <a:blip r:embed="rId3"/>
          <a:stretch>
            <a:fillRect/>
          </a:stretch>
        </p:blipFill>
        <p:spPr>
          <a:xfrm>
            <a:off x="6225935" y="1024899"/>
            <a:ext cx="2036224" cy="3628181"/>
          </a:xfrm>
          <a:prstGeom prst="rect">
            <a:avLst/>
          </a:prstGeom>
        </p:spPr>
      </p:pic>
    </p:spTree>
    <p:extLst>
      <p:ext uri="{BB962C8B-B14F-4D97-AF65-F5344CB8AC3E}">
        <p14:creationId xmlns:p14="http://schemas.microsoft.com/office/powerpoint/2010/main" val="4270839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EDAF85-BA42-7FF2-B9F4-C23FD48C1A3F}"/>
              </a:ext>
            </a:extLst>
          </p:cNvPr>
          <p:cNvSpPr>
            <a:spLocks noGrp="1"/>
          </p:cNvSpPr>
          <p:nvPr>
            <p:ph type="body" idx="1"/>
          </p:nvPr>
        </p:nvSpPr>
        <p:spPr/>
        <p:txBody>
          <a:bodyPr/>
          <a:lstStyle/>
          <a:p>
            <a:r>
              <a:rPr lang="en-US"/>
              <a:t>Benefits</a:t>
            </a:r>
          </a:p>
        </p:txBody>
      </p:sp>
      <p:sp>
        <p:nvSpPr>
          <p:cNvPr id="3" name="Text Placeholder 2">
            <a:extLst>
              <a:ext uri="{FF2B5EF4-FFF2-40B4-BE49-F238E27FC236}">
                <a16:creationId xmlns:a16="http://schemas.microsoft.com/office/drawing/2014/main" id="{BC4C2831-5CDE-6945-3971-29A3898D3096}"/>
              </a:ext>
            </a:extLst>
          </p:cNvPr>
          <p:cNvSpPr>
            <a:spLocks noGrp="1"/>
          </p:cNvSpPr>
          <p:nvPr>
            <p:ph type="body" sz="quarter" idx="3"/>
          </p:nvPr>
        </p:nvSpPr>
        <p:spPr>
          <a:xfrm>
            <a:off x="3365003" y="1238800"/>
            <a:ext cx="4041775" cy="479822"/>
          </a:xfrm>
        </p:spPr>
        <p:txBody>
          <a:bodyPr/>
          <a:lstStyle/>
          <a:p>
            <a:r>
              <a:rPr lang="en-US" dirty="0"/>
              <a:t>Eligibility</a:t>
            </a:r>
          </a:p>
        </p:txBody>
      </p:sp>
      <p:sp>
        <p:nvSpPr>
          <p:cNvPr id="4" name="Text Placeholder 3">
            <a:extLst>
              <a:ext uri="{FF2B5EF4-FFF2-40B4-BE49-F238E27FC236}">
                <a16:creationId xmlns:a16="http://schemas.microsoft.com/office/drawing/2014/main" id="{0B723DAC-AECB-0617-13D1-E5E0A2E06192}"/>
              </a:ext>
            </a:extLst>
          </p:cNvPr>
          <p:cNvSpPr>
            <a:spLocks noGrp="1"/>
          </p:cNvSpPr>
          <p:nvPr>
            <p:ph type="body" sz="quarter" idx="12"/>
          </p:nvPr>
        </p:nvSpPr>
        <p:spPr>
          <a:xfrm>
            <a:off x="387255" y="1762819"/>
            <a:ext cx="3115362" cy="2925763"/>
          </a:xfrm>
        </p:spPr>
        <p:txBody>
          <a:bodyPr>
            <a:noAutofit/>
          </a:bodyPr>
          <a:lstStyle/>
          <a:p>
            <a:pPr marL="285750" indent="-285750">
              <a:spcBef>
                <a:spcPts val="1200"/>
              </a:spcBef>
              <a:buSzPct val="110000"/>
            </a:pPr>
            <a:r>
              <a:rPr lang="en-US" sz="1800" spc="0" dirty="0">
                <a:solidFill>
                  <a:srgbClr val="000000"/>
                </a:solidFill>
                <a:latin typeface="Arial" panose="020B0604020202020204" pitchFamily="34" charset="0"/>
                <a:cs typeface="Arial" panose="020B0604020202020204" pitchFamily="34" charset="0"/>
              </a:rPr>
              <a:t>Marriage lasted at least 10 years</a:t>
            </a:r>
          </a:p>
          <a:p>
            <a:pPr marL="285750" indent="-285750">
              <a:spcBef>
                <a:spcPts val="1200"/>
              </a:spcBef>
              <a:buSzPct val="110000"/>
            </a:pPr>
            <a:r>
              <a:rPr lang="en-US" sz="1800" spc="0" dirty="0">
                <a:solidFill>
                  <a:srgbClr val="000000"/>
                </a:solidFill>
                <a:latin typeface="Arial" panose="020B0604020202020204" pitchFamily="34" charset="0"/>
                <a:cs typeface="Arial" panose="020B0604020202020204" pitchFamily="34" charset="0"/>
              </a:rPr>
              <a:t>Can file at any time</a:t>
            </a:r>
          </a:p>
          <a:p>
            <a:pPr marL="285750" indent="-285750">
              <a:spcBef>
                <a:spcPts val="1200"/>
              </a:spcBef>
              <a:buSzPct val="110000"/>
            </a:pPr>
            <a:r>
              <a:rPr lang="en-US" sz="1800" spc="0" dirty="0">
                <a:solidFill>
                  <a:srgbClr val="000000"/>
                </a:solidFill>
                <a:latin typeface="Arial" panose="020B0604020202020204" pitchFamily="34" charset="0"/>
                <a:cs typeface="Arial" panose="020B0604020202020204" pitchFamily="34" charset="0"/>
              </a:rPr>
              <a:t>Eligible for 50% of ex-spouse’s Full Retirement Age benefit</a:t>
            </a:r>
          </a:p>
          <a:p>
            <a:pPr marL="285750" indent="-285750">
              <a:spcBef>
                <a:spcPts val="1200"/>
              </a:spcBef>
              <a:buSzPct val="110000"/>
            </a:pPr>
            <a:r>
              <a:rPr lang="en-US" sz="1800" spc="0" dirty="0">
                <a:solidFill>
                  <a:srgbClr val="000000"/>
                </a:solidFill>
                <a:latin typeface="Arial" panose="020B0604020202020204" pitchFamily="34" charset="0"/>
                <a:cs typeface="Arial" panose="020B0604020202020204" pitchFamily="34" charset="0"/>
              </a:rPr>
              <a:t>Ex-spouse is at least 62 and/or receives their own Social Security benefit </a:t>
            </a:r>
          </a:p>
          <a:p>
            <a:endParaRPr lang="en-US" sz="1800" dirty="0"/>
          </a:p>
        </p:txBody>
      </p:sp>
      <p:sp>
        <p:nvSpPr>
          <p:cNvPr id="5" name="Text Placeholder 4">
            <a:extLst>
              <a:ext uri="{FF2B5EF4-FFF2-40B4-BE49-F238E27FC236}">
                <a16:creationId xmlns:a16="http://schemas.microsoft.com/office/drawing/2014/main" id="{34641891-39EF-787C-0EA8-F65B0419BBE6}"/>
              </a:ext>
            </a:extLst>
          </p:cNvPr>
          <p:cNvSpPr>
            <a:spLocks noGrp="1"/>
          </p:cNvSpPr>
          <p:nvPr>
            <p:ph type="body" sz="quarter" idx="13"/>
          </p:nvPr>
        </p:nvSpPr>
        <p:spPr>
          <a:xfrm>
            <a:off x="3365003" y="1762819"/>
            <a:ext cx="2493356" cy="2925763"/>
          </a:xfrm>
        </p:spPr>
        <p:txBody>
          <a:bodyPr/>
          <a:lstStyle/>
          <a:p>
            <a:pPr marL="285750" indent="-285750">
              <a:spcBef>
                <a:spcPts val="1200"/>
              </a:spcBef>
              <a:buSzPct val="110000"/>
            </a:pPr>
            <a:r>
              <a:rPr lang="en-US" sz="2000" spc="0" dirty="0">
                <a:solidFill>
                  <a:srgbClr val="000000"/>
                </a:solidFill>
                <a:latin typeface="Arial" panose="020B0604020202020204" pitchFamily="34" charset="0"/>
                <a:cs typeface="Arial" panose="020B0604020202020204" pitchFamily="34" charset="0"/>
              </a:rPr>
              <a:t>You are 62 or older</a:t>
            </a:r>
          </a:p>
          <a:p>
            <a:pPr marL="285750" indent="-285750">
              <a:spcBef>
                <a:spcPts val="1200"/>
              </a:spcBef>
              <a:buSzPct val="110000"/>
            </a:pPr>
            <a:r>
              <a:rPr lang="en-US" sz="2000" spc="0" dirty="0">
                <a:solidFill>
                  <a:srgbClr val="000000"/>
                </a:solidFill>
                <a:latin typeface="Arial" panose="020B0604020202020204" pitchFamily="34" charset="0"/>
                <a:cs typeface="Arial" panose="020B0604020202020204" pitchFamily="34" charset="0"/>
              </a:rPr>
              <a:t>You have not remarried</a:t>
            </a:r>
          </a:p>
          <a:p>
            <a:pPr marL="285750" indent="-285750">
              <a:spcBef>
                <a:spcPts val="1200"/>
              </a:spcBef>
              <a:buSzPct val="110000"/>
            </a:pPr>
            <a:r>
              <a:rPr lang="en-US" sz="2000" spc="0" dirty="0">
                <a:solidFill>
                  <a:srgbClr val="000000"/>
                </a:solidFill>
                <a:latin typeface="Arial" panose="020B0604020202020204" pitchFamily="34" charset="0"/>
                <a:cs typeface="Arial" panose="020B0604020202020204" pitchFamily="34" charset="0"/>
              </a:rPr>
              <a:t>You can only collect higher benefit (not both)</a:t>
            </a:r>
            <a:endParaRPr lang="en-US" dirty="0"/>
          </a:p>
        </p:txBody>
      </p:sp>
      <p:sp>
        <p:nvSpPr>
          <p:cNvPr id="6" name="Text Placeholder 5">
            <a:extLst>
              <a:ext uri="{FF2B5EF4-FFF2-40B4-BE49-F238E27FC236}">
                <a16:creationId xmlns:a16="http://schemas.microsoft.com/office/drawing/2014/main" id="{F986E564-D097-FF06-3EFD-40F1066FFD2F}"/>
              </a:ext>
            </a:extLst>
          </p:cNvPr>
          <p:cNvSpPr>
            <a:spLocks noGrp="1"/>
          </p:cNvSpPr>
          <p:nvPr>
            <p:ph type="body" sz="quarter" idx="14"/>
          </p:nvPr>
        </p:nvSpPr>
        <p:spPr/>
        <p:txBody>
          <a:bodyPr/>
          <a:lstStyle/>
          <a:p>
            <a:r>
              <a:rPr lang="en-US"/>
              <a:t>Ex-Spouse Benefits</a:t>
            </a:r>
          </a:p>
        </p:txBody>
      </p:sp>
      <p:pic>
        <p:nvPicPr>
          <p:cNvPr id="7" name="Picture 6">
            <a:extLst>
              <a:ext uri="{FF2B5EF4-FFF2-40B4-BE49-F238E27FC236}">
                <a16:creationId xmlns:a16="http://schemas.microsoft.com/office/drawing/2014/main" id="{A6DB4C54-270F-91EF-2AF0-5E94A2BD5F60}"/>
              </a:ext>
            </a:extLst>
          </p:cNvPr>
          <p:cNvPicPr>
            <a:picLocks noChangeAspect="1"/>
          </p:cNvPicPr>
          <p:nvPr/>
        </p:nvPicPr>
        <p:blipFill>
          <a:blip r:embed="rId3"/>
          <a:stretch>
            <a:fillRect/>
          </a:stretch>
        </p:blipFill>
        <p:spPr>
          <a:xfrm>
            <a:off x="6291133" y="1585509"/>
            <a:ext cx="2228115" cy="2925763"/>
          </a:xfrm>
          <a:prstGeom prst="rect">
            <a:avLst/>
          </a:prstGeom>
        </p:spPr>
      </p:pic>
    </p:spTree>
    <p:extLst>
      <p:ext uri="{BB962C8B-B14F-4D97-AF65-F5344CB8AC3E}">
        <p14:creationId xmlns:p14="http://schemas.microsoft.com/office/powerpoint/2010/main" val="1737012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5250D4-C7A0-9347-AFB1-7FC6EB77BC86}"/>
              </a:ext>
            </a:extLst>
          </p:cNvPr>
          <p:cNvSpPr>
            <a:spLocks noGrp="1"/>
          </p:cNvSpPr>
          <p:nvPr>
            <p:ph type="body" sz="quarter" idx="14"/>
          </p:nvPr>
        </p:nvSpPr>
        <p:spPr/>
        <p:txBody>
          <a:bodyPr/>
          <a:lstStyle/>
          <a:p>
            <a:r>
              <a:rPr lang="en-US"/>
              <a:t>Survivor Benefits</a:t>
            </a:r>
          </a:p>
        </p:txBody>
      </p:sp>
      <p:sp>
        <p:nvSpPr>
          <p:cNvPr id="4" name="Text Placeholder 3">
            <a:extLst>
              <a:ext uri="{FF2B5EF4-FFF2-40B4-BE49-F238E27FC236}">
                <a16:creationId xmlns:a16="http://schemas.microsoft.com/office/drawing/2014/main" id="{A1BFB70E-9DE8-DB45-AE18-5FE3BB773256}"/>
              </a:ext>
            </a:extLst>
          </p:cNvPr>
          <p:cNvSpPr>
            <a:spLocks noGrp="1"/>
          </p:cNvSpPr>
          <p:nvPr>
            <p:ph type="body" sz="quarter" idx="13"/>
          </p:nvPr>
        </p:nvSpPr>
        <p:spPr>
          <a:xfrm>
            <a:off x="457200" y="1117174"/>
            <a:ext cx="5664658" cy="3379542"/>
          </a:xfrm>
        </p:spPr>
        <p:txBody>
          <a:bodyPr>
            <a:normAutofit lnSpcReduction="10000"/>
          </a:bodyPr>
          <a:lstStyle/>
          <a:p>
            <a:pPr marL="285750" indent="-285750">
              <a:spcBef>
                <a:spcPts val="1800"/>
              </a:spcBef>
              <a:buSzPct val="110000"/>
            </a:pPr>
            <a:r>
              <a:rPr lang="en-US" sz="2400" spc="-20" dirty="0">
                <a:solidFill>
                  <a:srgbClr val="000000"/>
                </a:solidFill>
                <a:latin typeface="Arial" panose="020B0604020202020204" pitchFamily="34" charset="0"/>
                <a:cs typeface="Arial" panose="020B0604020202020204" pitchFamily="34" charset="0"/>
              </a:rPr>
              <a:t>Full Retirement Age: 100% of deceased eligible spouse’s benefit</a:t>
            </a:r>
          </a:p>
          <a:p>
            <a:pPr marL="285750" indent="-285750">
              <a:spcBef>
                <a:spcPts val="1800"/>
              </a:spcBef>
              <a:buSzPct val="110000"/>
            </a:pPr>
            <a:r>
              <a:rPr lang="en-US" sz="2400" spc="-20" dirty="0">
                <a:solidFill>
                  <a:srgbClr val="000000"/>
                </a:solidFill>
                <a:latin typeface="Arial" panose="020B0604020202020204" pitchFamily="34" charset="0"/>
                <a:cs typeface="Arial" panose="020B0604020202020204" pitchFamily="34" charset="0"/>
              </a:rPr>
              <a:t>Age 60, or 50 (if disabled): reduced benefit</a:t>
            </a:r>
          </a:p>
          <a:p>
            <a:pPr marL="285750" indent="-285750">
              <a:spcBef>
                <a:spcPts val="1800"/>
              </a:spcBef>
              <a:buSzPct val="110000"/>
            </a:pPr>
            <a:r>
              <a:rPr lang="en-US" sz="2400" spc="-20" dirty="0">
                <a:solidFill>
                  <a:srgbClr val="000000"/>
                </a:solidFill>
                <a:latin typeface="Arial" panose="020B0604020202020204" pitchFamily="34" charset="0"/>
                <a:cs typeface="Arial" panose="020B0604020202020204" pitchFamily="34" charset="0"/>
              </a:rPr>
              <a:t>If you’re caring for eligible child(ren)</a:t>
            </a:r>
          </a:p>
          <a:p>
            <a:pPr marL="285750" indent="-285750">
              <a:spcBef>
                <a:spcPts val="1800"/>
              </a:spcBef>
              <a:buSzPct val="110000"/>
            </a:pPr>
            <a:r>
              <a:rPr lang="en-US" sz="2400" spc="-20" dirty="0">
                <a:solidFill>
                  <a:srgbClr val="000000"/>
                </a:solidFill>
                <a:latin typeface="Arial" panose="020B0604020202020204" pitchFamily="34" charset="0"/>
                <a:cs typeface="Arial" panose="020B0604020202020204" pitchFamily="34" charset="0"/>
              </a:rPr>
              <a:t>Ex-spouses</a:t>
            </a:r>
          </a:p>
          <a:p>
            <a:pPr marL="285750" indent="-285750">
              <a:spcBef>
                <a:spcPts val="1800"/>
              </a:spcBef>
              <a:buSzPct val="110000"/>
            </a:pPr>
            <a:r>
              <a:rPr lang="en-US" sz="2400" spc="-20" dirty="0">
                <a:solidFill>
                  <a:srgbClr val="000000"/>
                </a:solidFill>
                <a:latin typeface="Arial" panose="020B0604020202020204" pitchFamily="34" charset="0"/>
                <a:cs typeface="Arial" panose="020B0604020202020204" pitchFamily="34" charset="0"/>
              </a:rPr>
              <a:t>Dependent parents</a:t>
            </a:r>
          </a:p>
        </p:txBody>
      </p:sp>
      <p:grpSp>
        <p:nvGrpSpPr>
          <p:cNvPr id="25" name="Group 24">
            <a:extLst>
              <a:ext uri="{FF2B5EF4-FFF2-40B4-BE49-F238E27FC236}">
                <a16:creationId xmlns:a16="http://schemas.microsoft.com/office/drawing/2014/main" id="{A71E8764-9BE5-0102-5A8B-60194A249DAA}"/>
              </a:ext>
            </a:extLst>
          </p:cNvPr>
          <p:cNvGrpSpPr/>
          <p:nvPr/>
        </p:nvGrpSpPr>
        <p:grpSpPr>
          <a:xfrm>
            <a:off x="5982347" y="994352"/>
            <a:ext cx="2454860" cy="3154796"/>
            <a:chOff x="5802284" y="896180"/>
            <a:chExt cx="2882895" cy="3575972"/>
          </a:xfrm>
        </p:grpSpPr>
        <p:pic>
          <p:nvPicPr>
            <p:cNvPr id="14" name="Picture 13" descr="A picture containing light, drawing&#10;&#10;Description automatically generated">
              <a:extLst>
                <a:ext uri="{FF2B5EF4-FFF2-40B4-BE49-F238E27FC236}">
                  <a16:creationId xmlns:a16="http://schemas.microsoft.com/office/drawing/2014/main" id="{8B90FF39-1513-924F-865E-7DD6D8A0852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988563" y="2051482"/>
              <a:ext cx="212741" cy="594747"/>
            </a:xfrm>
            <a:prstGeom prst="rect">
              <a:avLst/>
            </a:prstGeom>
          </p:spPr>
        </p:pic>
        <p:pic>
          <p:nvPicPr>
            <p:cNvPr id="19" name="Picture 18" descr="A picture containing light, drawing&#10;&#10;Description automatically generated">
              <a:extLst>
                <a:ext uri="{FF2B5EF4-FFF2-40B4-BE49-F238E27FC236}">
                  <a16:creationId xmlns:a16="http://schemas.microsoft.com/office/drawing/2014/main" id="{F3B12AF4-DB1E-A74D-AC23-7356DAEBC34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092066" y="3079148"/>
              <a:ext cx="179064" cy="520232"/>
            </a:xfrm>
            <a:prstGeom prst="rect">
              <a:avLst/>
            </a:prstGeom>
          </p:spPr>
        </p:pic>
        <p:pic>
          <p:nvPicPr>
            <p:cNvPr id="20" name="Picture 19" descr="A picture containing light, drawing&#10;&#10;Description automatically generated">
              <a:extLst>
                <a:ext uri="{FF2B5EF4-FFF2-40B4-BE49-F238E27FC236}">
                  <a16:creationId xmlns:a16="http://schemas.microsoft.com/office/drawing/2014/main" id="{76E08CE0-FCDC-524B-8C63-390F09B30BA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617271" y="3052117"/>
              <a:ext cx="212741" cy="594747"/>
            </a:xfrm>
            <a:prstGeom prst="rect">
              <a:avLst/>
            </a:prstGeom>
          </p:spPr>
        </p:pic>
        <p:sp>
          <p:nvSpPr>
            <p:cNvPr id="26" name="Rectangle 25">
              <a:extLst>
                <a:ext uri="{FF2B5EF4-FFF2-40B4-BE49-F238E27FC236}">
                  <a16:creationId xmlns:a16="http://schemas.microsoft.com/office/drawing/2014/main" id="{E822DB40-CE16-EA4D-869A-DA849922F3AC}"/>
                </a:ext>
              </a:extLst>
            </p:cNvPr>
            <p:cNvSpPr/>
            <p:nvPr/>
          </p:nvSpPr>
          <p:spPr>
            <a:xfrm>
              <a:off x="5802284" y="896180"/>
              <a:ext cx="2882895" cy="35759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picture containing light, drawing&#10;&#10;Description automatically generated">
              <a:extLst>
                <a:ext uri="{FF2B5EF4-FFF2-40B4-BE49-F238E27FC236}">
                  <a16:creationId xmlns:a16="http://schemas.microsoft.com/office/drawing/2014/main" id="{5837E845-A851-BD43-AA56-2ADF10EFE9C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538287" y="943375"/>
              <a:ext cx="544118" cy="1095761"/>
            </a:xfrm>
            <a:prstGeom prst="rect">
              <a:avLst/>
            </a:prstGeom>
          </p:spPr>
        </p:pic>
        <p:pic>
          <p:nvPicPr>
            <p:cNvPr id="31" name="Picture 30" descr="A picture containing light, drawing&#10;&#10;Description automatically generated">
              <a:extLst>
                <a:ext uri="{FF2B5EF4-FFF2-40B4-BE49-F238E27FC236}">
                  <a16:creationId xmlns:a16="http://schemas.microsoft.com/office/drawing/2014/main" id="{EE953FAE-7309-F545-9D57-B5409C2FBA7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691342" y="982791"/>
              <a:ext cx="470200" cy="1366066"/>
            </a:xfrm>
            <a:prstGeom prst="rect">
              <a:avLst/>
            </a:prstGeom>
          </p:spPr>
        </p:pic>
        <p:pic>
          <p:nvPicPr>
            <p:cNvPr id="32" name="Picture 31" descr="A picture containing light, drawing&#10;&#10;Description automatically generated">
              <a:extLst>
                <a:ext uri="{FF2B5EF4-FFF2-40B4-BE49-F238E27FC236}">
                  <a16:creationId xmlns:a16="http://schemas.microsoft.com/office/drawing/2014/main" id="{173B7F29-944E-8341-8A31-71CD36E3A55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053761" y="1176040"/>
              <a:ext cx="609414" cy="1227256"/>
            </a:xfrm>
            <a:prstGeom prst="rect">
              <a:avLst/>
            </a:prstGeom>
          </p:spPr>
        </p:pic>
        <p:pic>
          <p:nvPicPr>
            <p:cNvPr id="33" name="Picture 32" descr="A picture containing light, drawing&#10;&#10;Description automatically generated">
              <a:extLst>
                <a:ext uri="{FF2B5EF4-FFF2-40B4-BE49-F238E27FC236}">
                  <a16:creationId xmlns:a16="http://schemas.microsoft.com/office/drawing/2014/main" id="{37FD5572-5B05-AE48-BFDB-2C265A89367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608893" y="2459969"/>
              <a:ext cx="544118" cy="1095761"/>
            </a:xfrm>
            <a:prstGeom prst="rect">
              <a:avLst/>
            </a:prstGeom>
          </p:spPr>
        </p:pic>
        <p:pic>
          <p:nvPicPr>
            <p:cNvPr id="34" name="Picture 33" descr="A picture containing light, drawing&#10;&#10;Description automatically generated">
              <a:extLst>
                <a:ext uri="{FF2B5EF4-FFF2-40B4-BE49-F238E27FC236}">
                  <a16:creationId xmlns:a16="http://schemas.microsoft.com/office/drawing/2014/main" id="{795E5BE2-22B1-E444-81E5-31454236A01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214496" y="1035979"/>
              <a:ext cx="212741" cy="594747"/>
            </a:xfrm>
            <a:prstGeom prst="rect">
              <a:avLst/>
            </a:prstGeom>
          </p:spPr>
        </p:pic>
        <p:pic>
          <p:nvPicPr>
            <p:cNvPr id="35" name="Picture 34" descr="A picture containing light, drawing&#10;&#10;Description automatically generated">
              <a:extLst>
                <a:ext uri="{FF2B5EF4-FFF2-40B4-BE49-F238E27FC236}">
                  <a16:creationId xmlns:a16="http://schemas.microsoft.com/office/drawing/2014/main" id="{C3729617-5D25-E242-A505-7D574DA738D9}"/>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7218334" y="2472624"/>
              <a:ext cx="377161" cy="1095761"/>
            </a:xfrm>
            <a:prstGeom prst="rect">
              <a:avLst/>
            </a:prstGeom>
          </p:spPr>
        </p:pic>
        <p:pic>
          <p:nvPicPr>
            <p:cNvPr id="36" name="Picture 35" descr="A picture containing light, drawing&#10;&#10;Description automatically generated">
              <a:extLst>
                <a:ext uri="{FF2B5EF4-FFF2-40B4-BE49-F238E27FC236}">
                  <a16:creationId xmlns:a16="http://schemas.microsoft.com/office/drawing/2014/main" id="{FEA26712-D2E3-074D-B431-CBBB3F25AB2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218439" y="1693216"/>
              <a:ext cx="256303" cy="716531"/>
            </a:xfrm>
            <a:prstGeom prst="rect">
              <a:avLst/>
            </a:prstGeom>
          </p:spPr>
        </p:pic>
        <p:pic>
          <p:nvPicPr>
            <p:cNvPr id="38" name="Picture 37" descr="A picture containing light, drawing&#10;&#10;Description automatically generated">
              <a:extLst>
                <a:ext uri="{FF2B5EF4-FFF2-40B4-BE49-F238E27FC236}">
                  <a16:creationId xmlns:a16="http://schemas.microsoft.com/office/drawing/2014/main" id="{0AE51A64-975B-B541-BF14-862F34E6C54A}"/>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7751635" y="2077300"/>
              <a:ext cx="377161" cy="1095761"/>
            </a:xfrm>
            <a:prstGeom prst="rect">
              <a:avLst/>
            </a:prstGeom>
          </p:spPr>
        </p:pic>
        <p:pic>
          <p:nvPicPr>
            <p:cNvPr id="39" name="Picture 38" descr="A picture containing light, drawing&#10;&#10;Description automatically generated">
              <a:extLst>
                <a:ext uri="{FF2B5EF4-FFF2-40B4-BE49-F238E27FC236}">
                  <a16:creationId xmlns:a16="http://schemas.microsoft.com/office/drawing/2014/main" id="{9C30907F-7785-734E-AA12-C6C1910C2C08}"/>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8321463" y="2452337"/>
              <a:ext cx="332158" cy="668910"/>
            </a:xfrm>
            <a:prstGeom prst="rect">
              <a:avLst/>
            </a:prstGeom>
          </p:spPr>
        </p:pic>
        <p:pic>
          <p:nvPicPr>
            <p:cNvPr id="40" name="Picture 39" descr="A picture containing light, drawing&#10;&#10;Description automatically generated">
              <a:extLst>
                <a:ext uri="{FF2B5EF4-FFF2-40B4-BE49-F238E27FC236}">
                  <a16:creationId xmlns:a16="http://schemas.microsoft.com/office/drawing/2014/main" id="{DB607BE8-6392-5145-8090-A4CDC9BD87C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060262" y="3079148"/>
              <a:ext cx="179064" cy="520232"/>
            </a:xfrm>
            <a:prstGeom prst="rect">
              <a:avLst/>
            </a:prstGeom>
          </p:spPr>
        </p:pic>
        <p:pic>
          <p:nvPicPr>
            <p:cNvPr id="41" name="Picture 40" descr="A picture containing light, drawing&#10;&#10;Description automatically generated">
              <a:extLst>
                <a:ext uri="{FF2B5EF4-FFF2-40B4-BE49-F238E27FC236}">
                  <a16:creationId xmlns:a16="http://schemas.microsoft.com/office/drawing/2014/main" id="{1B7F1378-A549-CF47-90B2-59DDA4EFD12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617271" y="3052117"/>
              <a:ext cx="212741" cy="594747"/>
            </a:xfrm>
            <a:prstGeom prst="rect">
              <a:avLst/>
            </a:prstGeom>
          </p:spPr>
        </p:pic>
        <p:pic>
          <p:nvPicPr>
            <p:cNvPr id="42" name="Picture 41" descr="A picture containing light, drawing&#10;&#10;Description automatically generated">
              <a:extLst>
                <a:ext uri="{FF2B5EF4-FFF2-40B4-BE49-F238E27FC236}">
                  <a16:creationId xmlns:a16="http://schemas.microsoft.com/office/drawing/2014/main" id="{BD25B977-F41C-E24D-9592-173F37BD8637}"/>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8239326" y="3262530"/>
              <a:ext cx="392045" cy="1139004"/>
            </a:xfrm>
            <a:prstGeom prst="rect">
              <a:avLst/>
            </a:prstGeom>
          </p:spPr>
        </p:pic>
        <p:pic>
          <p:nvPicPr>
            <p:cNvPr id="43" name="Picture 42" descr="A picture containing light, drawing&#10;&#10;Description automatically generated">
              <a:extLst>
                <a:ext uri="{FF2B5EF4-FFF2-40B4-BE49-F238E27FC236}">
                  <a16:creationId xmlns:a16="http://schemas.microsoft.com/office/drawing/2014/main" id="{07A2A5BF-6ED8-A54A-B70D-15A6D04A0C93}"/>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808105" y="3505684"/>
              <a:ext cx="313567" cy="911003"/>
            </a:xfrm>
            <a:prstGeom prst="rect">
              <a:avLst/>
            </a:prstGeom>
          </p:spPr>
        </p:pic>
        <p:pic>
          <p:nvPicPr>
            <p:cNvPr id="44" name="Picture 43" descr="A picture containing light, drawing&#10;&#10;Description automatically generated">
              <a:extLst>
                <a:ext uri="{FF2B5EF4-FFF2-40B4-BE49-F238E27FC236}">
                  <a16:creationId xmlns:a16="http://schemas.microsoft.com/office/drawing/2014/main" id="{7EE5A459-0E7A-AC4F-B0B6-FAFB48A6358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893570" y="3353292"/>
              <a:ext cx="544118" cy="1095761"/>
            </a:xfrm>
            <a:prstGeom prst="rect">
              <a:avLst/>
            </a:prstGeom>
          </p:spPr>
        </p:pic>
        <p:pic>
          <p:nvPicPr>
            <p:cNvPr id="45" name="Picture 44" descr="A picture containing light, drawing&#10;&#10;Description automatically generated">
              <a:extLst>
                <a:ext uri="{FF2B5EF4-FFF2-40B4-BE49-F238E27FC236}">
                  <a16:creationId xmlns:a16="http://schemas.microsoft.com/office/drawing/2014/main" id="{77762728-6DDE-8E43-81F2-9A2069E2C1B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480190" y="3652573"/>
              <a:ext cx="212741" cy="594747"/>
            </a:xfrm>
            <a:prstGeom prst="rect">
              <a:avLst/>
            </a:prstGeom>
          </p:spPr>
        </p:pic>
        <p:pic>
          <p:nvPicPr>
            <p:cNvPr id="9" name="Picture 8" descr="A picture containing light, drawing&#10;&#10;Description automatically generated">
              <a:extLst>
                <a:ext uri="{FF2B5EF4-FFF2-40B4-BE49-F238E27FC236}">
                  <a16:creationId xmlns:a16="http://schemas.microsoft.com/office/drawing/2014/main" id="{8C200B04-FA8D-0E1C-083B-E01503AC3AF8}"/>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flipH="1">
              <a:off x="5866372" y="950551"/>
              <a:ext cx="720402" cy="1366066"/>
            </a:xfrm>
            <a:prstGeom prst="rect">
              <a:avLst/>
            </a:prstGeom>
          </p:spPr>
        </p:pic>
        <p:pic>
          <p:nvPicPr>
            <p:cNvPr id="11" name="Picture 10" descr="A picture containing light, drawing&#10;&#10;Description automatically generated">
              <a:extLst>
                <a:ext uri="{FF2B5EF4-FFF2-40B4-BE49-F238E27FC236}">
                  <a16:creationId xmlns:a16="http://schemas.microsoft.com/office/drawing/2014/main" id="{7C75E4DC-8088-5F52-9C21-F50324A16EE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6469146" y="2051482"/>
              <a:ext cx="240530" cy="594747"/>
            </a:xfrm>
            <a:prstGeom prst="rect">
              <a:avLst/>
            </a:prstGeom>
          </p:spPr>
        </p:pic>
        <p:pic>
          <p:nvPicPr>
            <p:cNvPr id="12" name="Picture 11" descr="A picture containing light, drawing&#10;&#10;Description automatically generated">
              <a:extLst>
                <a:ext uri="{FF2B5EF4-FFF2-40B4-BE49-F238E27FC236}">
                  <a16:creationId xmlns:a16="http://schemas.microsoft.com/office/drawing/2014/main" id="{57A780FA-E43F-3FCF-1DF8-5FB0EC6B33E8}"/>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flipH="1">
              <a:off x="6087073" y="2472624"/>
              <a:ext cx="426427" cy="1095761"/>
            </a:xfrm>
            <a:prstGeom prst="rect">
              <a:avLst/>
            </a:prstGeom>
          </p:spPr>
        </p:pic>
        <p:pic>
          <p:nvPicPr>
            <p:cNvPr id="18" name="Picture 17" descr="A picture containing light, drawing&#10;&#10;Description automatically generated">
              <a:extLst>
                <a:ext uri="{FF2B5EF4-FFF2-40B4-BE49-F238E27FC236}">
                  <a16:creationId xmlns:a16="http://schemas.microsoft.com/office/drawing/2014/main" id="{83A26019-B54D-2C87-686C-6E49EE64E07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6431201" y="3471919"/>
              <a:ext cx="341417" cy="844205"/>
            </a:xfrm>
            <a:prstGeom prst="rect">
              <a:avLst/>
            </a:prstGeom>
          </p:spPr>
        </p:pic>
        <p:pic>
          <p:nvPicPr>
            <p:cNvPr id="22" name="Picture 21" descr="A picture containing light, drawing&#10;&#10;Description automatically generated">
              <a:extLst>
                <a:ext uri="{FF2B5EF4-FFF2-40B4-BE49-F238E27FC236}">
                  <a16:creationId xmlns:a16="http://schemas.microsoft.com/office/drawing/2014/main" id="{2BC80BCA-72D8-C74D-34FD-39EC191A7DA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875721" y="3569133"/>
              <a:ext cx="426427" cy="858751"/>
            </a:xfrm>
            <a:prstGeom prst="rect">
              <a:avLst/>
            </a:prstGeom>
          </p:spPr>
        </p:pic>
        <p:pic>
          <p:nvPicPr>
            <p:cNvPr id="24" name="Picture 23" descr="A picture containing light, drawing&#10;&#10;Description automatically generated">
              <a:extLst>
                <a:ext uri="{FF2B5EF4-FFF2-40B4-BE49-F238E27FC236}">
                  <a16:creationId xmlns:a16="http://schemas.microsoft.com/office/drawing/2014/main" id="{F87F07B1-5FE2-EA84-9737-0A0B3F0B4F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858124" y="2197485"/>
              <a:ext cx="212741" cy="594747"/>
            </a:xfrm>
            <a:prstGeom prst="rect">
              <a:avLst/>
            </a:prstGeom>
          </p:spPr>
        </p:pic>
      </p:grpSp>
    </p:spTree>
    <p:extLst>
      <p:ext uri="{BB962C8B-B14F-4D97-AF65-F5344CB8AC3E}">
        <p14:creationId xmlns:p14="http://schemas.microsoft.com/office/powerpoint/2010/main" val="1671430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6C735-6578-0441-A70C-D633E83E098E}"/>
              </a:ext>
            </a:extLst>
          </p:cNvPr>
          <p:cNvSpPr>
            <a:spLocks noGrp="1"/>
          </p:cNvSpPr>
          <p:nvPr>
            <p:ph type="title"/>
          </p:nvPr>
        </p:nvSpPr>
        <p:spPr/>
        <p:txBody>
          <a:bodyPr/>
          <a:lstStyle/>
          <a:p>
            <a:r>
              <a:rPr lang="en-US"/>
              <a:t>Remarried Survivor Benefits</a:t>
            </a:r>
          </a:p>
        </p:txBody>
      </p:sp>
      <p:sp>
        <p:nvSpPr>
          <p:cNvPr id="4" name="Rectangle 3">
            <a:extLst>
              <a:ext uri="{FF2B5EF4-FFF2-40B4-BE49-F238E27FC236}">
                <a16:creationId xmlns:a16="http://schemas.microsoft.com/office/drawing/2014/main" id="{AED320AA-DB62-1E41-988A-45D59AC2F415}"/>
              </a:ext>
            </a:extLst>
          </p:cNvPr>
          <p:cNvSpPr/>
          <p:nvPr/>
        </p:nvSpPr>
        <p:spPr>
          <a:xfrm>
            <a:off x="3926203" y="1646217"/>
            <a:ext cx="3059465" cy="2084600"/>
          </a:xfrm>
          <a:prstGeom prst="rect">
            <a:avLst/>
          </a:prstGeom>
          <a:solidFill>
            <a:schemeClr val="tx1">
              <a:lumMod val="25000"/>
              <a:lumOff val="75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47A93C0-81A5-9E40-9257-25C8C5FD8170}"/>
              </a:ext>
            </a:extLst>
          </p:cNvPr>
          <p:cNvSpPr/>
          <p:nvPr/>
        </p:nvSpPr>
        <p:spPr>
          <a:xfrm>
            <a:off x="546101" y="1646216"/>
            <a:ext cx="2842042" cy="2084599"/>
          </a:xfrm>
          <a:prstGeom prst="rect">
            <a:avLst/>
          </a:prstGeom>
          <a:solidFill>
            <a:schemeClr val="tx1">
              <a:lumMod val="25000"/>
              <a:lumOff val="75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C1E53E9-EE0E-FC4C-8D98-A2C43BF077C5}"/>
              </a:ext>
            </a:extLst>
          </p:cNvPr>
          <p:cNvSpPr txBox="1"/>
          <p:nvPr/>
        </p:nvSpPr>
        <p:spPr>
          <a:xfrm>
            <a:off x="546101" y="992188"/>
            <a:ext cx="2842042" cy="654029"/>
          </a:xfrm>
          <a:prstGeom prst="rect">
            <a:avLst/>
          </a:prstGeom>
          <a:solidFill>
            <a:schemeClr val="tx2"/>
          </a:solidFill>
          <a:ln>
            <a:solidFill>
              <a:schemeClr val="accent2"/>
            </a:solidFill>
          </a:ln>
        </p:spPr>
        <p:txBody>
          <a:bodyPr wrap="square" lIns="68584" tIns="34292" rIns="68584" bIns="34292" rtlCol="0" anchor="ctr">
            <a:spAutoFit/>
          </a:bodyPr>
          <a:lstStyle/>
          <a:p>
            <a:r>
              <a:rPr lang="en-US" b="1">
                <a:solidFill>
                  <a:schemeClr val="bg1"/>
                </a:solidFill>
                <a:latin typeface="Arial"/>
                <a:cs typeface="Arial"/>
              </a:rPr>
              <a:t>REMARRY BEFORE</a:t>
            </a:r>
            <a:r>
              <a:rPr lang="en-US" spc="300">
                <a:solidFill>
                  <a:schemeClr val="bg1"/>
                </a:solidFill>
                <a:latin typeface="Arial"/>
                <a:cs typeface="Arial"/>
              </a:rPr>
              <a:t> </a:t>
            </a:r>
            <a:br>
              <a:rPr lang="en-US" spc="300">
                <a:latin typeface="Arial" panose="020B0604020202020204" pitchFamily="34" charset="0"/>
                <a:cs typeface="Arial" panose="020B0604020202020204" pitchFamily="34" charset="0"/>
              </a:rPr>
            </a:br>
            <a:r>
              <a:rPr lang="en-US" spc="300">
                <a:latin typeface="Arial"/>
                <a:cs typeface="Arial"/>
              </a:rPr>
              <a:t> </a:t>
            </a:r>
            <a:r>
              <a:rPr lang="en-US" sz="2000" spc="100">
                <a:solidFill>
                  <a:schemeClr val="bg1"/>
                </a:solidFill>
                <a:latin typeface="Arial"/>
                <a:cs typeface="Arial"/>
              </a:rPr>
              <a:t>Age 60</a:t>
            </a:r>
          </a:p>
        </p:txBody>
      </p:sp>
      <p:sp>
        <p:nvSpPr>
          <p:cNvPr id="7" name="TextBox 6">
            <a:extLst>
              <a:ext uri="{FF2B5EF4-FFF2-40B4-BE49-F238E27FC236}">
                <a16:creationId xmlns:a16="http://schemas.microsoft.com/office/drawing/2014/main" id="{4C985D37-18FF-9340-A33B-1096FE1A959B}"/>
              </a:ext>
            </a:extLst>
          </p:cNvPr>
          <p:cNvSpPr txBox="1"/>
          <p:nvPr/>
        </p:nvSpPr>
        <p:spPr>
          <a:xfrm>
            <a:off x="3926203" y="1018710"/>
            <a:ext cx="3059466" cy="654029"/>
          </a:xfrm>
          <a:prstGeom prst="rect">
            <a:avLst/>
          </a:prstGeom>
          <a:solidFill>
            <a:schemeClr val="tx2">
              <a:lumMod val="75000"/>
            </a:schemeClr>
          </a:solidFill>
          <a:ln>
            <a:solidFill>
              <a:schemeClr val="accent2"/>
            </a:solidFill>
          </a:ln>
        </p:spPr>
        <p:txBody>
          <a:bodyPr wrap="square" lIns="68584" tIns="34292" rIns="68584" bIns="34292" rtlCol="0" anchor="ctr">
            <a:spAutoFit/>
          </a:bodyPr>
          <a:lstStyle/>
          <a:p>
            <a:r>
              <a:rPr lang="en-US" b="1">
                <a:solidFill>
                  <a:schemeClr val="bg1"/>
                </a:solidFill>
                <a:latin typeface="Arial" panose="020B0604020202020204" pitchFamily="34" charset="0"/>
                <a:cs typeface="Arial" panose="020B0604020202020204" pitchFamily="34" charset="0"/>
              </a:rPr>
              <a:t>REMARRY AFTER</a:t>
            </a:r>
          </a:p>
          <a:p>
            <a:r>
              <a:rPr lang="en-US" sz="2000">
                <a:solidFill>
                  <a:schemeClr val="bg1"/>
                </a:solidFill>
                <a:latin typeface="Arial" panose="020B0604020202020204" pitchFamily="34" charset="0"/>
                <a:cs typeface="Arial" panose="020B0604020202020204" pitchFamily="34" charset="0"/>
              </a:rPr>
              <a:t>Age 60</a:t>
            </a:r>
          </a:p>
        </p:txBody>
      </p:sp>
      <p:sp>
        <p:nvSpPr>
          <p:cNvPr id="8" name="Rectangle 7">
            <a:extLst>
              <a:ext uri="{FF2B5EF4-FFF2-40B4-BE49-F238E27FC236}">
                <a16:creationId xmlns:a16="http://schemas.microsoft.com/office/drawing/2014/main" id="{B320729E-D117-BD44-92F7-3EE16D93B29E}"/>
              </a:ext>
            </a:extLst>
          </p:cNvPr>
          <p:cNvSpPr/>
          <p:nvPr/>
        </p:nvSpPr>
        <p:spPr>
          <a:xfrm>
            <a:off x="687897" y="1729033"/>
            <a:ext cx="2615059" cy="1677382"/>
          </a:xfrm>
          <a:prstGeom prst="rect">
            <a:avLst/>
          </a:prstGeom>
        </p:spPr>
        <p:txBody>
          <a:bodyPr wrap="square">
            <a:spAutoFit/>
          </a:bodyPr>
          <a:lstStyle/>
          <a:p>
            <a:pPr>
              <a:spcBef>
                <a:spcPts val="600"/>
              </a:spcBef>
              <a:buSzPct val="110000"/>
            </a:pPr>
            <a:r>
              <a:rPr lang="en-US">
                <a:solidFill>
                  <a:srgbClr val="000000"/>
                </a:solidFill>
                <a:latin typeface="Arial" panose="020B0604020202020204" pitchFamily="34" charset="0"/>
                <a:cs typeface="Arial" panose="020B0604020202020204" pitchFamily="34" charset="0"/>
              </a:rPr>
              <a:t>(50 if disabled)</a:t>
            </a:r>
          </a:p>
          <a:p>
            <a:pPr>
              <a:spcBef>
                <a:spcPts val="600"/>
              </a:spcBef>
              <a:buSzPct val="110000"/>
            </a:pPr>
            <a:r>
              <a:rPr lang="en-US" sz="2000">
                <a:solidFill>
                  <a:srgbClr val="000000"/>
                </a:solidFill>
                <a:latin typeface="Arial" panose="020B0604020202020204" pitchFamily="34" charset="0"/>
                <a:cs typeface="Arial" panose="020B0604020202020204" pitchFamily="34" charset="0"/>
              </a:rPr>
              <a:t>If you remarry, you </a:t>
            </a:r>
            <a:r>
              <a:rPr lang="en-US" sz="2000" u="sng">
                <a:solidFill>
                  <a:srgbClr val="000000"/>
                </a:solidFill>
                <a:latin typeface="Arial" panose="020B0604020202020204" pitchFamily="34" charset="0"/>
                <a:cs typeface="Arial" panose="020B0604020202020204" pitchFamily="34" charset="0"/>
              </a:rPr>
              <a:t>cannot receive </a:t>
            </a:r>
            <a:r>
              <a:rPr lang="en-US" sz="2000">
                <a:solidFill>
                  <a:srgbClr val="000000"/>
                </a:solidFill>
                <a:latin typeface="Arial" panose="020B0604020202020204" pitchFamily="34" charset="0"/>
                <a:cs typeface="Arial" panose="020B0604020202020204" pitchFamily="34" charset="0"/>
              </a:rPr>
              <a:t>survivor benefits while you are married</a:t>
            </a:r>
          </a:p>
        </p:txBody>
      </p:sp>
      <p:sp>
        <p:nvSpPr>
          <p:cNvPr id="9" name="Rectangle 8">
            <a:extLst>
              <a:ext uri="{FF2B5EF4-FFF2-40B4-BE49-F238E27FC236}">
                <a16:creationId xmlns:a16="http://schemas.microsoft.com/office/drawing/2014/main" id="{C2343AA3-9770-544D-B5C0-AA5AC9E77C0C}"/>
              </a:ext>
            </a:extLst>
          </p:cNvPr>
          <p:cNvSpPr/>
          <p:nvPr/>
        </p:nvSpPr>
        <p:spPr>
          <a:xfrm>
            <a:off x="4074096" y="1729033"/>
            <a:ext cx="2687432" cy="1985159"/>
          </a:xfrm>
          <a:prstGeom prst="rect">
            <a:avLst/>
          </a:prstGeom>
        </p:spPr>
        <p:txBody>
          <a:bodyPr wrap="square">
            <a:spAutoFit/>
          </a:bodyPr>
          <a:lstStyle/>
          <a:p>
            <a:pPr>
              <a:spcBef>
                <a:spcPts val="600"/>
              </a:spcBef>
              <a:buSzPct val="110000"/>
            </a:pPr>
            <a:r>
              <a:rPr lang="en-US" dirty="0">
                <a:solidFill>
                  <a:srgbClr val="000000"/>
                </a:solidFill>
                <a:latin typeface="Arial" panose="020B0604020202020204" pitchFamily="34" charset="0"/>
                <a:cs typeface="Arial" panose="020B0604020202020204" pitchFamily="34" charset="0"/>
              </a:rPr>
              <a:t>(50 if disabled)</a:t>
            </a:r>
          </a:p>
          <a:p>
            <a:pPr>
              <a:spcBef>
                <a:spcPts val="600"/>
              </a:spcBef>
              <a:buSzPct val="110000"/>
            </a:pPr>
            <a:r>
              <a:rPr lang="en-US" sz="2000" dirty="0">
                <a:solidFill>
                  <a:srgbClr val="000000"/>
                </a:solidFill>
                <a:latin typeface="Arial" panose="020B0604020202020204" pitchFamily="34" charset="0"/>
                <a:cs typeface="Arial" panose="020B0604020202020204" pitchFamily="34" charset="0"/>
              </a:rPr>
              <a:t>If you remarry, you </a:t>
            </a:r>
            <a:br>
              <a:rPr lang="en-US" sz="2000" dirty="0">
                <a:solidFill>
                  <a:srgbClr val="000000"/>
                </a:solidFill>
                <a:latin typeface="Arial" panose="020B0604020202020204" pitchFamily="34" charset="0"/>
                <a:cs typeface="Arial" panose="020B0604020202020204" pitchFamily="34" charset="0"/>
              </a:rPr>
            </a:br>
            <a:r>
              <a:rPr lang="en-US" sz="2000" u="sng" dirty="0">
                <a:solidFill>
                  <a:srgbClr val="000000"/>
                </a:solidFill>
                <a:latin typeface="Arial" panose="020B0604020202020204" pitchFamily="34" charset="0"/>
                <a:cs typeface="Arial" panose="020B0604020202020204" pitchFamily="34" charset="0"/>
              </a:rPr>
              <a:t>will continue to qualify </a:t>
            </a:r>
            <a:r>
              <a:rPr lang="en-US" sz="2000" dirty="0">
                <a:solidFill>
                  <a:srgbClr val="000000"/>
                </a:solidFill>
                <a:latin typeface="Arial" panose="020B0604020202020204" pitchFamily="34" charset="0"/>
                <a:cs typeface="Arial" panose="020B0604020202020204" pitchFamily="34" charset="0"/>
              </a:rPr>
              <a:t>for benefits on your deceased spouse’s record</a:t>
            </a:r>
          </a:p>
        </p:txBody>
      </p:sp>
      <p:sp>
        <p:nvSpPr>
          <p:cNvPr id="10" name="Rectangle 9">
            <a:extLst>
              <a:ext uri="{FF2B5EF4-FFF2-40B4-BE49-F238E27FC236}">
                <a16:creationId xmlns:a16="http://schemas.microsoft.com/office/drawing/2014/main" id="{7781B6FA-284E-0D4B-97D1-056C5D82E40B}"/>
              </a:ext>
            </a:extLst>
          </p:cNvPr>
          <p:cNvSpPr/>
          <p:nvPr/>
        </p:nvSpPr>
        <p:spPr>
          <a:xfrm>
            <a:off x="457200" y="3843402"/>
            <a:ext cx="8125097" cy="707886"/>
          </a:xfrm>
          <a:prstGeom prst="rect">
            <a:avLst/>
          </a:prstGeom>
        </p:spPr>
        <p:txBody>
          <a:bodyPr wrap="square">
            <a:spAutoFit/>
          </a:bodyPr>
          <a:lstStyle/>
          <a:p>
            <a:pPr>
              <a:spcBef>
                <a:spcPts val="1200"/>
              </a:spcBef>
              <a:buSzPct val="110000"/>
            </a:pPr>
            <a:r>
              <a:rPr lang="en-US" sz="2000" spc="-20" dirty="0">
                <a:solidFill>
                  <a:srgbClr val="000000"/>
                </a:solidFill>
                <a:latin typeface="Arial" panose="020B0604020202020204" pitchFamily="34" charset="0"/>
                <a:cs typeface="Arial" panose="020B0604020202020204" pitchFamily="34" charset="0"/>
              </a:rPr>
              <a:t>New spouse’s benefit may be greater than the survivor benefit, so be sure to check</a:t>
            </a:r>
          </a:p>
        </p:txBody>
      </p:sp>
    </p:spTree>
    <p:extLst>
      <p:ext uri="{BB962C8B-B14F-4D97-AF65-F5344CB8AC3E}">
        <p14:creationId xmlns:p14="http://schemas.microsoft.com/office/powerpoint/2010/main" val="3202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250D-5F91-43BC-23EF-436DDB30738C}"/>
              </a:ext>
            </a:extLst>
          </p:cNvPr>
          <p:cNvSpPr>
            <a:spLocks noGrp="1"/>
          </p:cNvSpPr>
          <p:nvPr>
            <p:ph type="title"/>
          </p:nvPr>
        </p:nvSpPr>
        <p:spPr/>
        <p:txBody>
          <a:bodyPr/>
          <a:lstStyle/>
          <a:p>
            <a:r>
              <a:rPr lang="en-US"/>
              <a:t>Social Security: Applying for Benefits</a:t>
            </a:r>
          </a:p>
        </p:txBody>
      </p:sp>
      <p:sp>
        <p:nvSpPr>
          <p:cNvPr id="3" name="Text Placeholder 2">
            <a:extLst>
              <a:ext uri="{FF2B5EF4-FFF2-40B4-BE49-F238E27FC236}">
                <a16:creationId xmlns:a16="http://schemas.microsoft.com/office/drawing/2014/main" id="{AA6DD9C4-A222-735D-999D-CAD01CD5FD7B}"/>
              </a:ext>
            </a:extLst>
          </p:cNvPr>
          <p:cNvSpPr>
            <a:spLocks noGrp="1"/>
          </p:cNvSpPr>
          <p:nvPr>
            <p:ph type="body" sz="quarter" idx="10"/>
          </p:nvPr>
        </p:nvSpPr>
        <p:spPr>
          <a:xfrm>
            <a:off x="457200" y="1397708"/>
            <a:ext cx="5221705" cy="3394075"/>
          </a:xfrm>
        </p:spPr>
        <p:txBody>
          <a:bodyPr/>
          <a:lstStyle/>
          <a:p>
            <a:r>
              <a:rPr lang="en-US" i="1" dirty="0">
                <a:latin typeface="Arial" panose="020B0604020202020204" pitchFamily="34" charset="0"/>
                <a:cs typeface="Arial" panose="020B0604020202020204" pitchFamily="34" charset="0"/>
              </a:rPr>
              <a:t>my</a:t>
            </a:r>
            <a:r>
              <a:rPr lang="en-US" dirty="0">
                <a:latin typeface="Arial" panose="020B0604020202020204" pitchFamily="34" charset="0"/>
                <a:cs typeface="Arial" panose="020B0604020202020204" pitchFamily="34" charset="0"/>
              </a:rPr>
              <a:t> Social Security Account (</a:t>
            </a:r>
            <a:r>
              <a:rPr lang="en-US" dirty="0" err="1">
                <a:latin typeface="Arial" panose="020B0604020202020204" pitchFamily="34" charset="0"/>
                <a:cs typeface="Arial" panose="020B0604020202020204" pitchFamily="34" charset="0"/>
              </a:rPr>
              <a:t>login.gov</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ssa.gov</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1-800-772-1213 </a:t>
            </a:r>
          </a:p>
          <a:p>
            <a:r>
              <a:rPr lang="en-US" dirty="0">
                <a:latin typeface="Arial" panose="020B0604020202020204" pitchFamily="34" charset="0"/>
                <a:cs typeface="Arial" panose="020B0604020202020204" pitchFamily="34" charset="0"/>
              </a:rPr>
              <a:t>(TTY number: 1-800-325-0778)</a:t>
            </a:r>
          </a:p>
          <a:p>
            <a:r>
              <a:rPr lang="en-US" sz="2400" spc="-50" dirty="0">
                <a:solidFill>
                  <a:srgbClr val="000000"/>
                </a:solidFill>
                <a:cs typeface="Calibri"/>
              </a:rPr>
              <a:t>In person </a:t>
            </a:r>
            <a:r>
              <a:rPr lang="en-US" dirty="0">
                <a:latin typeface="Arial" panose="020B0604020202020204" pitchFamily="34" charset="0"/>
                <a:cs typeface="Arial" panose="020B0604020202020204" pitchFamily="34" charset="0"/>
              </a:rPr>
              <a:t>at your local field office: </a:t>
            </a:r>
            <a:r>
              <a:rPr lang="en-US" dirty="0" err="1">
                <a:latin typeface="Arial" panose="020B0604020202020204" pitchFamily="34" charset="0"/>
                <a:cs typeface="Arial" panose="020B0604020202020204" pitchFamily="34" charset="0"/>
              </a:rPr>
              <a:t>ssa.gov</a:t>
            </a:r>
            <a:r>
              <a:rPr lang="en-US" dirty="0">
                <a:latin typeface="Arial" panose="020B0604020202020204" pitchFamily="34" charset="0"/>
                <a:cs typeface="Arial" panose="020B0604020202020204" pitchFamily="34" charset="0"/>
              </a:rPr>
              <a:t>/locator</a:t>
            </a:r>
          </a:p>
          <a:p>
            <a:endParaRPr lang="en-US" dirty="0"/>
          </a:p>
        </p:txBody>
      </p:sp>
      <p:pic>
        <p:nvPicPr>
          <p:cNvPr id="4" name="Picture 3">
            <a:extLst>
              <a:ext uri="{FF2B5EF4-FFF2-40B4-BE49-F238E27FC236}">
                <a16:creationId xmlns:a16="http://schemas.microsoft.com/office/drawing/2014/main" id="{29269B37-B705-89BF-B18D-EBA99D1CCD24}"/>
              </a:ext>
            </a:extLst>
          </p:cNvPr>
          <p:cNvPicPr>
            <a:picLocks noChangeAspect="1"/>
          </p:cNvPicPr>
          <p:nvPr/>
        </p:nvPicPr>
        <p:blipFill>
          <a:blip r:embed="rId3"/>
          <a:stretch>
            <a:fillRect/>
          </a:stretch>
        </p:blipFill>
        <p:spPr>
          <a:xfrm>
            <a:off x="5358050" y="1397708"/>
            <a:ext cx="3235569" cy="2571750"/>
          </a:xfrm>
          <a:prstGeom prst="rect">
            <a:avLst/>
          </a:prstGeom>
        </p:spPr>
      </p:pic>
    </p:spTree>
    <p:extLst>
      <p:ext uri="{BB962C8B-B14F-4D97-AF65-F5344CB8AC3E}">
        <p14:creationId xmlns:p14="http://schemas.microsoft.com/office/powerpoint/2010/main" val="2749156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9BF946-4697-F14D-B9F3-4089475D9230}"/>
              </a:ext>
            </a:extLst>
          </p:cNvPr>
          <p:cNvSpPr>
            <a:spLocks noGrp="1"/>
          </p:cNvSpPr>
          <p:nvPr>
            <p:ph type="body" sz="quarter" idx="14"/>
          </p:nvPr>
        </p:nvSpPr>
        <p:spPr/>
        <p:txBody>
          <a:bodyPr/>
          <a:lstStyle/>
          <a:p>
            <a:r>
              <a:rPr lang="en-US"/>
              <a:t>The Future of Social Security</a:t>
            </a:r>
          </a:p>
        </p:txBody>
      </p:sp>
      <p:sp>
        <p:nvSpPr>
          <p:cNvPr id="4" name="Text Placeholder 3">
            <a:extLst>
              <a:ext uri="{FF2B5EF4-FFF2-40B4-BE49-F238E27FC236}">
                <a16:creationId xmlns:a16="http://schemas.microsoft.com/office/drawing/2014/main" id="{F6CE2C0C-6006-C348-9B11-1F59A7F71058}"/>
              </a:ext>
            </a:extLst>
          </p:cNvPr>
          <p:cNvSpPr>
            <a:spLocks noGrp="1"/>
          </p:cNvSpPr>
          <p:nvPr>
            <p:ph type="body" sz="quarter" idx="13"/>
          </p:nvPr>
        </p:nvSpPr>
        <p:spPr>
          <a:xfrm>
            <a:off x="4567803" y="1005840"/>
            <a:ext cx="4128193" cy="3948434"/>
          </a:xfrm>
        </p:spPr>
        <p:txBody>
          <a:bodyPr vert="horz" lIns="91440" tIns="45720" rIns="91440" bIns="45720" rtlCol="0" anchor="t">
            <a:normAutofit/>
          </a:bodyPr>
          <a:lstStyle/>
          <a:p>
            <a:pPr marL="228600" indent="-228600">
              <a:spcBef>
                <a:spcPts val="400"/>
              </a:spcBef>
              <a:spcAft>
                <a:spcPts val="1200"/>
              </a:spcAft>
              <a:buSzPct val="110000"/>
            </a:pPr>
            <a:r>
              <a:rPr lang="en-US" sz="2400" spc="-20" dirty="0">
                <a:solidFill>
                  <a:srgbClr val="000000"/>
                </a:solidFill>
                <a:latin typeface="Arial" panose="020B0604020202020204" pitchFamily="34" charset="0"/>
                <a:cs typeface="Arial" panose="020B0604020202020204" pitchFamily="34" charset="0"/>
              </a:rPr>
              <a:t>Congressional action is needed to secure the program financially for the future</a:t>
            </a:r>
          </a:p>
          <a:p>
            <a:pPr marL="228600" indent="-228600">
              <a:spcBef>
                <a:spcPts val="400"/>
              </a:spcBef>
              <a:spcAft>
                <a:spcPts val="1200"/>
              </a:spcAft>
              <a:buSzPct val="110000"/>
            </a:pPr>
            <a:r>
              <a:rPr lang="en-US" sz="2400" dirty="0"/>
              <a:t>AARP is fighting to protect your Social Security benefits</a:t>
            </a:r>
          </a:p>
          <a:p>
            <a:pPr marL="228600" indent="-228600">
              <a:spcBef>
                <a:spcPts val="400"/>
              </a:spcBef>
              <a:spcAft>
                <a:spcPts val="1200"/>
              </a:spcAft>
              <a:buSzPct val="110000"/>
            </a:pPr>
            <a:r>
              <a:rPr lang="en-US" sz="2400" dirty="0"/>
              <a:t>You’ve earned it!</a:t>
            </a:r>
            <a:endParaRPr lang="en-US" dirty="0"/>
          </a:p>
        </p:txBody>
      </p:sp>
      <p:pic>
        <p:nvPicPr>
          <p:cNvPr id="5" name="Content Placeholder 4">
            <a:extLst>
              <a:ext uri="{FF2B5EF4-FFF2-40B4-BE49-F238E27FC236}">
                <a16:creationId xmlns:a16="http://schemas.microsoft.com/office/drawing/2014/main" id="{D2604BF5-AA99-C149-834A-614235ED47CD}"/>
              </a:ext>
            </a:extLst>
          </p:cNvPr>
          <p:cNvPicPr>
            <a:picLocks noGrp="1" noChangeAspect="1"/>
          </p:cNvPicPr>
          <p:nvPr>
            <p:ph sz="quarter" idx="11"/>
          </p:nvPr>
        </p:nvPicPr>
        <p:blipFill>
          <a:blip r:embed="rId3"/>
          <a:stretch>
            <a:fillRect/>
          </a:stretch>
        </p:blipFill>
        <p:spPr>
          <a:xfrm>
            <a:off x="457200" y="1529553"/>
            <a:ext cx="4040188" cy="2692406"/>
          </a:xfrm>
          <a:prstGeom prst="rect">
            <a:avLst/>
          </a:prstGeom>
        </p:spPr>
      </p:pic>
    </p:spTree>
    <p:extLst>
      <p:ext uri="{BB962C8B-B14F-4D97-AF65-F5344CB8AC3E}">
        <p14:creationId xmlns:p14="http://schemas.microsoft.com/office/powerpoint/2010/main" val="160539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517278-A3B6-F79E-5B73-C5F683A44906}"/>
              </a:ext>
            </a:extLst>
          </p:cNvPr>
          <p:cNvSpPr>
            <a:spLocks noGrp="1"/>
          </p:cNvSpPr>
          <p:nvPr>
            <p:ph type="body" sz="quarter" idx="14"/>
          </p:nvPr>
        </p:nvSpPr>
        <p:spPr/>
        <p:txBody>
          <a:bodyPr/>
          <a:lstStyle/>
          <a:p>
            <a:r>
              <a:rPr lang="en-US"/>
              <a:t>Securing Social Security for the Future</a:t>
            </a:r>
          </a:p>
        </p:txBody>
      </p:sp>
      <p:sp>
        <p:nvSpPr>
          <p:cNvPr id="6" name="TextBox 5">
            <a:extLst>
              <a:ext uri="{FF2B5EF4-FFF2-40B4-BE49-F238E27FC236}">
                <a16:creationId xmlns:a16="http://schemas.microsoft.com/office/drawing/2014/main" id="{FA704936-4114-98AE-A3E0-6A95DF59EF2D}"/>
              </a:ext>
            </a:extLst>
          </p:cNvPr>
          <p:cNvSpPr txBox="1"/>
          <p:nvPr/>
        </p:nvSpPr>
        <p:spPr>
          <a:xfrm>
            <a:off x="457200" y="873840"/>
            <a:ext cx="4299687" cy="3447098"/>
          </a:xfrm>
          <a:prstGeom prst="rect">
            <a:avLst/>
          </a:prstGeom>
          <a:noFill/>
        </p:spPr>
        <p:txBody>
          <a:bodyPr wrap="square" rtlCol="0">
            <a:spAutoFit/>
          </a:bodyPr>
          <a:lstStyle/>
          <a:p>
            <a:endParaRPr lang="en-US" sz="2000" b="1" dirty="0"/>
          </a:p>
          <a:p>
            <a:pPr marL="285750" indent="-285750">
              <a:buFont typeface="Arial" panose="020B0604020202020204" pitchFamily="34" charset="0"/>
              <a:buChar char="•"/>
            </a:pPr>
            <a:r>
              <a:rPr lang="en-US" dirty="0"/>
              <a:t>Eliminate or raise the wage cap</a:t>
            </a:r>
          </a:p>
          <a:p>
            <a:pPr marL="285750" indent="-285750">
              <a:buFont typeface="Arial" panose="020B0604020202020204" pitchFamily="34" charset="0"/>
              <a:buChar char="•"/>
            </a:pPr>
            <a:r>
              <a:rPr lang="en-US" dirty="0"/>
              <a:t>Increase the payroll tax rate</a:t>
            </a:r>
          </a:p>
          <a:p>
            <a:pPr marL="285750" indent="-285750">
              <a:buFont typeface="Arial" panose="020B0604020202020204" pitchFamily="34" charset="0"/>
              <a:buChar char="•"/>
            </a:pPr>
            <a:r>
              <a:rPr lang="en-US" dirty="0"/>
              <a:t>Reduce benefits for higher income earners</a:t>
            </a:r>
          </a:p>
          <a:p>
            <a:pPr marL="285750" indent="-285750">
              <a:buFont typeface="Arial" panose="020B0604020202020204" pitchFamily="34" charset="0"/>
              <a:buChar char="•"/>
            </a:pPr>
            <a:r>
              <a:rPr lang="en-US" dirty="0"/>
              <a:t>Raise the Full Retirement Age</a:t>
            </a:r>
          </a:p>
          <a:p>
            <a:pPr marL="285750" indent="-285750">
              <a:buFont typeface="Arial" panose="020B0604020202020204" pitchFamily="34" charset="0"/>
              <a:buChar char="•"/>
            </a:pPr>
            <a:r>
              <a:rPr lang="en-US" dirty="0"/>
              <a:t>Utilize other funding </a:t>
            </a:r>
          </a:p>
          <a:p>
            <a:endParaRPr lang="en-US" b="1" dirty="0"/>
          </a:p>
          <a:p>
            <a:r>
              <a:rPr lang="en-US" b="1" dirty="0"/>
              <a:t>Learn more with FREE resources:</a:t>
            </a:r>
          </a:p>
          <a:p>
            <a:pPr marL="285750" indent="-285750">
              <a:buClr>
                <a:schemeClr val="tx1"/>
              </a:buClr>
              <a:buFont typeface="Arial" panose="020B0604020202020204" pitchFamily="34" charset="0"/>
              <a:buChar char="•"/>
            </a:pPr>
            <a:r>
              <a:rPr lang="en-US" dirty="0"/>
              <a:t>Council for Economic Education</a:t>
            </a:r>
          </a:p>
          <a:p>
            <a:pPr marL="285750" indent="-285750">
              <a:buClr>
                <a:schemeClr val="tx1"/>
              </a:buClr>
              <a:buFont typeface="Arial" panose="020B0604020202020204" pitchFamily="34" charset="0"/>
              <a:buChar char="•"/>
            </a:pPr>
            <a:r>
              <a:rPr lang="en-US" dirty="0"/>
              <a:t>American Academy of Actuaries</a:t>
            </a:r>
          </a:p>
          <a:p>
            <a:pPr>
              <a:buClr>
                <a:schemeClr val="tx1"/>
              </a:buClr>
            </a:pPr>
            <a:endParaRPr lang="en-US" dirty="0"/>
          </a:p>
        </p:txBody>
      </p:sp>
      <p:pic>
        <p:nvPicPr>
          <p:cNvPr id="3" name="Picture 2">
            <a:extLst>
              <a:ext uri="{FF2B5EF4-FFF2-40B4-BE49-F238E27FC236}">
                <a16:creationId xmlns:a16="http://schemas.microsoft.com/office/drawing/2014/main" id="{4282E9E7-7806-F23D-6972-C98014D6BAA3}"/>
              </a:ext>
            </a:extLst>
          </p:cNvPr>
          <p:cNvPicPr>
            <a:picLocks noChangeAspect="1"/>
          </p:cNvPicPr>
          <p:nvPr/>
        </p:nvPicPr>
        <p:blipFill>
          <a:blip r:embed="rId3"/>
          <a:stretch>
            <a:fillRect/>
          </a:stretch>
        </p:blipFill>
        <p:spPr>
          <a:xfrm>
            <a:off x="4756887" y="1278056"/>
            <a:ext cx="3928326" cy="2941249"/>
          </a:xfrm>
          <a:prstGeom prst="rect">
            <a:avLst/>
          </a:prstGeom>
        </p:spPr>
      </p:pic>
    </p:spTree>
    <p:extLst>
      <p:ext uri="{BB962C8B-B14F-4D97-AF65-F5344CB8AC3E}">
        <p14:creationId xmlns:p14="http://schemas.microsoft.com/office/powerpoint/2010/main" val="550791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FE7E-42E8-8047-F6D8-338654DF41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512C7B-E027-A01A-557D-0B4E217168A7}"/>
              </a:ext>
            </a:extLst>
          </p:cNvPr>
          <p:cNvSpPr>
            <a:spLocks noGrp="1"/>
          </p:cNvSpPr>
          <p:nvPr>
            <p:ph type="body" sz="quarter" idx="14"/>
          </p:nvPr>
        </p:nvSpPr>
        <p:spPr/>
        <p:txBody>
          <a:bodyPr/>
          <a:lstStyle/>
          <a:p>
            <a:r>
              <a:rPr lang="en-US" dirty="0"/>
              <a:t>The Your Questions Answered Tool</a:t>
            </a:r>
          </a:p>
        </p:txBody>
      </p:sp>
      <p:sp>
        <p:nvSpPr>
          <p:cNvPr id="9" name="TextBox 8">
            <a:extLst>
              <a:ext uri="{FF2B5EF4-FFF2-40B4-BE49-F238E27FC236}">
                <a16:creationId xmlns:a16="http://schemas.microsoft.com/office/drawing/2014/main" id="{494D5266-B87A-04AC-8E0E-33C1FDFD8FCA}"/>
              </a:ext>
            </a:extLst>
          </p:cNvPr>
          <p:cNvSpPr txBox="1"/>
          <p:nvPr/>
        </p:nvSpPr>
        <p:spPr>
          <a:xfrm>
            <a:off x="594196" y="4284617"/>
            <a:ext cx="7361084" cy="369332"/>
          </a:xfrm>
          <a:prstGeom prst="rect">
            <a:avLst/>
          </a:prstGeom>
          <a:noFill/>
        </p:spPr>
        <p:txBody>
          <a:bodyPr wrap="square" rtlCol="0">
            <a:spAutoFit/>
          </a:bodyPr>
          <a:lstStyle/>
          <a:p>
            <a:r>
              <a:rPr lang="en-US" b="1"/>
              <a:t>Go to </a:t>
            </a:r>
            <a:r>
              <a:rPr lang="en-US" b="1" err="1"/>
              <a:t>learn.aarp.org</a:t>
            </a:r>
            <a:r>
              <a:rPr lang="en-US" b="1"/>
              <a:t>/</a:t>
            </a:r>
            <a:r>
              <a:rPr lang="en-US" b="1" err="1"/>
              <a:t>socialsecurity</a:t>
            </a:r>
            <a:r>
              <a:rPr lang="en-US" b="1"/>
              <a:t> to use this free tool!</a:t>
            </a:r>
          </a:p>
        </p:txBody>
      </p:sp>
      <p:pic>
        <p:nvPicPr>
          <p:cNvPr id="15" name="Content Placeholder 14" descr="A black and white rectangular sign with red text&#10;&#10;Description automatically generated">
            <a:extLst>
              <a:ext uri="{FF2B5EF4-FFF2-40B4-BE49-F238E27FC236}">
                <a16:creationId xmlns:a16="http://schemas.microsoft.com/office/drawing/2014/main" id="{6CB776E7-42FB-3CC3-FB26-9C31C1C5CBA9}"/>
              </a:ext>
            </a:extLst>
          </p:cNvPr>
          <p:cNvPicPr>
            <a:picLocks noGrp="1" noChangeAspect="1"/>
          </p:cNvPicPr>
          <p:nvPr>
            <p:ph sz="quarter" idx="11"/>
          </p:nvPr>
        </p:nvPicPr>
        <p:blipFill>
          <a:blip r:embed="rId3"/>
          <a:stretch>
            <a:fillRect/>
          </a:stretch>
        </p:blipFill>
        <p:spPr>
          <a:xfrm>
            <a:off x="457199" y="1534332"/>
            <a:ext cx="8134989" cy="1814139"/>
          </a:xfrm>
        </p:spPr>
      </p:pic>
    </p:spTree>
    <p:extLst>
      <p:ext uri="{BB962C8B-B14F-4D97-AF65-F5344CB8AC3E}">
        <p14:creationId xmlns:p14="http://schemas.microsoft.com/office/powerpoint/2010/main" val="1899661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873BBA-9BB6-794D-93CF-2D1303846B0F}"/>
              </a:ext>
            </a:extLst>
          </p:cNvPr>
          <p:cNvSpPr>
            <a:spLocks noGrp="1"/>
          </p:cNvSpPr>
          <p:nvPr>
            <p:ph type="title"/>
          </p:nvPr>
        </p:nvSpPr>
        <p:spPr>
          <a:xfrm>
            <a:off x="3103808" y="3775379"/>
            <a:ext cx="5836992" cy="425054"/>
          </a:xfrm>
        </p:spPr>
        <p:txBody>
          <a:bodyPr/>
          <a:lstStyle/>
          <a:p>
            <a:r>
              <a:rPr lang="en-US"/>
              <a:t>Questions?</a:t>
            </a:r>
          </a:p>
        </p:txBody>
      </p:sp>
      <p:pic>
        <p:nvPicPr>
          <p:cNvPr id="5" name="Picture Placeholder 4" descr="A group of people sitting at a table&#10;&#10;Description automatically generated">
            <a:extLst>
              <a:ext uri="{FF2B5EF4-FFF2-40B4-BE49-F238E27FC236}">
                <a16:creationId xmlns:a16="http://schemas.microsoft.com/office/drawing/2014/main" id="{0AE78831-EFE9-E541-A43A-B3EE9500F1CD}"/>
              </a:ext>
            </a:extLst>
          </p:cNvPr>
          <p:cNvPicPr>
            <a:picLocks noGrp="1" noChangeAspect="1"/>
          </p:cNvPicPr>
          <p:nvPr>
            <p:ph type="pic" idx="1"/>
          </p:nvPr>
        </p:nvPicPr>
        <p:blipFill rotWithShape="1">
          <a:blip r:embed="rId3" cstate="hqprint">
            <a:extLst>
              <a:ext uri="{28A0092B-C50C-407E-A947-70E740481C1C}">
                <a14:useLocalDpi xmlns:a14="http://schemas.microsoft.com/office/drawing/2010/main"/>
              </a:ext>
            </a:extLst>
          </a:blip>
          <a:srcRect/>
          <a:stretch/>
        </p:blipFill>
        <p:spPr>
          <a:prstGeom prst="rect">
            <a:avLst/>
          </a:prstGeom>
        </p:spPr>
      </p:pic>
    </p:spTree>
    <p:extLst>
      <p:ext uri="{BB962C8B-B14F-4D97-AF65-F5344CB8AC3E}">
        <p14:creationId xmlns:p14="http://schemas.microsoft.com/office/powerpoint/2010/main" val="165240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70FE-B489-CB92-992B-328A7650A62C}"/>
              </a:ext>
            </a:extLst>
          </p:cNvPr>
          <p:cNvSpPr>
            <a:spLocks noGrp="1"/>
          </p:cNvSpPr>
          <p:nvPr>
            <p:ph type="title"/>
          </p:nvPr>
        </p:nvSpPr>
        <p:spPr/>
        <p:txBody>
          <a:bodyPr/>
          <a:lstStyle/>
          <a:p>
            <a:r>
              <a:rPr lang="en-US" dirty="0"/>
              <a:t>Resources</a:t>
            </a:r>
          </a:p>
        </p:txBody>
      </p:sp>
      <p:sp>
        <p:nvSpPr>
          <p:cNvPr id="3" name="Text Placeholder 2">
            <a:extLst>
              <a:ext uri="{FF2B5EF4-FFF2-40B4-BE49-F238E27FC236}">
                <a16:creationId xmlns:a16="http://schemas.microsoft.com/office/drawing/2014/main" id="{7E8359B7-7E2B-9CBA-6F24-B6437EEC8060}"/>
              </a:ext>
            </a:extLst>
          </p:cNvPr>
          <p:cNvSpPr>
            <a:spLocks noGrp="1"/>
          </p:cNvSpPr>
          <p:nvPr>
            <p:ph type="body" sz="quarter" idx="10"/>
          </p:nvPr>
        </p:nvSpPr>
        <p:spPr/>
        <p:txBody>
          <a:bodyPr/>
          <a:lstStyle/>
          <a:p>
            <a:r>
              <a:rPr lang="en-US" u="sng" dirty="0">
                <a:solidFill>
                  <a:srgbClr val="000000"/>
                </a:solidFill>
                <a:effectLst/>
                <a:latin typeface="Helvetica Neue" panose="02000503000000020004" pitchFamily="2" charset="0"/>
                <a:hlinkClick r:id="rId3"/>
              </a:rPr>
              <a:t>learn.aarp.org</a:t>
            </a:r>
            <a:r>
              <a:rPr lang="en-US" dirty="0">
                <a:solidFill>
                  <a:srgbClr val="000000"/>
                </a:solidFill>
                <a:effectLst/>
                <a:latin typeface="Helvetica Neue" panose="02000503000000020004" pitchFamily="2" charset="0"/>
                <a:hlinkClick r:id="rId3"/>
              </a:rPr>
              <a:t>/socialsecurity</a:t>
            </a:r>
            <a:endParaRPr lang="en-US" dirty="0">
              <a:solidFill>
                <a:srgbClr val="000000"/>
              </a:solidFill>
              <a:effectLst/>
              <a:latin typeface="Helvetica Neue" panose="02000503000000020004" pitchFamily="2" charset="0"/>
            </a:endParaRPr>
          </a:p>
          <a:p>
            <a:pPr lvl="1"/>
            <a:r>
              <a:rPr lang="en-US" dirty="0">
                <a:solidFill>
                  <a:srgbClr val="000000"/>
                </a:solidFill>
                <a:latin typeface="Helvetica Neue" panose="02000503000000020004" pitchFamily="2" charset="0"/>
              </a:rPr>
              <a:t>Your Questions Answered tool</a:t>
            </a:r>
            <a:endParaRPr lang="en-US" dirty="0">
              <a:solidFill>
                <a:srgbClr val="000000"/>
              </a:solidFill>
              <a:effectLst/>
              <a:latin typeface="Helvetica Neue" panose="02000503000000020004" pitchFamily="2" charset="0"/>
            </a:endParaRPr>
          </a:p>
          <a:p>
            <a:r>
              <a:rPr lang="en-US" dirty="0">
                <a:solidFill>
                  <a:srgbClr val="000000"/>
                </a:solidFill>
                <a:effectLst/>
                <a:latin typeface="Helvetica Neue" panose="02000503000000020004" pitchFamily="2" charset="0"/>
                <a:hlinkClick r:id="rId4"/>
              </a:rPr>
              <a:t>aarp.org/sscalculator</a:t>
            </a:r>
            <a:endParaRPr lang="en-US" dirty="0">
              <a:solidFill>
                <a:srgbClr val="000000"/>
              </a:solidFill>
              <a:effectLst/>
              <a:latin typeface="Helvetica Neue" panose="02000503000000020004" pitchFamily="2" charset="0"/>
            </a:endParaRPr>
          </a:p>
          <a:p>
            <a:pPr lvl="1"/>
            <a:r>
              <a:rPr lang="en-US" dirty="0">
                <a:solidFill>
                  <a:srgbClr val="000000"/>
                </a:solidFill>
                <a:latin typeface="Helvetica Neue" panose="02000503000000020004" pitchFamily="2" charset="0"/>
              </a:rPr>
              <a:t>Estimate your benefits</a:t>
            </a:r>
            <a:endParaRPr lang="en-US" dirty="0">
              <a:solidFill>
                <a:srgbClr val="000000"/>
              </a:solidFill>
              <a:effectLst/>
              <a:latin typeface="Helvetica Neue" panose="02000503000000020004" pitchFamily="2" charset="0"/>
            </a:endParaRPr>
          </a:p>
          <a:p>
            <a:r>
              <a:rPr lang="en-US" dirty="0">
                <a:solidFill>
                  <a:srgbClr val="3F3F3F"/>
                </a:solidFill>
                <a:effectLst/>
                <a:latin typeface="Helvetica" pitchFamily="2" charset="0"/>
                <a:hlinkClick r:id="rId5"/>
              </a:rPr>
              <a:t>elearn.aarp.org</a:t>
            </a:r>
            <a:endParaRPr lang="en-US" dirty="0">
              <a:solidFill>
                <a:srgbClr val="3F3F3F"/>
              </a:solidFill>
              <a:effectLst/>
              <a:latin typeface="Helvetica" pitchFamily="2" charset="0"/>
            </a:endParaRPr>
          </a:p>
          <a:p>
            <a:pPr lvl="1"/>
            <a:r>
              <a:rPr lang="en-US" dirty="0">
                <a:solidFill>
                  <a:srgbClr val="3F3F3F"/>
                </a:solidFill>
                <a:latin typeface="Helvetica" pitchFamily="2" charset="0"/>
              </a:rPr>
              <a:t>Quick Learnings</a:t>
            </a:r>
          </a:p>
          <a:p>
            <a:r>
              <a:rPr lang="en-US" u="sng" dirty="0" err="1">
                <a:solidFill>
                  <a:srgbClr val="3F3F3F"/>
                </a:solidFill>
                <a:effectLst/>
                <a:latin typeface="Helvetica" pitchFamily="2" charset="0"/>
              </a:rPr>
              <a:t>aarp.org</a:t>
            </a:r>
            <a:r>
              <a:rPr lang="en-US" u="sng" dirty="0">
                <a:solidFill>
                  <a:srgbClr val="3F3F3F"/>
                </a:solidFill>
                <a:effectLst/>
                <a:latin typeface="Helvetica" pitchFamily="2" charset="0"/>
              </a:rPr>
              <a:t>/</a:t>
            </a:r>
            <a:r>
              <a:rPr lang="en-US" u="sng" dirty="0" err="1">
                <a:solidFill>
                  <a:srgbClr val="3F3F3F"/>
                </a:solidFill>
                <a:effectLst/>
                <a:latin typeface="Helvetica" pitchFamily="2" charset="0"/>
              </a:rPr>
              <a:t>protectsocialsecurity</a:t>
            </a:r>
            <a:endParaRPr lang="en-US" u="sng" dirty="0">
              <a:solidFill>
                <a:srgbClr val="3F3F3F"/>
              </a:solidFill>
              <a:effectLst/>
              <a:latin typeface="Helvetica" pitchFamily="2" charset="0"/>
            </a:endParaRPr>
          </a:p>
          <a:p>
            <a:pPr lvl="1"/>
            <a:r>
              <a:rPr lang="en-US" dirty="0">
                <a:solidFill>
                  <a:srgbClr val="3F3F3F"/>
                </a:solidFill>
                <a:effectLst/>
                <a:latin typeface="Helvetica" pitchFamily="2" charset="0"/>
              </a:rPr>
              <a:t>Learn more about protecting Social Security</a:t>
            </a:r>
          </a:p>
          <a:p>
            <a:endParaRPr lang="en-US" dirty="0"/>
          </a:p>
        </p:txBody>
      </p:sp>
    </p:spTree>
    <p:extLst>
      <p:ext uri="{BB962C8B-B14F-4D97-AF65-F5344CB8AC3E}">
        <p14:creationId xmlns:p14="http://schemas.microsoft.com/office/powerpoint/2010/main" val="74966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E790E3-2831-43D1-A1F3-BAA08EE2CB74}"/>
              </a:ext>
            </a:extLst>
          </p:cNvPr>
          <p:cNvSpPr>
            <a:spLocks noGrp="1"/>
          </p:cNvSpPr>
          <p:nvPr>
            <p:ph type="body" sz="quarter" idx="10"/>
          </p:nvPr>
        </p:nvSpPr>
        <p:spPr/>
        <p:txBody>
          <a:bodyPr/>
          <a:lstStyle/>
          <a:p>
            <a:r>
              <a:rPr lang="en-US"/>
              <a:t>We welcome your feedback</a:t>
            </a:r>
          </a:p>
        </p:txBody>
      </p:sp>
      <p:sp>
        <p:nvSpPr>
          <p:cNvPr id="3" name="Text Placeholder 2">
            <a:extLst>
              <a:ext uri="{FF2B5EF4-FFF2-40B4-BE49-F238E27FC236}">
                <a16:creationId xmlns:a16="http://schemas.microsoft.com/office/drawing/2014/main" id="{A9E28703-A2CC-415A-A5B6-7F4E5D6B62C9}"/>
              </a:ext>
            </a:extLst>
          </p:cNvPr>
          <p:cNvSpPr>
            <a:spLocks noGrp="1"/>
          </p:cNvSpPr>
          <p:nvPr>
            <p:ph type="body" sz="quarter" idx="11"/>
          </p:nvPr>
        </p:nvSpPr>
        <p:spPr/>
        <p:txBody>
          <a:bodyPr/>
          <a:lstStyle/>
          <a:p>
            <a:r>
              <a:rPr lang="en-US"/>
              <a:t>Please complete our survey!</a:t>
            </a:r>
          </a:p>
        </p:txBody>
      </p:sp>
    </p:spTree>
    <p:extLst>
      <p:ext uri="{BB962C8B-B14F-4D97-AF65-F5344CB8AC3E}">
        <p14:creationId xmlns:p14="http://schemas.microsoft.com/office/powerpoint/2010/main" val="3272339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9E81A-B272-AB4C-C2A8-E4A8C3B7EB23}"/>
              </a:ext>
            </a:extLst>
          </p:cNvPr>
          <p:cNvPicPr>
            <a:picLocks noChangeAspect="1"/>
          </p:cNvPicPr>
          <p:nvPr/>
        </p:nvPicPr>
        <p:blipFill>
          <a:blip r:embed="rId3"/>
          <a:stretch>
            <a:fillRect/>
          </a:stretch>
        </p:blipFill>
        <p:spPr>
          <a:xfrm>
            <a:off x="457200" y="2766059"/>
            <a:ext cx="1582262" cy="1930303"/>
          </a:xfrm>
          <a:prstGeom prst="rect">
            <a:avLst/>
          </a:prstGeom>
        </p:spPr>
      </p:pic>
      <p:sp>
        <p:nvSpPr>
          <p:cNvPr id="3" name="Text Placeholder 2">
            <a:extLst>
              <a:ext uri="{FF2B5EF4-FFF2-40B4-BE49-F238E27FC236}">
                <a16:creationId xmlns:a16="http://schemas.microsoft.com/office/drawing/2014/main" id="{EE0F0166-0CA8-BDA6-BE5C-7127A9DA9B5D}"/>
              </a:ext>
            </a:extLst>
          </p:cNvPr>
          <p:cNvSpPr>
            <a:spLocks noGrp="1"/>
          </p:cNvSpPr>
          <p:nvPr>
            <p:ph type="body" sz="quarter" idx="10"/>
          </p:nvPr>
        </p:nvSpPr>
        <p:spPr>
          <a:xfrm>
            <a:off x="228600" y="1462944"/>
            <a:ext cx="8458200" cy="3155819"/>
          </a:xfrm>
        </p:spPr>
        <p:txBody>
          <a:bodyPr/>
          <a:lstStyle/>
          <a:p>
            <a:pPr marL="0" indent="0" algn="ctr">
              <a:buNone/>
            </a:pPr>
            <a:r>
              <a:rPr lang="en-US" dirty="0"/>
              <a:t>We would love to have you join our team. </a:t>
            </a:r>
          </a:p>
          <a:p>
            <a:pPr marL="0" indent="0" algn="ctr">
              <a:buNone/>
            </a:pPr>
            <a:r>
              <a:rPr lang="en-US" dirty="0"/>
              <a:t>Speak to the volunteer in front of you, scan the code here or reach out to Ellen Acevedo  312.458.3626 eacevedo@aarp.org</a:t>
            </a:r>
          </a:p>
          <a:p>
            <a:pPr marL="0" indent="0">
              <a:buNone/>
            </a:pPr>
            <a:endParaRPr lang="en-US" dirty="0"/>
          </a:p>
        </p:txBody>
      </p:sp>
      <p:pic>
        <p:nvPicPr>
          <p:cNvPr id="6" name="Picture 5">
            <a:extLst>
              <a:ext uri="{FF2B5EF4-FFF2-40B4-BE49-F238E27FC236}">
                <a16:creationId xmlns:a16="http://schemas.microsoft.com/office/drawing/2014/main" id="{8A8737D8-5E41-59EE-E524-2A3AB0567348}"/>
              </a:ext>
            </a:extLst>
          </p:cNvPr>
          <p:cNvPicPr>
            <a:picLocks noChangeAspect="1"/>
          </p:cNvPicPr>
          <p:nvPr/>
        </p:nvPicPr>
        <p:blipFill>
          <a:blip r:embed="rId4"/>
          <a:stretch>
            <a:fillRect/>
          </a:stretch>
        </p:blipFill>
        <p:spPr>
          <a:xfrm>
            <a:off x="457200" y="250162"/>
            <a:ext cx="2696062" cy="1135184"/>
          </a:xfrm>
          <a:prstGeom prst="rect">
            <a:avLst/>
          </a:prstGeom>
        </p:spPr>
      </p:pic>
      <p:pic>
        <p:nvPicPr>
          <p:cNvPr id="5" name="Picture 4">
            <a:extLst>
              <a:ext uri="{FF2B5EF4-FFF2-40B4-BE49-F238E27FC236}">
                <a16:creationId xmlns:a16="http://schemas.microsoft.com/office/drawing/2014/main" id="{A88F0E2A-DC6C-9B3F-05E3-41C190AE5CCD}"/>
              </a:ext>
            </a:extLst>
          </p:cNvPr>
          <p:cNvPicPr>
            <a:picLocks noChangeAspect="1"/>
          </p:cNvPicPr>
          <p:nvPr/>
        </p:nvPicPr>
        <p:blipFill>
          <a:blip r:embed="rId5"/>
          <a:stretch>
            <a:fillRect/>
          </a:stretch>
        </p:blipFill>
        <p:spPr>
          <a:xfrm>
            <a:off x="2106624" y="3488102"/>
            <a:ext cx="7096831" cy="859611"/>
          </a:xfrm>
          <a:prstGeom prst="rect">
            <a:avLst/>
          </a:prstGeom>
        </p:spPr>
      </p:pic>
    </p:spTree>
    <p:extLst>
      <p:ext uri="{BB962C8B-B14F-4D97-AF65-F5344CB8AC3E}">
        <p14:creationId xmlns:p14="http://schemas.microsoft.com/office/powerpoint/2010/main" val="2320121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BF17C3-3A2E-365F-60BE-AC70E247A21F}"/>
              </a:ext>
            </a:extLst>
          </p:cNvPr>
          <p:cNvSpPr txBox="1"/>
          <p:nvPr/>
        </p:nvSpPr>
        <p:spPr>
          <a:xfrm>
            <a:off x="1778558" y="3587261"/>
            <a:ext cx="5385917" cy="120032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For more information:  to learn  go to:  learn.aarp.org</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To see and register for virtual and in person events: http://www.aarp.org/local</a:t>
            </a:r>
          </a:p>
        </p:txBody>
      </p:sp>
    </p:spTree>
    <p:extLst>
      <p:ext uri="{BB962C8B-B14F-4D97-AF65-F5344CB8AC3E}">
        <p14:creationId xmlns:p14="http://schemas.microsoft.com/office/powerpoint/2010/main" val="2053396767"/>
      </p:ext>
    </p:extLst>
  </p:cSld>
  <p:clrMapOvr>
    <a:masterClrMapping/>
  </p:clrMapOvr>
</p:sld>
</file>

<file path=ppt/theme/theme1.xml><?xml version="1.0" encoding="utf-8"?>
<a:theme xmlns:a="http://schemas.openxmlformats.org/drawingml/2006/main" name="2022 DIY Toolkit Design Theme">
  <a:themeElements>
    <a:clrScheme name="AARP New DIY Template ">
      <a:dk1>
        <a:srgbClr val="141313"/>
      </a:dk1>
      <a:lt1>
        <a:srgbClr val="FFFFFF"/>
      </a:lt1>
      <a:dk2>
        <a:srgbClr val="EC1300"/>
      </a:dk2>
      <a:lt2>
        <a:srgbClr val="F2F2F2"/>
      </a:lt2>
      <a:accent1>
        <a:srgbClr val="6C6860"/>
      </a:accent1>
      <a:accent2>
        <a:srgbClr val="FFC5C0"/>
      </a:accent2>
      <a:accent3>
        <a:srgbClr val="F75D59"/>
      </a:accent3>
      <a:accent4>
        <a:srgbClr val="DADADA"/>
      </a:accent4>
      <a:accent5>
        <a:srgbClr val="F2F2F2"/>
      </a:accent5>
      <a:accent6>
        <a:srgbClr val="FFFFFF"/>
      </a:accent6>
      <a:hlink>
        <a:srgbClr val="3C3C3B"/>
      </a:hlink>
      <a:folHlink>
        <a:srgbClr val="00000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2 DIY Toolkit Design Theme" id="{49830455-E5AE-4835-A40B-F7394E1A2737}" vid="{7F9D3CA1-6445-448D-A950-C1DE7184EA8F}"/>
    </a:ext>
  </a:extLst>
</a:theme>
</file>

<file path=ppt/theme/theme2.xml><?xml version="1.0" encoding="utf-8"?>
<a:theme xmlns:a="http://schemas.openxmlformats.org/drawingml/2006/main" name="Facilitator Instructions">
  <a:themeElements>
    <a:clrScheme name="AARP New DIY Template ">
      <a:dk1>
        <a:srgbClr val="141313"/>
      </a:dk1>
      <a:lt1>
        <a:srgbClr val="FFFFFF"/>
      </a:lt1>
      <a:dk2>
        <a:srgbClr val="EC1300"/>
      </a:dk2>
      <a:lt2>
        <a:srgbClr val="F2F2F2"/>
      </a:lt2>
      <a:accent1>
        <a:srgbClr val="6C6860"/>
      </a:accent1>
      <a:accent2>
        <a:srgbClr val="FFC5C0"/>
      </a:accent2>
      <a:accent3>
        <a:srgbClr val="F75D59"/>
      </a:accent3>
      <a:accent4>
        <a:srgbClr val="DADADA"/>
      </a:accent4>
      <a:accent5>
        <a:srgbClr val="F2F2F2"/>
      </a:accent5>
      <a:accent6>
        <a:srgbClr val="FFFFFF"/>
      </a:accent6>
      <a:hlink>
        <a:srgbClr val="3C3C3B"/>
      </a:hlink>
      <a:folHlink>
        <a:srgbClr val="00000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99828B1989AE044BD85B460AD351F34" ma:contentTypeVersion="15" ma:contentTypeDescription="Create a new document." ma:contentTypeScope="" ma:versionID="755b525b6fb5365246f813870cfe3f35">
  <xsd:schema xmlns:xsd="http://www.w3.org/2001/XMLSchema" xmlns:xs="http://www.w3.org/2001/XMLSchema" xmlns:p="http://schemas.microsoft.com/office/2006/metadata/properties" xmlns:ns2="50e1de7d-6a18-4844-bf74-1498af412e93" xmlns:ns3="989c039e-a3a9-45f8-bcc4-a29999e33205" xmlns:ns4="691a5f13-9063-4281-a646-18785f66aca8" targetNamespace="http://schemas.microsoft.com/office/2006/metadata/properties" ma:root="true" ma:fieldsID="d77d5282e5a1f3821f4ee9e389610b1f" ns2:_="" ns3:_="" ns4:_="">
    <xsd:import namespace="50e1de7d-6a18-4844-bf74-1498af412e93"/>
    <xsd:import namespace="989c039e-a3a9-45f8-bcc4-a29999e33205"/>
    <xsd:import namespace="691a5f13-9063-4281-a646-18785f66aca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Comment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4:SharedWithUsers" minOccurs="0"/>
                <xsd:element ref="ns4: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e1de7d-6a18-4844-bf74-1498af412e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Comments" ma:index="12" nillable="true" ma:displayName="Comments" ma:format="Dropdown" ma:internalName="Comments">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3589834-47ee-4388-b25f-85d4b1afa375"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89c039e-a3a9-45f8-bcc4-a29999e3320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0b4b187-7c48-45fc-a984-6458da2c71d5}" ma:internalName="TaxCatchAll" ma:showField="CatchAllData" ma:web="691a5f13-9063-4281-a646-18785f66aca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91a5f13-9063-4281-a646-18785f66aca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89c039e-a3a9-45f8-bcc4-a29999e33205" xsi:nil="true"/>
    <Comments xmlns="50e1de7d-6a18-4844-bf74-1498af412e93" xsi:nil="true"/>
    <lcf76f155ced4ddcb4097134ff3c332f xmlns="50e1de7d-6a18-4844-bf74-1498af412e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758C87F-28B7-4656-A8F2-4C4D03003B61}">
  <ds:schemaRefs>
    <ds:schemaRef ds:uri="http://schemas.microsoft.com/sharepoint/v3/contenttype/forms"/>
  </ds:schemaRefs>
</ds:datastoreItem>
</file>

<file path=customXml/itemProps2.xml><?xml version="1.0" encoding="utf-8"?>
<ds:datastoreItem xmlns:ds="http://schemas.openxmlformats.org/officeDocument/2006/customXml" ds:itemID="{371233FA-A608-4BB9-8EDC-50C2FF58F512}">
  <ds:schemaRefs>
    <ds:schemaRef ds:uri="50e1de7d-6a18-4844-bf74-1498af412e93"/>
    <ds:schemaRef ds:uri="691a5f13-9063-4281-a646-18785f66aca8"/>
    <ds:schemaRef ds:uri="989c039e-a3a9-45f8-bcc4-a29999e332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530D1A8-3FC4-48DC-B546-4E167189ABE0}">
  <ds:schemaRefs>
    <ds:schemaRef ds:uri="http://purl.org/dc/dcmitype/"/>
    <ds:schemaRef ds:uri="http://schemas.microsoft.com/office/2006/documentManagement/types"/>
    <ds:schemaRef ds:uri="http://www.w3.org/XML/1998/namespace"/>
    <ds:schemaRef ds:uri="http://schemas.microsoft.com/office/2006/metadata/properties"/>
    <ds:schemaRef ds:uri="http://purl.org/dc/terms/"/>
    <ds:schemaRef ds:uri="50e1de7d-6a18-4844-bf74-1498af412e93"/>
    <ds:schemaRef ds:uri="http://schemas.openxmlformats.org/package/2006/metadata/core-properties"/>
    <ds:schemaRef ds:uri="http://purl.org/dc/elements/1.1/"/>
    <ds:schemaRef ds:uri="691a5f13-9063-4281-a646-18785f66aca8"/>
    <ds:schemaRef ds:uri="http://schemas.microsoft.com/office/infopath/2007/PartnerControls"/>
    <ds:schemaRef ds:uri="989c039e-a3a9-45f8-bcc4-a29999e33205"/>
  </ds:schemaRefs>
</ds:datastoreItem>
</file>

<file path=docProps/app.xml><?xml version="1.0" encoding="utf-8"?>
<Properties xmlns="http://schemas.openxmlformats.org/officeDocument/2006/extended-properties" xmlns:vt="http://schemas.openxmlformats.org/officeDocument/2006/docPropsVTypes">
  <Template/>
  <TotalTime>5520</TotalTime>
  <Words>6478</Words>
  <Application>Microsoft Office PowerPoint</Application>
  <PresentationFormat>On-screen Show (16:9)</PresentationFormat>
  <Paragraphs>542</Paragraphs>
  <Slides>29</Slides>
  <Notes>29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Aptos</vt:lpstr>
      <vt:lpstr>Arial</vt:lpstr>
      <vt:lpstr>Avenir Black</vt:lpstr>
      <vt:lpstr>Calibri</vt:lpstr>
      <vt:lpstr>Courier New</vt:lpstr>
      <vt:lpstr>Helvetica</vt:lpstr>
      <vt:lpstr>Helvetica Neue</vt:lpstr>
      <vt:lpstr>Lato Light</vt:lpstr>
      <vt:lpstr>Roboto Light</vt:lpstr>
      <vt:lpstr>2022 DIY Toolkit Design Theme</vt:lpstr>
      <vt:lpstr>Facilitator Instructions</vt:lpstr>
      <vt:lpstr>PowerPoint Presentation</vt:lpstr>
      <vt:lpstr>PowerPoint Presentation</vt:lpstr>
      <vt:lpstr>PowerPoint Presentation</vt:lpstr>
      <vt:lpstr>Social Security</vt:lpstr>
      <vt:lpstr>PowerPoint Presentation</vt:lpstr>
      <vt:lpstr>PowerPoint Presentation</vt:lpstr>
      <vt:lpstr>PowerPoint Presentation</vt:lpstr>
      <vt:lpstr>When You Can Claim Your Retirement Benefit</vt:lpstr>
      <vt:lpstr>PowerPoint Presentation</vt:lpstr>
      <vt:lpstr>PowerPoint Presentation</vt:lpstr>
      <vt:lpstr>Discussion: When to File for Social Security </vt:lpstr>
      <vt:lpstr>PowerPoint Presentation</vt:lpstr>
      <vt:lpstr>Cost of Living Adjustment and Wage Cap</vt:lpstr>
      <vt:lpstr>PowerPoint Presentation</vt:lpstr>
      <vt:lpstr>Who Can Collect on Your Record?</vt:lpstr>
      <vt:lpstr>Children’s Benefits</vt:lpstr>
      <vt:lpstr>PowerPoint Presentation</vt:lpstr>
      <vt:lpstr>PowerPoint Presentation</vt:lpstr>
      <vt:lpstr>PowerPoint Presentation</vt:lpstr>
      <vt:lpstr>Remarried Survivor Benefits</vt:lpstr>
      <vt:lpstr>Social Security: Applying for Benefits</vt:lpstr>
      <vt:lpstr>PowerPoint Presentation</vt:lpstr>
      <vt:lpstr>PowerPoint Presentation</vt:lpstr>
      <vt:lpstr>PowerPoint Presentation</vt:lpstr>
      <vt:lpstr>Questions?</vt:lpstr>
      <vt:lpstr>Resources</vt:lpstr>
      <vt:lpstr>PowerPoint Presentation</vt:lpstr>
      <vt:lpstr>PowerPoint Presentation</vt:lpstr>
      <vt:lpstr>PowerPoint Presentation</vt:lpstr>
    </vt:vector>
  </TitlesOfParts>
  <Company>AARP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AARP Admin</dc:creator>
  <cp:lastModifiedBy>McCarty, Joan</cp:lastModifiedBy>
  <cp:revision>114</cp:revision>
  <cp:lastPrinted>2024-10-16T18:13:58Z</cp:lastPrinted>
  <dcterms:created xsi:type="dcterms:W3CDTF">2013-03-04T16:39:12Z</dcterms:created>
  <dcterms:modified xsi:type="dcterms:W3CDTF">2025-05-13T14:29:10Z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0x010100299828B1989AE044BD85B460AD351F34</vt:lpwstr>
  </property>
  <property fmtid="{D5CDD505-2E9C-101B-9397-08002B2CF9AE}" pid="3" name="MediaServiceImageTags">
    <vt:lpwstr/>
  </property>
</Properties>
</file>