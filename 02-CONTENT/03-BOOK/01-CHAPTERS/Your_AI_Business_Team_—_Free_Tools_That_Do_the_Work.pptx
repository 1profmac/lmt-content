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1606" y="1237487"/>
            <a:ext cx="6300788" cy="2668525"/>
          </a:xfrm>
          <a:prstGeom prst="rect">
            <a:avLst/>
          </a:prstGeom>
          <a:solidFill>
            <a:srgbClr val="121212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14500" y="1530381"/>
            <a:ext cx="571500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Business Team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1714500" y="2221874"/>
            <a:ext cx="5715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TOOLS THAT DO THE WORK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1714500" y="2784444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write your business plan, manage your schedule, answer your emails, build your website, and find your first customers — without hiring anyone.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Old Model of Entrepreneurship Is Obsolete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938830"/>
            <a:ext cx="3441976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traditional startup required a full team before it could function. You needed specialists for every core task.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3047507"/>
            <a:ext cx="3441976" cy="1283001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5813" y="3268963"/>
            <a:ext cx="3013351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 business meant building a payroll first — before making a single dollar.</a:t>
            </a:r>
            <a:endParaRPr lang="en-US" sz="1397" dirty="0"/>
          </a:p>
        </p:txBody>
      </p:sp>
      <p:sp>
        <p:nvSpPr>
          <p:cNvPr id="7" name="Shape 4"/>
          <p:cNvSpPr/>
          <p:nvPr/>
        </p:nvSpPr>
        <p:spPr>
          <a:xfrm>
            <a:off x="4442101" y="1738052"/>
            <a:ext cx="4130399" cy="59114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56413" y="1930040"/>
            <a:ext cx="128944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Developer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6917996" y="1916646"/>
            <a:ext cx="14401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$5,000–$20,000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4442101" y="2464929"/>
            <a:ext cx="4130399" cy="59114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56413" y="2656917"/>
            <a:ext cx="1428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Assistant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712251" y="2643522"/>
            <a:ext cx="164593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$1,500–$3,000/mo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4442101" y="3191805"/>
            <a:ext cx="4130399" cy="59114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56413" y="3383793"/>
            <a:ext cx="95011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Copywriter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506505" y="3370399"/>
            <a:ext cx="18516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$2,000–$5,000/proj</a:t>
            </a:r>
            <a:endParaRPr lang="en-US" sz="1193" dirty="0"/>
          </a:p>
        </p:txBody>
      </p:sp>
      <p:sp>
        <p:nvSpPr>
          <p:cNvPr id="16" name="Shape 13"/>
          <p:cNvSpPr/>
          <p:nvPr/>
        </p:nvSpPr>
        <p:spPr>
          <a:xfrm>
            <a:off x="4442101" y="3918682"/>
            <a:ext cx="4130399" cy="59114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56413" y="4110670"/>
            <a:ext cx="179129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Representative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7020855" y="4097275"/>
            <a:ext cx="13373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$50,000+/year</a:t>
            </a:r>
            <a:endParaRPr lang="en-US" sz="119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0125" y="424355"/>
            <a:ext cx="7143750" cy="4294761"/>
          </a:xfrm>
          <a:prstGeom prst="rect">
            <a:avLst/>
          </a:prstGeom>
          <a:solidFill>
            <a:srgbClr val="121212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28750" y="860124"/>
            <a:ext cx="628650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Founder. </a:t>
            </a:r>
            <a:r>
              <a:rPr lang="en-US" sz="2862" b="1" spc="-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AI Roles.</a:t>
            </a:r>
            <a:r>
              <a:rPr lang="en-US" sz="2862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Zero </a:t>
            </a:r>
            <a:r>
              <a:rPr lang="en-US" sz="2862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Payroll.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1428750" y="2105983"/>
            <a:ext cx="628650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 has restructured the economics of entrepreneurship. A solo founder in 2026 can operate with the output and efficiency of a five-person team — using free tools available to anyone with a laptop and an internet connection.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1546622" y="3560406"/>
            <a:ext cx="6050756" cy="722942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68078" y="3781862"/>
            <a:ext cx="5607844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tools that once required a full-time hire are now free.</a:t>
            </a:r>
            <a:endParaRPr lang="en-US" sz="139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229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Use AI Like a Search Engine.</a:t>
            </a: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It Like an Employee.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22989"/>
            <a:ext cx="80010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difference between entrepreneurs who succeed with AI and those who don't is how they give instructions.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943044"/>
            <a:ext cx="3857625" cy="158769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2085919"/>
            <a:ext cx="35647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PROMPT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14375" y="2344880"/>
            <a:ext cx="35647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"Write me a business plan"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4707731" y="1943044"/>
            <a:ext cx="3864769" cy="1587698"/>
          </a:xfrm>
          <a:prstGeom prst="rect">
            <a:avLst/>
          </a:prstGeom>
          <a:solidFill>
            <a:srgbClr val="F59E0B">
              <a:alpha val="5000"/>
            </a:srgbClr>
          </a:solidFill>
          <a:ln w="9144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7750" y="2085919"/>
            <a:ext cx="3571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PROMPT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857750" y="2344880"/>
            <a:ext cx="357187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"Write a business plan for a subscription meal kit targeting busy parents in suburban markets, focused on affordability and dietary flexibility"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>
            <a:off x="571500" y="3587893"/>
            <a:ext cx="8001000" cy="1024737"/>
          </a:xfrm>
          <a:prstGeom prst="rect">
            <a:avLst/>
          </a:prstGeom>
          <a:solidFill>
            <a:srgbClr val="F59E0B">
              <a:alpha val="10000"/>
            </a:srgbClr>
          </a:solidFill>
          <a:ln w="9144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4375" y="3730768"/>
            <a:ext cx="77152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714375" y="3975441"/>
            <a:ext cx="77152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more specific your brief, the better the output. AI performs best when given clear context, a defined role, and precise instructions.</a:t>
            </a:r>
            <a:endParaRPr lang="en-US" sz="119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5-Person AI Business Team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268713"/>
            <a:ext cx="30003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3571875" y="1268713"/>
            <a:ext cx="20002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5572125" y="1268713"/>
            <a:ext cx="30003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1770562"/>
            <a:ext cx="30003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Strategist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3571875" y="1788421"/>
            <a:ext cx="2000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Planning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572125" y="1791993"/>
            <a:ext cx="30003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ChatGPT, Claude, Venngage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2377780"/>
            <a:ext cx="30003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Executive Assistant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3571875" y="2395640"/>
            <a:ext cx="2000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572125" y="2399212"/>
            <a:ext cx="30003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Reclaim.ai, Clockwise, Toki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" y="2984999"/>
            <a:ext cx="30003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Communications Director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3571875" y="3124302"/>
            <a:ext cx="2000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Management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5572125" y="3127874"/>
            <a:ext cx="30003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 AI, Mailmeteor, eesel AI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835105"/>
            <a:ext cx="30003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Web Developer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3571875" y="3852965"/>
            <a:ext cx="2000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Building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5572125" y="3856537"/>
            <a:ext cx="30003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Wix ADI, Hostinger AI, Framer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1500" y="4442324"/>
            <a:ext cx="30003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Sales Representative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3571875" y="4460184"/>
            <a:ext cx="2000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Acquisition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5572125" y="4463755"/>
            <a:ext cx="30003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Apollo.io, HubSpot CRM, Tidio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1</a:t>
            </a:r>
            <a:endParaRPr lang="en-US" sz="987" dirty="0"/>
          </a:p>
        </p:txBody>
      </p:sp>
      <p:sp>
        <p:nvSpPr>
          <p:cNvPr id="4" name="Text 1"/>
          <p:cNvSpPr/>
          <p:nvPr/>
        </p:nvSpPr>
        <p:spPr>
          <a:xfrm>
            <a:off x="571500" y="673298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Your Entire Business Plan in Under an Hour — For Free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924850"/>
            <a:ext cx="3441976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 and Claude can generate structured, coherent business plans when briefed correctly. Build the plan section by section.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3307835"/>
            <a:ext cx="3441976" cy="100579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3307835"/>
            <a:ext cx="28575" cy="100579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3450710"/>
            <a:ext cx="3013351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the AI as a collaborative writing partner, not a vending machine.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442101" y="1996287"/>
            <a:ext cx="2181327" cy="39112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SECTION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6623428" y="1996287"/>
            <a:ext cx="1949072" cy="39112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TOOL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442101" y="2387408"/>
            <a:ext cx="2181327" cy="46970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23428" y="2387408"/>
            <a:ext cx="1949072" cy="46970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 / Claude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42101" y="2857109"/>
            <a:ext cx="2181327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Analysis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23428" y="2857109"/>
            <a:ext cx="1949072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Perplexity AI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442101" y="3323239"/>
            <a:ext cx="2181327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Projections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23428" y="3323239"/>
            <a:ext cx="1949072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442101" y="3789369"/>
            <a:ext cx="2181327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Plan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623428" y="3789369"/>
            <a:ext cx="1949072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442101" y="4255498"/>
            <a:ext cx="2181327" cy="46255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Strategy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623428" y="4255498"/>
            <a:ext cx="1949072" cy="46255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1 — TOOLS</a:t>
            </a:r>
            <a:endParaRPr lang="en-US" sz="987" dirty="0"/>
          </a:p>
        </p:txBody>
      </p:sp>
      <p:sp>
        <p:nvSpPr>
          <p:cNvPr id="4" name="Text 1"/>
          <p:cNvSpPr/>
          <p:nvPr/>
        </p:nvSpPr>
        <p:spPr>
          <a:xfrm>
            <a:off x="571500" y="673298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Strategist Toolkit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613399"/>
            <a:ext cx="247648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925938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2277768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71500" y="2451004"/>
            <a:ext cx="24764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Drafting, ideation, financial modeling, go-to-market strategy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3022504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71500" y="3195740"/>
            <a:ext cx="24764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Unlimited access to GPT-4o mini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333731" y="1613399"/>
            <a:ext cx="247650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3333731" y="1925938"/>
            <a:ext cx="247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3333731" y="2277768"/>
            <a:ext cx="247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333731" y="2451004"/>
            <a:ext cx="24765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Nuanced writing, long-form analysis, operations planning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33731" y="3022504"/>
            <a:ext cx="247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333731" y="3195740"/>
            <a:ext cx="24765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daily messages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95991" y="1613399"/>
            <a:ext cx="247648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Venngage / QuillBot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6095991" y="1925938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095991" y="2277768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095991" y="2451004"/>
            <a:ext cx="24764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business plan generation with structured templates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095991" y="3022504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6095991" y="3195740"/>
            <a:ext cx="24764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plan generation included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71500" y="4117674"/>
            <a:ext cx="8001000" cy="597201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7250" y="4303412"/>
            <a:ext cx="74295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provides the </a:t>
            </a:r>
            <a:r>
              <a:rPr lang="en-US" sz="119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</a:t>
            </a: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You provide the </a:t>
            </a:r>
            <a:r>
              <a:rPr lang="en-US" sz="119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and judgment</a:t>
            </a: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9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665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582216" cy="223242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2</a:t>
            </a:r>
            <a:endParaRPr lang="en-US" sz="987" dirty="0"/>
          </a:p>
        </p:txBody>
      </p:sp>
      <p:sp>
        <p:nvSpPr>
          <p:cNvPr id="4" name="Text 1"/>
          <p:cNvSpPr/>
          <p:nvPr/>
        </p:nvSpPr>
        <p:spPr>
          <a:xfrm>
            <a:off x="571500" y="759023"/>
            <a:ext cx="7143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Reclaim 5–10 Hours Every Week by Delegating Your Calendar to AI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796262"/>
            <a:ext cx="7143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 — coordinating meetings, blocking focus time, managing competing priorities — can consume two to three hours of a founder's day. AI scheduling tools give that time back automatically.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2976376"/>
            <a:ext cx="2476481" cy="229013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976376"/>
            <a:ext cx="2476481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5"/>
          <p:cNvSpPr/>
          <p:nvPr/>
        </p:nvSpPr>
        <p:spPr>
          <a:xfrm>
            <a:off x="3040838" y="2976376"/>
            <a:ext cx="7144" cy="22901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5259363"/>
            <a:ext cx="2476481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976376"/>
            <a:ext cx="7144" cy="22901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85813" y="3190689"/>
            <a:ext cx="20478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Reclaim.ai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785813" y="3576451"/>
            <a:ext cx="2047856" cy="144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with Google Calendar and Outlook. Automatically schedules tasks, habits, and focus blocks. When urgent meetings arise, it reschedules your priorities rather than dropping them.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3333731" y="2976376"/>
            <a:ext cx="2476509" cy="2254411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333731" y="2976376"/>
            <a:ext cx="2476509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2"/>
          <p:cNvSpPr/>
          <p:nvPr/>
        </p:nvSpPr>
        <p:spPr>
          <a:xfrm>
            <a:off x="5803097" y="2976376"/>
            <a:ext cx="7144" cy="22544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3333731" y="5223644"/>
            <a:ext cx="2476509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333731" y="2976376"/>
            <a:ext cx="7144" cy="22544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3548044" y="3190689"/>
            <a:ext cx="204788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Clockwise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3548044" y="3576451"/>
            <a:ext cx="2047884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protected "Focus Time" blocks across team calendars. Automatically resolves scheduling conflicts and optimizes your day. Invaluable for deep work.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6095991" y="2976376"/>
            <a:ext cx="2476481" cy="2254411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095991" y="2976376"/>
            <a:ext cx="2476481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19"/>
          <p:cNvSpPr/>
          <p:nvPr/>
        </p:nvSpPr>
        <p:spPr>
          <a:xfrm>
            <a:off x="8565328" y="2976376"/>
            <a:ext cx="7144" cy="22544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5991" y="5223644"/>
            <a:ext cx="2476481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6095991" y="2976376"/>
            <a:ext cx="7144" cy="22544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310303" y="3190689"/>
            <a:ext cx="20478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Toki</a:t>
            </a:r>
            <a:endParaRPr lang="en-US" sz="1397" dirty="0"/>
          </a:p>
        </p:txBody>
      </p:sp>
      <p:sp>
        <p:nvSpPr>
          <p:cNvPr id="26" name="Text 23"/>
          <p:cNvSpPr/>
          <p:nvPr/>
        </p:nvSpPr>
        <p:spPr>
          <a:xfrm>
            <a:off x="6310303" y="3576451"/>
            <a:ext cx="2047856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Schedules meetings directly via WhatsApp and Telegram. Share a link; the meeting books itself. Eliminates the back-and-forth of traditional email scheduling.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59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2 — TOOLS</a:t>
            </a:r>
            <a:endParaRPr lang="en-US" sz="987" dirty="0"/>
          </a:p>
        </p:txBody>
      </p:sp>
      <p:sp>
        <p:nvSpPr>
          <p:cNvPr id="4" name="Text 1"/>
          <p:cNvSpPr/>
          <p:nvPr/>
        </p:nvSpPr>
        <p:spPr>
          <a:xfrm>
            <a:off x="571500" y="673298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Executive Assistant Toolkit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613399"/>
            <a:ext cx="247648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Reclaim.ai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925938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2277768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71500" y="2451004"/>
            <a:ext cx="24764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focus time and habit consistency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3022504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71500" y="3195740"/>
            <a:ext cx="24764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calendar sync, 1 habit, 1 scheduling link, 1 smart meeting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333731" y="1613399"/>
            <a:ext cx="247650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Clockwise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3333731" y="1925938"/>
            <a:ext cx="247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3333731" y="2277768"/>
            <a:ext cx="247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333731" y="2451004"/>
            <a:ext cx="24765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calendar optimization and focus time creation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33731" y="3022504"/>
            <a:ext cx="247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333731" y="3195740"/>
            <a:ext cx="24765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free tier available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95991" y="1613399"/>
            <a:ext cx="247648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Toki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6095991" y="1925938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095991" y="2277768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095991" y="2451004"/>
            <a:ext cx="24764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 via messaging apps (WhatsApp, Telegram)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095991" y="3022504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6095991" y="3195740"/>
            <a:ext cx="24764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Available; paid plans from $10/month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71500" y="4195865"/>
            <a:ext cx="8001000" cy="597201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7250" y="4367315"/>
            <a:ext cx="74295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5–10 hours reclaimed per week</a:t>
            </a: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time redirected to revenue-generating work.</a:t>
            </a:r>
            <a:endParaRPr lang="en-US" sz="119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3</a:t>
            </a:r>
            <a:endParaRPr lang="en-US" sz="987" dirty="0"/>
          </a:p>
        </p:txBody>
      </p:sp>
      <p:sp>
        <p:nvSpPr>
          <p:cNvPr id="4" name="Text 1"/>
          <p:cNvSpPr/>
          <p:nvPr/>
        </p:nvSpPr>
        <p:spPr>
          <a:xfrm>
            <a:off x="571500" y="673298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a 30-Email Inbox in 10 Minutes — Every Day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924850"/>
            <a:ext cx="3441976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system, your inbox becomes a to-do list that other people write for you. AI email tools address this from two angles: organization and composition.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3775863"/>
            <a:ext cx="3441976" cy="939012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3775863"/>
            <a:ext cx="28575" cy="9390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3918738"/>
            <a:ext cx="301335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785813" y="4091973"/>
            <a:ext cx="301335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30-email inbox processed in 10 minutes rather than an hour.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442101" y="1924850"/>
            <a:ext cx="4130399" cy="357188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10-Minute Email System</a:t>
            </a:r>
            <a:endParaRPr lang="en-US" sz="1397" dirty="0"/>
          </a:p>
        </p:txBody>
      </p:sp>
      <p:sp>
        <p:nvSpPr>
          <p:cNvPr id="11" name="Shape 8"/>
          <p:cNvSpPr/>
          <p:nvPr/>
        </p:nvSpPr>
        <p:spPr>
          <a:xfrm>
            <a:off x="4442101" y="2496350"/>
            <a:ext cx="285750" cy="28575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442101" y="249635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870726" y="2496350"/>
            <a:ext cx="3701774" cy="500063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two dedicated email windows per day (morning + afternoon)</a:t>
            </a:r>
            <a:endParaRPr lang="en-US" sz="1159" dirty="0"/>
          </a:p>
        </p:txBody>
      </p:sp>
      <p:sp>
        <p:nvSpPr>
          <p:cNvPr id="14" name="Shape 11"/>
          <p:cNvSpPr/>
          <p:nvPr/>
        </p:nvSpPr>
        <p:spPr>
          <a:xfrm>
            <a:off x="4442101" y="3175006"/>
            <a:ext cx="285750" cy="28575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442101" y="317500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870726" y="3175006"/>
            <a:ext cx="3701774" cy="500063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your AI assistant draft replies to all flagged messages</a:t>
            </a:r>
            <a:endParaRPr lang="en-US" sz="1159" dirty="0"/>
          </a:p>
        </p:txBody>
      </p:sp>
      <p:sp>
        <p:nvSpPr>
          <p:cNvPr id="17" name="Shape 14"/>
          <p:cNvSpPr/>
          <p:nvPr/>
        </p:nvSpPr>
        <p:spPr>
          <a:xfrm>
            <a:off x="4442101" y="3853662"/>
            <a:ext cx="285750" cy="28575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442101" y="3853662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870726" y="3853662"/>
            <a:ext cx="2998589" cy="26431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each draft for accuracy and tone</a:t>
            </a:r>
            <a:endParaRPr lang="en-US" sz="1159" dirty="0"/>
          </a:p>
        </p:txBody>
      </p:sp>
      <p:sp>
        <p:nvSpPr>
          <p:cNvPr id="20" name="Shape 17"/>
          <p:cNvSpPr/>
          <p:nvPr/>
        </p:nvSpPr>
        <p:spPr>
          <a:xfrm>
            <a:off x="4442101" y="4318006"/>
            <a:ext cx="285750" cy="28575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442101" y="431800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4870726" y="4318006"/>
            <a:ext cx="1539478" cy="26431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if needed. Send.</a:t>
            </a:r>
            <a:endParaRPr lang="en-US" sz="115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3 — TOOLS</a:t>
            </a:r>
            <a:endParaRPr lang="en-US" sz="987" dirty="0"/>
          </a:p>
        </p:txBody>
      </p:sp>
      <p:sp>
        <p:nvSpPr>
          <p:cNvPr id="4" name="Text 1"/>
          <p:cNvSpPr/>
          <p:nvPr/>
        </p:nvSpPr>
        <p:spPr>
          <a:xfrm>
            <a:off x="571500" y="673298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Communications Director Toolkit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742950" y="1441949"/>
            <a:ext cx="230503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 AI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742950" y="1754488"/>
            <a:ext cx="23050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742950" y="2106318"/>
            <a:ext cx="23050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742950" y="2279554"/>
            <a:ext cx="23050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Inbox organization, priority sorting, message summarization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2950" y="2851054"/>
            <a:ext cx="23050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742950" y="3024290"/>
            <a:ext cx="2305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 with any Google account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505181" y="1441949"/>
            <a:ext cx="230505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Mailmeteor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3505181" y="1754488"/>
            <a:ext cx="230505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3505181" y="2106318"/>
            <a:ext cx="230505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505181" y="2279554"/>
            <a:ext cx="230505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personalized outreach and follow-up emails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05181" y="2851054"/>
            <a:ext cx="230505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505181" y="3024290"/>
            <a:ext cx="230505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emails/month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267441" y="1441949"/>
            <a:ext cx="230503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eesel AI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6267441" y="1754488"/>
            <a:ext cx="23050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267441" y="2106318"/>
            <a:ext cx="23050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267441" y="2279554"/>
            <a:ext cx="230503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reply drafting based on incoming message content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67441" y="3065366"/>
            <a:ext cx="23050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6267441" y="3238602"/>
            <a:ext cx="2305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reply drafting included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71500" y="4117674"/>
            <a:ext cx="8001000" cy="597201"/>
          </a:xfrm>
          <a:prstGeom prst="rect">
            <a:avLst/>
          </a:prstGeom>
          <a:solidFill>
            <a:srgbClr val="F59E0B">
              <a:alpha val="10000"/>
            </a:srgbClr>
          </a:solidFill>
          <a:ln w="9144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7250" y="4303412"/>
            <a:ext cx="74295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review and send. </a:t>
            </a:r>
            <a:r>
              <a:rPr lang="en-US" sz="1193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writes.</a:t>
            </a:r>
            <a:endParaRPr lang="en-US" sz="119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55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4</a:t>
            </a:r>
            <a:endParaRPr lang="en-US" sz="987" dirty="0"/>
          </a:p>
        </p:txBody>
      </p:sp>
      <p:sp>
        <p:nvSpPr>
          <p:cNvPr id="4" name="Text 1"/>
          <p:cNvSpPr/>
          <p:nvPr/>
        </p:nvSpPr>
        <p:spPr>
          <a:xfrm>
            <a:off x="571500" y="673298"/>
            <a:ext cx="785812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 Professional Website in 30 Minutes — Without Writing a Single Line of Code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624812"/>
            <a:ext cx="3441976" cy="137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a web developer costs $2,000–$20,000. Hiring an agency costs more. AI website builders have made this investment unnecessary for most early-stage businesses.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3282107"/>
            <a:ext cx="3441976" cy="1873448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3282107"/>
            <a:ext cx="28575" cy="18734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3453557"/>
            <a:ext cx="301335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ADVICE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85813" y="3698230"/>
            <a:ext cx="3013351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your website copy with ChatGPT or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</a:t>
            </a: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 start building. Describe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business, your target customer, and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action you want visitors to take. Build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site around compelling copy — not the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way around.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442101" y="1774831"/>
            <a:ext cx="413039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Wix ADI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442101" y="2089156"/>
            <a:ext cx="41303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 fully designed, mobile-responsive website from a few questions. Free plan includes hosting.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42101" y="2882112"/>
            <a:ext cx="413039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Hostinger AI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4442101" y="3196437"/>
            <a:ext cx="41303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site live in under 30 minutes with AI-generated copy.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442101" y="3989394"/>
            <a:ext cx="413039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Framer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4442101" y="4303719"/>
            <a:ext cx="413039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translates plain-language descriptions into functional web components — for founders who want design control without coding.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4 — TOOLS</a:t>
            </a:r>
            <a:endParaRPr lang="en-US" sz="987" dirty="0"/>
          </a:p>
        </p:txBody>
      </p:sp>
      <p:sp>
        <p:nvSpPr>
          <p:cNvPr id="4" name="Text 1"/>
          <p:cNvSpPr/>
          <p:nvPr/>
        </p:nvSpPr>
        <p:spPr>
          <a:xfrm>
            <a:off x="571500" y="673298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Web Developer Toolkit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613399"/>
            <a:ext cx="247648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Wix ADI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925938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2277768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71500" y="2451004"/>
            <a:ext cx="24764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business website with AI-generated design and copy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3022504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71500" y="3195740"/>
            <a:ext cx="24764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with Wix branding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333731" y="1613399"/>
            <a:ext cx="247650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Hostinger AI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3333731" y="1925938"/>
            <a:ext cx="247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TRIAL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3333731" y="2277768"/>
            <a:ext cx="247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333731" y="2451004"/>
            <a:ext cx="24765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— a live site in under 30 minutes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33731" y="3022504"/>
            <a:ext cx="247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333731" y="3195740"/>
            <a:ext cx="24765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 available for testing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95991" y="1613399"/>
            <a:ext cx="247648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Framer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6095991" y="1925938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095991" y="2277768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095991" y="2451004"/>
            <a:ext cx="24764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Design-forward sites with AI-powered component generation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095991" y="3022504"/>
            <a:ext cx="24764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6095991" y="3195740"/>
            <a:ext cx="24764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71500" y="4117674"/>
            <a:ext cx="8001000" cy="597201"/>
          </a:xfrm>
          <a:prstGeom prst="rect">
            <a:avLst/>
          </a:prstGeom>
          <a:solidFill>
            <a:srgbClr val="8B5CF6">
              <a:alpha val="10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7250" y="4303412"/>
            <a:ext cx="74295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website is your storefront. </a:t>
            </a:r>
            <a:r>
              <a:rPr lang="en-US" sz="1193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builds it. You own it.</a:t>
            </a:r>
            <a:endParaRPr lang="en-US" sz="119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5</a:t>
            </a:r>
            <a:endParaRPr lang="en-US" sz="987" dirty="0"/>
          </a:p>
        </p:txBody>
      </p:sp>
      <p:sp>
        <p:nvSpPr>
          <p:cNvPr id="4" name="Text 1"/>
          <p:cNvSpPr/>
          <p:nvPr/>
        </p:nvSpPr>
        <p:spPr>
          <a:xfrm>
            <a:off x="571500" y="673298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Your First 100 Customers Without a Sales Team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710537"/>
            <a:ext cx="71437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has transformed customer acquisition from a manual, relationship-dependent slog into a systematic, scalable operation.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2616343"/>
            <a:ext cx="2476481" cy="249584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616343"/>
            <a:ext cx="2476481" cy="285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5"/>
          <p:cNvSpPr/>
          <p:nvPr/>
        </p:nvSpPr>
        <p:spPr>
          <a:xfrm>
            <a:off x="3040838" y="2616343"/>
            <a:ext cx="7144" cy="2495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5105047"/>
            <a:ext cx="2476481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616343"/>
            <a:ext cx="7144" cy="2495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85813" y="2830655"/>
            <a:ext cx="20478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Apollo.io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785813" y="3216418"/>
            <a:ext cx="2047856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 275M+ verified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contacts. Define your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customer profile; Apollo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the list and automates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outreach.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85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tier: 120 email </a:t>
            </a:r>
            <a:r>
              <a:rPr lang="en-US" sz="885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credits/month.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3333731" y="2616343"/>
            <a:ext cx="2476509" cy="246012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333731" y="2616343"/>
            <a:ext cx="2476509" cy="285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Shape 12"/>
          <p:cNvSpPr/>
          <p:nvPr/>
        </p:nvSpPr>
        <p:spPr>
          <a:xfrm>
            <a:off x="5803097" y="2616343"/>
            <a:ext cx="7144" cy="24601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3333731" y="5069328"/>
            <a:ext cx="2476509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333731" y="2616343"/>
            <a:ext cx="7144" cy="24601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3548044" y="2830655"/>
            <a:ext cx="204788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 CRM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3548044" y="3216418"/>
            <a:ext cx="2047884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Unlimited contacts, AI lead scoring, email tracking, visual sales pipeline — all free. The difference between closing deals and losing them to disorganization.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6095991" y="2616343"/>
            <a:ext cx="2476481" cy="246012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095991" y="2616343"/>
            <a:ext cx="2476481" cy="285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Shape 19"/>
          <p:cNvSpPr/>
          <p:nvPr/>
        </p:nvSpPr>
        <p:spPr>
          <a:xfrm>
            <a:off x="8565328" y="2616343"/>
            <a:ext cx="7144" cy="24601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5991" y="5069328"/>
            <a:ext cx="2476481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6095991" y="2616343"/>
            <a:ext cx="7144" cy="24601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310303" y="2830655"/>
            <a:ext cx="20478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Tidio</a:t>
            </a:r>
            <a:endParaRPr lang="en-US" sz="1397" dirty="0"/>
          </a:p>
        </p:txBody>
      </p:sp>
      <p:sp>
        <p:nvSpPr>
          <p:cNvPr id="26" name="Text 23"/>
          <p:cNvSpPr/>
          <p:nvPr/>
        </p:nvSpPr>
        <p:spPr>
          <a:xfrm>
            <a:off x="6310303" y="3216418"/>
            <a:ext cx="2047856" cy="144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AI chatbot that engages website visitors 24/7, qualifies leads, and books meetings while you sleep. A visitor at 11 PM gets an immediate answer. By morning, the meeting is in your calendar.</a:t>
            </a:r>
            <a:endParaRPr lang="en-US" sz="94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5 — TOOLS</a:t>
            </a:r>
            <a:endParaRPr lang="en-US" sz="987" dirty="0"/>
          </a:p>
        </p:txBody>
      </p:sp>
      <p:sp>
        <p:nvSpPr>
          <p:cNvPr id="4" name="Text 1"/>
          <p:cNvSpPr/>
          <p:nvPr/>
        </p:nvSpPr>
        <p:spPr>
          <a:xfrm>
            <a:off x="571500" y="673298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Sales Representative Toolkit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399087"/>
            <a:ext cx="25146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Apollo.io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711626"/>
            <a:ext cx="2514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1992018"/>
            <a:ext cx="2514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71500" y="2165254"/>
            <a:ext cx="2514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outbound prospecting and automated email sequences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693891"/>
            <a:ext cx="2514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71500" y="2867127"/>
            <a:ext cx="2514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 email credits/month, 275M+ contact database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314700" y="1399087"/>
            <a:ext cx="25146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 CRM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3314700" y="1711626"/>
            <a:ext cx="2514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3314700" y="1992018"/>
            <a:ext cx="2514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314700" y="2165254"/>
            <a:ext cx="2514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management, lead scoring, email tracking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14700" y="2693891"/>
            <a:ext cx="2514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314700" y="2867127"/>
            <a:ext cx="25146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Unlimited contacts and users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57900" y="1399087"/>
            <a:ext cx="25146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Tidio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6057900" y="1711626"/>
            <a:ext cx="2514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057900" y="1992018"/>
            <a:ext cx="2514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057900" y="2165254"/>
            <a:ext cx="2514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inbound lead capture and qualification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057900" y="2693891"/>
            <a:ext cx="2514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6057900" y="2867127"/>
            <a:ext cx="25146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visitors/month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71500" y="4317699"/>
            <a:ext cx="8001000" cy="540051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8675" y="4474862"/>
            <a:ext cx="74866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sales rep </a:t>
            </a:r>
            <a:r>
              <a:rPr lang="en-US" sz="1193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sleeps</a:t>
            </a: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never gets discouraged, and </a:t>
            </a:r>
            <a:r>
              <a:rPr lang="en-US" sz="1193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misses a follow-up</a:t>
            </a: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9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What Your AI Business Team Looks Like in Action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857250" y="1894489"/>
            <a:ext cx="7429500" cy="142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80177"/>
            <a:ext cx="428625" cy="414338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680177"/>
            <a:ext cx="42862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571500" y="2237389"/>
            <a:ext cx="1428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71500" y="2551714"/>
            <a:ext cx="142875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prospect lands on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Wix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site at 11 PM.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Tidio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answers their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captures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their email.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2214563" y="1680177"/>
            <a:ext cx="428625" cy="414338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0" name="Text 7"/>
          <p:cNvSpPr/>
          <p:nvPr/>
        </p:nvSpPr>
        <p:spPr>
          <a:xfrm>
            <a:off x="2214563" y="1680177"/>
            <a:ext cx="42862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2214563" y="2237389"/>
            <a:ext cx="1428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2214563" y="2551714"/>
            <a:ext cx="142875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email automatically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syncs to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creating a new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profile without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entry.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3857625" y="1680177"/>
            <a:ext cx="428625" cy="414338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4" name="Text 11"/>
          <p:cNvSpPr/>
          <p:nvPr/>
        </p:nvSpPr>
        <p:spPr>
          <a:xfrm>
            <a:off x="3857625" y="1680177"/>
            <a:ext cx="42862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36" dirty="0"/>
          </a:p>
        </p:txBody>
      </p:sp>
      <p:sp>
        <p:nvSpPr>
          <p:cNvPr id="15" name="Text 12"/>
          <p:cNvSpPr/>
          <p:nvPr/>
        </p:nvSpPr>
        <p:spPr>
          <a:xfrm>
            <a:off x="3857625" y="2237389"/>
            <a:ext cx="1428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3857625" y="2551714"/>
            <a:ext cx="1428750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automated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 sends a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Toki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booking link. They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 time that fits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Clockwise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focus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schedule.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5500688" y="1680177"/>
            <a:ext cx="428625" cy="414338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8" name="Text 15"/>
          <p:cNvSpPr/>
          <p:nvPr/>
        </p:nvSpPr>
        <p:spPr>
          <a:xfrm>
            <a:off x="5500688" y="1680177"/>
            <a:ext cx="42862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436" dirty="0"/>
          </a:p>
        </p:txBody>
      </p:sp>
      <p:sp>
        <p:nvSpPr>
          <p:cNvPr id="19" name="Text 16"/>
          <p:cNvSpPr/>
          <p:nvPr/>
        </p:nvSpPr>
        <p:spPr>
          <a:xfrm>
            <a:off x="5500688" y="2237389"/>
            <a:ext cx="1428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5500688" y="2551714"/>
            <a:ext cx="142875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call, you ask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analyze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their company website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generate three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talking points.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7143750" y="1680177"/>
            <a:ext cx="428625" cy="414338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22" name="Text 19"/>
          <p:cNvSpPr/>
          <p:nvPr/>
        </p:nvSpPr>
        <p:spPr>
          <a:xfrm>
            <a:off x="7143750" y="1680177"/>
            <a:ext cx="42862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436" dirty="0"/>
          </a:p>
        </p:txBody>
      </p:sp>
      <p:sp>
        <p:nvSpPr>
          <p:cNvPr id="23" name="Text 20"/>
          <p:cNvSpPr/>
          <p:nvPr/>
        </p:nvSpPr>
        <p:spPr>
          <a:xfrm>
            <a:off x="7143750" y="2237389"/>
            <a:ext cx="1428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7143750" y="2551714"/>
            <a:ext cx="142875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the call,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Mailmeteor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sends a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follow-up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proposal drafted 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AI.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571500" y="4457700"/>
            <a:ext cx="8001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tools. Zero employees. One seamless customer experience.</a:t>
            </a:r>
            <a:endParaRPr lang="en-US" sz="1269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Full AI Business Team — All Free to Start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97276"/>
            <a:ext cx="20872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2658731" y="1197276"/>
            <a:ext cx="173933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398066" y="1197276"/>
            <a:ext cx="20872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FREE TOOL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485297" y="1197276"/>
            <a:ext cx="20872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REPLACES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71500" y="1627687"/>
            <a:ext cx="20872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Strategist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2658731" y="1644653"/>
            <a:ext cx="17393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Planning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398066" y="1644653"/>
            <a:ext cx="20872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 / Claude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85297" y="1644653"/>
            <a:ext cx="20872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consultant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127749"/>
            <a:ext cx="20872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Exec Assistant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2658731" y="2144716"/>
            <a:ext cx="17393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4398066" y="2144716"/>
            <a:ext cx="20872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Reclaim.ai / Clockwise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85297" y="2144716"/>
            <a:ext cx="20872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manager / EA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2627812"/>
            <a:ext cx="20872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Comms Director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2658731" y="2644778"/>
            <a:ext cx="17393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Management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398066" y="2644778"/>
            <a:ext cx="20872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 AI / Mailmeteor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85297" y="2644778"/>
            <a:ext cx="20872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VA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1500" y="3127874"/>
            <a:ext cx="20872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Web Developer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2658731" y="3144841"/>
            <a:ext cx="17393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Building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4398066" y="3144841"/>
            <a:ext cx="20872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Wix ADI / Hostinger AI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85297" y="3144841"/>
            <a:ext cx="20872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developer / agency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71500" y="3627937"/>
            <a:ext cx="20872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Sales Rep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2658731" y="3644903"/>
            <a:ext cx="17393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Acquisition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4398066" y="3644903"/>
            <a:ext cx="20872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Apollo.io / HubSpot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85297" y="3644903"/>
            <a:ext cx="20872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rep / BDR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 Rule for Upgrading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857250" y="1271643"/>
            <a:ext cx="7429500" cy="1831591"/>
          </a:xfrm>
          <a:prstGeom prst="rect">
            <a:avLst/>
          </a:prstGeom>
          <a:solidFill>
            <a:srgbClr val="F59E0B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57250" y="1271643"/>
            <a:ext cx="57150" cy="183159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1285875" y="1557393"/>
            <a:ext cx="6572250" cy="126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21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"Never pay for a tool until the free version has helped you generate the revenue to afford it."</a:t>
            </a:r>
            <a:endParaRPr lang="en-US" sz="2121" dirty="0"/>
          </a:p>
        </p:txBody>
      </p:sp>
      <p:sp>
        <p:nvSpPr>
          <p:cNvPr id="7" name="Text 4"/>
          <p:cNvSpPr/>
          <p:nvPr/>
        </p:nvSpPr>
        <p:spPr>
          <a:xfrm>
            <a:off x="1714500" y="3460421"/>
            <a:ext cx="5715000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486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tiers are designed to get you started. Paid tiers are </a:t>
            </a:r>
            <a:r>
              <a:rPr lang="en-US" sz="1486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to help you scale. </a:t>
            </a:r>
            <a:r>
              <a:rPr lang="en-US" sz="1486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397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scale before you start.</a:t>
            </a:r>
            <a:endParaRPr lang="en-US" sz="1486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0125" y="290075"/>
            <a:ext cx="7143750" cy="4563321"/>
          </a:xfrm>
          <a:prstGeom prst="rect">
            <a:avLst/>
          </a:prstGeom>
          <a:solidFill>
            <a:srgbClr val="121212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28750" y="725844"/>
            <a:ext cx="628650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to Start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1428750" y="1560212"/>
            <a:ext cx="628650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486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barrier to entry has never been lower. The cost of failure has never been cheaper. You no longer need funding to build a team; you just need the willingness to learn how to manage one.</a:t>
            </a:r>
            <a:endParaRPr lang="en-US" sz="1486" dirty="0"/>
          </a:p>
        </p:txBody>
      </p:sp>
      <p:sp>
        <p:nvSpPr>
          <p:cNvPr id="6" name="Shape 3"/>
          <p:cNvSpPr/>
          <p:nvPr/>
        </p:nvSpPr>
        <p:spPr>
          <a:xfrm>
            <a:off x="1428750" y="2877452"/>
            <a:ext cx="6286500" cy="154017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14500" y="3098909"/>
            <a:ext cx="5715000" cy="109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business team is waiting for your </a:t>
            </a: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instructions.</a:t>
            </a: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building today.</a:t>
            </a:r>
            <a:endParaRPr lang="en-US" sz="160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2026-04-01T22:03:26Z</dcterms:created>
  <dcterms:modified xsi:type="dcterms:W3CDTF">2026-04-01T22:03:26Z</dcterms:modified>
</cp:coreProperties>
</file>