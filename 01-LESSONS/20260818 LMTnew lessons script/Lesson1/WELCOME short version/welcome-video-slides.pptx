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B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A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2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411480"/>
            <a:ext cx="566928" cy="566928"/>
          </a:xfrm>
          <a:prstGeom prst="rect">
            <a:avLst/>
          </a:prstGeom>
          <a:solidFill>
            <a:srgbClr val="08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5197" y="411480"/>
            <a:ext cx="311810" cy="566928"/>
          </a:xfrm>
          <a:prstGeom prst="rect">
            <a:avLst/>
          </a:prstGeom>
          <a:solidFill>
            <a:srgbClr val="E2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79511"/>
            <a:ext cx="566928" cy="453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7548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TechBridge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65BD53"/>
                </a:solidFill>
                <a:latin typeface="Arial"/>
              </a:rPr>
              <a:t>FREE ONLINE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You're not bad at technology.</a:t>
            </a:r>
          </a:p>
          <a:p>
            <a:pPr algn="l">
              <a:spcAft>
                <a:spcPts val="800"/>
              </a:spcAft>
            </a:pPr>
            <a:r>
              <a:rPr sz="3200" b="0">
                <a:solidFill>
                  <a:srgbClr val="C8DFF0"/>
                </a:solidFill>
                <a:latin typeface="Arial"/>
              </a:rPr>
              <a:t>You've just never had the right teacher.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37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00A3DC"/>
                </a:solidFill>
                <a:latin typeface="Arial"/>
              </a:rPr>
              <a:t>Welcome  →  Talk to AI  →  Don't get scammed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65BD53"/>
                </a:solidFill>
                <a:latin typeface="Arial"/>
              </a:rPr>
              <a:t>50+ TechBridge  ·  Learn More Technologies  ·  Always free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A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E2752E"/>
                </a:solidFill>
                <a:latin typeface="Arial"/>
              </a:rPr>
              <a:t>FRIDGE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1">
                <a:solidFill>
                  <a:srgbClr val="083655"/>
                </a:solidFill>
                <a:latin typeface="Arial"/>
              </a:rPr>
              <a:t>You are not too late.</a:t>
            </a:r>
          </a:p>
          <a:p>
            <a:pPr algn="ctr">
              <a:spcAft>
                <a:spcPts val="800"/>
              </a:spcAft>
            </a:pPr>
            <a:r>
              <a:rPr sz="3200" b="0">
                <a:solidFill>
                  <a:srgbClr val="4A5568"/>
                </a:solidFill>
                <a:latin typeface="Arial"/>
              </a:rPr>
              <a:t>You just needed the right teacher.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4A5568"/>
                </a:solidFill>
                <a:latin typeface="Arial"/>
              </a:rPr>
              <a:t>50+ TechBridge  ·  Free Lessons  ·  Always 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4A5568"/>
                </a:solidFill>
                <a:latin typeface="Arial"/>
              </a:rPr>
              <a:t>6  / 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B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A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You are not starting from zero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8DFF0"/>
                </a:solidFill>
                <a:latin typeface="Arial"/>
              </a:rPr>
              <a:t>AARP research, adults 50+  ·  Say the source on screen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611880" cy="3291840"/>
          </a:xfrm>
          <a:prstGeom prst="rect">
            <a:avLst/>
          </a:prstGeom>
          <a:solidFill>
            <a:srgbClr val="2B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4800" b="1">
                <a:solidFill>
                  <a:srgbClr val="E2752E"/>
                </a:solidFill>
                <a:latin typeface="Arial"/>
              </a:rPr>
              <a:t>90%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6616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own a smartphone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828800"/>
            <a:ext cx="3611880" cy="3291840"/>
          </a:xfrm>
          <a:prstGeom prst="rect">
            <a:avLst/>
          </a:prstGeom>
          <a:solidFill>
            <a:srgbClr val="2B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103120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4800" b="1">
                <a:solidFill>
                  <a:srgbClr val="E2752E"/>
                </a:solidFill>
                <a:latin typeface="Arial"/>
              </a:rPr>
              <a:t>30%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56616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have used generative AI (up from 18% last year)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828800"/>
            <a:ext cx="3611880" cy="3291840"/>
          </a:xfrm>
          <a:prstGeom prst="rect">
            <a:avLst/>
          </a:prstGeom>
          <a:solidFill>
            <a:srgbClr val="2B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103120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4800" b="1">
                <a:solidFill>
                  <a:srgbClr val="E2752E"/>
                </a:solidFill>
                <a:latin typeface="Arial"/>
              </a:rPr>
              <a:t>8 in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56616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have used some form of AI already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C8DFF0"/>
                </a:solidFill>
                <a:latin typeface="Arial"/>
              </a:rPr>
              <a:t>50+ TechBridge  ·  Free Lessons  ·  Always free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65105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C8DFF0"/>
                </a:solidFill>
                <a:latin typeface="Arial"/>
              </a:rPr>
              <a:t>4  / 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A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083655"/>
                </a:solidFill>
                <a:latin typeface="Arial"/>
              </a:rPr>
              <a:t>The map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4A5568"/>
                </a:solidFill>
                <a:latin typeface="Arial"/>
              </a:rPr>
              <a:t>Three lessons. One job each. Belong  →  Do  →  Protect.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611880" cy="4114800"/>
          </a:xfrm>
          <a:prstGeom prst="rect">
            <a:avLst/>
          </a:prstGeom>
          <a:solidFill>
            <a:srgbClr val="E2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  Welcome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3154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You belong here.
You are not too late.
Write one real question.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554480"/>
            <a:ext cx="3611880" cy="4114800"/>
          </a:xfrm>
          <a:prstGeom prst="rect">
            <a:avLst/>
          </a:prstGeom>
          <a:solidFill>
            <a:srgbClr val="00A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8308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  Talk to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834640"/>
            <a:ext cx="3154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One tool.
One real question.
One useful answer.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554480"/>
            <a:ext cx="3611880" cy="4114800"/>
          </a:xfrm>
          <a:prstGeom prst="rect">
            <a:avLst/>
          </a:prstGeom>
          <a:solidFill>
            <a:srgbClr val="08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78308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  Don't get scammed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34640"/>
            <a:ext cx="3154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Spot a fake.
Name the pressure.
Lock passwords and 2FA.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4A5568"/>
                </a:solidFill>
                <a:latin typeface="Arial"/>
              </a:rPr>
              <a:t>50+ TechBridge  ·  Free Lessons  ·  Always free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65105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4A5568"/>
                </a:solidFill>
                <a:latin typeface="Arial"/>
              </a:rPr>
              <a:t>2  / 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A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83655"/>
                </a:solidFill>
                <a:latin typeface="Arial"/>
              </a:rPr>
              <a:t>Before anyone types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4A5568"/>
                </a:solidFill>
                <a:latin typeface="Arial"/>
              </a:rPr>
              <a:t>Put this on screen. Do not skip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064240" cy="96012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146304" cy="960120"/>
          </a:xfrm>
          <a:prstGeom prst="rect">
            <a:avLst/>
          </a:prstGeom>
          <a:solidFill>
            <a:srgbClr val="E2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083655"/>
                </a:solidFill>
                <a:latin typeface="Arial"/>
              </a:rPr>
              <a:t>Social Security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162763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2752E"/>
                </a:solidFill>
                <a:latin typeface="Arial"/>
              </a:rPr>
              <a:t>Never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23160"/>
            <a:ext cx="11064240" cy="96012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423160"/>
            <a:ext cx="146304" cy="960120"/>
          </a:xfrm>
          <a:prstGeom prst="rect">
            <a:avLst/>
          </a:prstGeom>
          <a:solidFill>
            <a:srgbClr val="E2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2432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083655"/>
                </a:solidFill>
                <a:latin typeface="Arial"/>
              </a:rPr>
              <a:t>Bank, card, Medicare numbers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267919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2752E"/>
                </a:solidFill>
                <a:latin typeface="Arial"/>
              </a:rPr>
              <a:t>Never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74720"/>
            <a:ext cx="11064240" cy="96012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474720"/>
            <a:ext cx="146304" cy="960120"/>
          </a:xfrm>
          <a:prstGeom prst="rect">
            <a:avLst/>
          </a:prstGeom>
          <a:solidFill>
            <a:srgbClr val="E2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7588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083655"/>
                </a:solidFill>
                <a:latin typeface="Arial"/>
              </a:rPr>
              <a:t>Passwords or phone codes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373075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2752E"/>
                </a:solidFill>
                <a:latin typeface="Arial"/>
              </a:rPr>
              <a:t>Never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26280"/>
            <a:ext cx="11064240" cy="96012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526280"/>
            <a:ext cx="146304" cy="960120"/>
          </a:xfrm>
          <a:prstGeom prst="rect">
            <a:avLst/>
          </a:prstGeom>
          <a:solidFill>
            <a:srgbClr val="E2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72744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083655"/>
                </a:solidFill>
                <a:latin typeface="Arial"/>
              </a:rPr>
              <a:t>Someone else's private business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478231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2752E"/>
                </a:solidFill>
                <a:latin typeface="Arial"/>
              </a:rPr>
              <a:t>Never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4A5568"/>
                </a:solidFill>
                <a:latin typeface="Arial"/>
              </a:rPr>
              <a:t>50+ TechBridge  ·  Free Lessons  ·  Always free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65105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4A5568"/>
                </a:solidFill>
                <a:latin typeface="Arial"/>
              </a:rPr>
              <a:t>9  / 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A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83655"/>
                </a:solidFill>
                <a:latin typeface="Arial"/>
              </a:rPr>
              <a:t>Do this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1024128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46304" cy="1024128"/>
          </a:xfrm>
          <a:prstGeom prst="rect">
            <a:avLst/>
          </a:prstGeom>
          <a:solidFill>
            <a:srgbClr val="E2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252728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2752E"/>
                </a:solidFill>
                <a:latin typeface="Arial"/>
              </a:rPr>
              <a:t>Lesson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399032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083655"/>
                </a:solidFill>
                <a:latin typeface="Arial"/>
              </a:rPr>
              <a:t>Write one real question on a sticky note.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11064240" cy="1024128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146304" cy="1024128"/>
          </a:xfrm>
          <a:prstGeom prst="rect">
            <a:avLst/>
          </a:prstGeom>
          <a:solidFill>
            <a:srgbClr val="00A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395728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2752E"/>
                </a:solidFill>
                <a:latin typeface="Arial"/>
              </a:rPr>
              <a:t>Lesson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542032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083655"/>
                </a:solidFill>
                <a:latin typeface="Arial"/>
              </a:rPr>
              <a:t>Ask it in one tool. Screenshot the useful answer.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29000"/>
            <a:ext cx="11064240" cy="1024128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429000"/>
            <a:ext cx="146304" cy="1024128"/>
          </a:xfrm>
          <a:prstGeom prst="rect">
            <a:avLst/>
          </a:prstGeom>
          <a:solidFill>
            <a:srgbClr val="E2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538728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2752E"/>
                </a:solidFill>
                <a:latin typeface="Arial"/>
              </a:rPr>
              <a:t>Lesson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685032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083655"/>
                </a:solidFill>
                <a:latin typeface="Arial"/>
              </a:rPr>
              <a:t>Turn on 2FA on email. Set a family code word.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72000"/>
            <a:ext cx="11064240" cy="1024128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572000"/>
            <a:ext cx="146304" cy="1024128"/>
          </a:xfrm>
          <a:prstGeom prst="rect">
            <a:avLst/>
          </a:prstGeom>
          <a:solidFill>
            <a:srgbClr val="00A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681728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2752E"/>
                </a:solidFill>
                <a:latin typeface="Arial"/>
              </a:rPr>
              <a:t>Always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828032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083655"/>
                </a:solidFill>
                <a:latin typeface="Arial"/>
              </a:rPr>
              <a:t>Hang up. Look up. Call back.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4A5568"/>
                </a:solidFill>
                <a:latin typeface="Arial"/>
              </a:rPr>
              <a:t>50+ TechBridge  ·  Free Lessons  ·  Always free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65105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4A5568"/>
                </a:solidFill>
                <a:latin typeface="Arial"/>
              </a:rPr>
              <a:t>21  / 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B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A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2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0">
                <a:solidFill>
                  <a:srgbClr val="C8DFF0"/>
                </a:solidFill>
                <a:latin typeface="Arial"/>
              </a:rPr>
              <a:t>Digital independence is not a privilege.</a:t>
            </a:r>
          </a:p>
          <a:p>
            <a:pPr algn="l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It is your right.</a:t>
            </a:r>
          </a:p>
          <a:p>
            <a:pPr algn="l">
              <a:spcAft>
                <a:spcPts val="800"/>
              </a:spcAft>
            </a:pPr>
            <a:r>
              <a:rPr sz="2800" b="1">
                <a:solidFill>
                  <a:srgbClr val="E2752E"/>
                </a:solidFill>
                <a:latin typeface="Arial"/>
              </a:rPr>
              <a:t>You're not too late.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00A3DC"/>
                </a:solidFill>
                <a:latin typeface="Arial"/>
              </a:rPr>
              <a:t>learnmoretechnologies.com/start-free-lesson/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8DFF0"/>
                </a:solidFill>
                <a:latin typeface="Arial"/>
              </a:rPr>
              <a:t>hello@learnmoretechnologies.com  ·  reportfraud.ftc.gov  ·  ic3.gov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C8DFF0"/>
                </a:solidFill>
                <a:latin typeface="Arial"/>
              </a:rPr>
              <a:t>50+ TechBridge  ·  Free Lessons  ·  Always 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105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C8DFF0"/>
                </a:solidFill>
                <a:latin typeface="Arial"/>
              </a:rPr>
              <a:t>22  / 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