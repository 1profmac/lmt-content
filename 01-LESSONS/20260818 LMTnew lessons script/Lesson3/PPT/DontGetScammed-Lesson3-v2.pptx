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DA011850-F279-40E8-83A9-DA811E9E9163}">
          <ns0:sldIdLst>
            <ns0:sldId id="256"/>
            <ns0:sldId id="257"/>
            <ns0:sldId id="258"/>
          </ns0:sldIdLst>
        </ns0:section>
        <ns0:section name="Skill 1: Spot a Fake" id="{3E9B42CA-0984-4373-AD7E-FFB666EB6783}">
          <ns0:sldIdLst>
            <ns0:sldId id="259"/>
            <ns0:sldId id="260"/>
            <ns0:sldId id="261"/>
          </ns0:sldIdLst>
        </ns0:section>
        <ns0:section name="Skill 2: Name the Pressure" id="{1E8E9B33-2381-467B-B6F9-84B4CEBE3250}">
          <ns0:sldIdLst>
            <ns0:sldId id="262"/>
            <ns0:sldId id="263"/>
            <ns0:sldId id="264"/>
          </ns0:sldIdLst>
        </ns0:section>
        <ns0:section name="The New Costume" id="{96B58327-05A4-472E-AA37-404F1F35A106}">
          <ns0:sldIdLst>
            <ns0:sldId id="265"/>
          </ns0:sldIdLst>
        </ns0:section>
        <ns0:section name="Skill 3: Passwords &amp; the Lock" id="{2116240B-C9C6-4F45-8D79-F19908CB46ED}">
          <ns0:sldIdLst>
            <ns0:sldId id="266"/>
            <ns0:sldId id="267"/>
            <ns0:sldId id="268"/>
          </ns0:sldIdLst>
        </ns0:section>
        <ns0:section name="If It Already Happened" id="{BB26CE77-3CC4-434E-9C5B-671DE93FDFA7}">
          <ns0:sldIdLst>
            <ns0:sldId id="269"/>
          </ns0:sldIdLst>
        </ns0:section>
        <ns0:section name="Homework &amp; Closing" id="{6D07654D-7D01-48F2-8130-CC6C87A17ED1}">
          <ns0:sldIdLst>
            <ns0:sldId id="270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42E"/>
                </a:solidFill>
                <a:latin typeface="Calibri"/>
              </a:rPr>
              <a:t>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Don't Get Scammed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8942E"/>
                </a:solidFill>
                <a:latin typeface="Calibri"/>
              </a:rPr>
              <a:t>Three skills that keep you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8CDD6"/>
                </a:solidFill>
                <a:latin typeface="Calibri"/>
              </a:rPr>
              <a:t>Frightened people send money.  Clear people hang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DD6"/>
                </a:solidFill>
                <a:latin typeface="Calibri"/>
              </a:rPr>
              <a:t>Brian McKinney  ·  50+TechBridge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You are not the punchline.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280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4CB88A"/>
                </a:solidFill>
                <a:latin typeface="Calibri"/>
              </a:rPr>
              <a:t>3 in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3375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B88A"/>
                </a:solidFill>
                <a:latin typeface="Calibri"/>
              </a:rPr>
              <a:t>older adults who reported a scam
lost NO money. They spotted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Calibri"/>
              </a:rPr>
              <a:t>FTC: $2.4 billion lost by adults 60+</a:t>
            </a:r>
          </a:p>
          <a:p>
            <a:pPr algn="l"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Calibri"/>
              </a:rPr>
              <a:t>FBI: Nearly $5 billion lost by over-60s</a:t>
            </a:r>
          </a:p>
          <a:p>
            <a:pPr algn="l">
              <a:spcBef>
                <a:spcPts val="1600"/>
              </a:spcBef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C8CDD6"/>
                </a:solidFill>
                <a:latin typeface="Calibri"/>
              </a:rPr>
              <a:t>Those numbers are ugly.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C8CDD6"/>
                </a:solidFill>
                <a:latin typeface="Calibri"/>
              </a:rPr>
              <a:t>They are not a verdict</a:t>
            </a:r>
          </a:p>
          <a:p>
            <a:pPr algn="l">
              <a:spcBef>
                <a:spcPts val="1600"/>
              </a:spcBef>
            </a:pPr>
            <a:r>
              <a:rPr sz="2600" b="1">
                <a:solidFill>
                  <a:srgbClr val="C8942E"/>
                </a:solidFill>
                <a:latin typeface="Calibri"/>
              </a:rPr>
              <a:t>on your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38100" cy="466344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Three skills. That is the whole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4400" b="1">
                <a:solidFill>
                  <a:srgbClr val="C8942E"/>
                </a:solidFill>
                <a:latin typeface="Calibri"/>
              </a:rPr>
              <a:t>1.  Spot a Fake</a:t>
            </a:r>
          </a:p>
          <a:p>
            <a:pPr algn="l">
              <a:spcBef>
                <a:spcPts val="1600"/>
              </a:spcBef>
            </a:pPr>
            <a:r>
              <a:rPr sz="4400" b="1">
                <a:solidFill>
                  <a:srgbClr val="C8942E"/>
                </a:solidFill>
                <a:latin typeface="Calibri"/>
              </a:rPr>
              <a:t>2.  Name the Pressure</a:t>
            </a:r>
          </a:p>
          <a:p>
            <a:pPr algn="l">
              <a:spcBef>
                <a:spcPts val="1600"/>
              </a:spcBef>
            </a:pPr>
            <a:r>
              <a:rPr sz="4400" b="1">
                <a:solidFill>
                  <a:srgbClr val="C8942E"/>
                </a:solidFill>
                <a:latin typeface="Calibri"/>
              </a:rPr>
              <a:t>3.  Passwords &amp; the Second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Spot a Fake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Four things to check in every message or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Calibri"/>
              </a:rPr>
              <a:t>THE SENDER  —  Does the email address really match the company?</a:t>
            </a:r>
          </a:p>
          <a:p>
            <a:pPr algn="l"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Calibri"/>
              </a:rPr>
              <a:t>THE GREETING  —  'Dear Customer' from your own bank? That's a tell.</a:t>
            </a:r>
          </a:p>
          <a:p>
            <a:pPr algn="l">
              <a:spcBef>
                <a:spcPts val="1600"/>
              </a:spcBef>
            </a:pPr>
            <a:r>
              <a:rPr sz="2800" b="0">
                <a:solidFill>
                  <a:srgbClr val="FFFFFF"/>
                </a:solidFill>
                <a:latin typeface="Calibri"/>
              </a:rPr>
              <a:t>THE ASK  —  A link? A QR code? A code that just arrived on your phone?</a:t>
            </a:r>
          </a:p>
          <a:p>
            <a:pPr algn="l">
              <a:spcBef>
                <a:spcPts val="1600"/>
              </a:spcBef>
            </a:pPr>
            <a:r>
              <a:rPr sz="2800" b="1">
                <a:solidFill>
                  <a:srgbClr val="C8942E"/>
                </a:solidFill>
                <a:latin typeface="Calibri"/>
              </a:rPr>
              <a:t>THE SURPRISE  —  Did YOU start this conversation?</a:t>
            </a:r>
          </a:p>
          <a:p>
            <a:pPr algn="l">
              <a:spcBef>
                <a:spcPts val="1600"/>
              </a:spcBef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E85D4C"/>
                </a:solidFill>
                <a:latin typeface="Calibri"/>
              </a:rPr>
              <a:t>'No typos' is dead as a safety test. AI fixed the spelling.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Real agencies vs. the costume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Social Security does NOT suspend your number.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The IRS does NOT demand gift cards.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The FTC will NEVER send you to a Bitcoin ATM.</a:t>
            </a:r>
          </a:p>
          <a:p>
            <a:pPr algn="l">
              <a:spcBef>
                <a:spcPts val="1600"/>
              </a:spcBef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C8CDD6"/>
                </a:solidFill>
                <a:latin typeface="Calibri"/>
              </a:rPr>
              <a:t>Treat every caller as a costume until</a:t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C8942E"/>
                </a:solidFill>
                <a:latin typeface="Calibri"/>
              </a:rPr>
              <a:t>YOU started the call on a number you had.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38100" cy="466344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  <a:latin typeface="Calibri"/>
              </a:rPr>
              <a:t>How to check: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1.  Hang up.
2.  Look up the number on your card
     or the real website you type yourself.
3.  Call THAT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D4C"/>
                </a:solidFill>
                <a:latin typeface="Calibri"/>
              </a:rPr>
              <a:t>Never call the number in the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Name the Pressure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The four levers. Say them out 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3200" b="1">
                <a:solidFill>
                  <a:srgbClr val="E85D4C"/>
                </a:solidFill>
                <a:latin typeface="Calibri"/>
              </a:rPr>
              <a:t>HURRY      'You have 20 minutes or there is a warrant.'</a:t>
            </a:r>
          </a:p>
          <a:p>
            <a:pPr algn="l">
              <a:spcBef>
                <a:spcPts val="1600"/>
              </a:spcBef>
            </a:pPr>
            <a:r>
              <a:rPr sz="3200" b="1">
                <a:solidFill>
                  <a:srgbClr val="E85D4C"/>
                </a:solidFill>
                <a:latin typeface="Calibri"/>
              </a:rPr>
              <a:t>FEAR        Arrest. Virus. Stolen identity they will fix.</a:t>
            </a:r>
          </a:p>
          <a:p>
            <a:pPr algn="l">
              <a:spcBef>
                <a:spcPts val="1600"/>
              </a:spcBef>
            </a:pPr>
            <a:r>
              <a:rPr sz="3200" b="1">
                <a:solidFill>
                  <a:srgbClr val="E85D4C"/>
                </a:solidFill>
                <a:latin typeface="Calibri"/>
              </a:rPr>
              <a:t>SECRECY    'Don't tell your wife. She would worry.'</a:t>
            </a:r>
          </a:p>
          <a:p>
            <a:pPr algn="l">
              <a:spcBef>
                <a:spcPts val="1600"/>
              </a:spcBef>
            </a:pPr>
            <a:r>
              <a:rPr sz="3200" b="1">
                <a:solidFill>
                  <a:srgbClr val="E85D4C"/>
                </a:solidFill>
                <a:latin typeface="Calibri"/>
              </a:rPr>
              <a:t>AUTHORITY  Caller ID that says IRS. Caller ID is a costume.</a:t>
            </a:r>
          </a:p>
          <a:p>
            <a:pPr algn="l">
              <a:spcBef>
                <a:spcPts val="16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</a:pPr>
            <a:r>
              <a:rPr sz="2800" b="1">
                <a:solidFill>
                  <a:srgbClr val="C8942E"/>
                </a:solidFill>
                <a:latin typeface="Calibri"/>
              </a:rPr>
              <a:t>If you are not allowed to think, it is not a real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5D4C"/>
                </a:solidFill>
                <a:latin typeface="Calibri"/>
              </a:rPr>
              <a:t>Never move money to protect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CDD6"/>
                </a:solidFill>
                <a:latin typeface="Calibri"/>
              </a:rPr>
              <a:t>That money is not going into a vault. It is going to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566160" cy="1234440"/>
          </a:xfrm>
          <a:prstGeom prst="rect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64592" cy="1234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420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Gift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286000"/>
            <a:ext cx="3566160" cy="1234440"/>
          </a:xfrm>
          <a:prstGeom prst="rect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286000"/>
            <a:ext cx="164592" cy="1234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5420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Wire transfers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566160" cy="1234440"/>
          </a:xfrm>
          <a:prstGeom prst="rect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164592" cy="1234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420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Crypto ATM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566160" cy="1234440"/>
          </a:xfrm>
          <a:prstGeom prst="rect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64592" cy="1234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1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Courier at door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749039"/>
            <a:ext cx="3566160" cy="1234440"/>
          </a:xfrm>
          <a:prstGeom prst="rect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749039"/>
            <a:ext cx="164592" cy="1234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1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Remote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8942E"/>
                </a:solidFill>
                <a:latin typeface="Calibri"/>
              </a:rPr>
              <a:t>No legitimate process needs a Walmart gift 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The new costume — a voice you 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5D4C"/>
                </a:solidFill>
                <a:latin typeface="Calibri"/>
              </a:rPr>
              <a:t>A familiar voice is no longer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DD6"/>
                </a:solidFill>
                <a:latin typeface="Calibri"/>
              </a:rPr>
              <a:t>AI can clone a voice from a few seconds of audio.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7295" cy="2606040"/>
          </a:xfrm>
          <a:prstGeom prst="rect">
            <a:avLst/>
          </a:prstGeom>
          <a:solidFill>
            <a:srgbClr val="16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77295" cy="38100"/>
          </a:xfrm>
          <a:prstGeom prst="rect">
            <a:avLst/>
          </a:prstGeom>
          <a:solidFill>
            <a:srgbClr val="4C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440680"/>
            <a:ext cx="11277295" cy="38100"/>
          </a:xfrm>
          <a:prstGeom prst="rect">
            <a:avLst/>
          </a:prstGeom>
          <a:solidFill>
            <a:srgbClr val="4C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44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  <a:latin typeface="Calibri"/>
              </a:rPr>
              <a:t>21st-century trick.  20th-century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CB88A"/>
                </a:solidFill>
                <a:latin typeface="Calibri"/>
              </a:rPr>
              <a:t>Pick a family code 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Use it when money or panic shows up.  If they don't know it — hang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Passwords &amp; the Second 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New password rules (NIST) + two honest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The 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15+ characters — longer is stronger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Use a phrase, not a scrambled mess</a:t>
            </a:r>
          </a:p>
          <a:p>
            <a:pPr algn="l">
              <a:spcBef>
                <a:spcPts val="1600"/>
              </a:spcBef>
            </a:pPr>
            <a:r>
              <a:rPr sz="2600" b="1">
                <a:solidFill>
                  <a:srgbClr val="4CB88A"/>
                </a:solidFill>
                <a:latin typeface="Calibri"/>
              </a:rPr>
              <a:t>  maple-porch-radio-Thursday</a:t>
            </a:r>
          </a:p>
          <a:p>
            <a:pPr algn="l">
              <a:spcBef>
                <a:spcPts val="1600"/>
              </a:spcBef>
            </a:pPr>
            <a:r>
              <a:rPr sz="2600" b="1">
                <a:solidFill>
                  <a:srgbClr val="C8942E"/>
                </a:solidFill>
                <a:latin typeface="Calibri"/>
              </a:rPr>
              <a:t>Your email password must be unique</a:t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C8CDD6"/>
                </a:solidFill>
                <a:latin typeface="Calibri"/>
              </a:rPr>
              <a:t>  Email is the skeleton key.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38100" cy="466344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If you can't remember them all: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OPTION 1
Password manager app
(someone sits with you once to set it up)
OPTION 2
Small notebook in a drawer or lockbox
— NOT on the monitor
— A hidden notebook beats one reused password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Turn on the second lock — and never read the code aloud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700" b="0">
                <a:solidFill>
                  <a:srgbClr val="FFFFFF"/>
                </a:solidFill>
                <a:latin typeface="Calibri"/>
              </a:rPr>
              <a:t>Two-factor = password + code sent to your phone</a:t>
            </a:r>
          </a:p>
          <a:p>
            <a:pPr algn="l">
              <a:spcBef>
                <a:spcPts val="1600"/>
              </a:spcBef>
            </a:pPr>
            <a:r>
              <a:rPr sz="2700" b="1">
                <a:solidFill>
                  <a:srgbClr val="C8942E"/>
                </a:solidFill>
                <a:latin typeface="Calibri"/>
              </a:rPr>
              <a:t>Settings  →  Security  →  Two-factor / 2-step</a:t>
            </a:r>
          </a:p>
          <a:p>
            <a:pPr algn="l">
              <a:spcBef>
                <a:spcPts val="1600"/>
              </a:spcBef>
            </a:pPr>
            <a:r>
              <a:rPr sz="2700" b="1">
                <a:solidFill>
                  <a:srgbClr val="4CB88A"/>
                </a:solidFill>
                <a:latin typeface="Calibri"/>
              </a:rPr>
              <a:t>Turn it on for EMAIL first, then the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38100" cy="466344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5D4C"/>
                </a:solidFill>
                <a:latin typeface="Calibri"/>
              </a:rPr>
              <a:t>Never read a code
to anyone.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The code is a second key.
Anyone who asks you to read it
is a scammer —
even if they know your name.
You TYPE it. Never speak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If it already happened — this is not a moral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3400" b="1">
                <a:solidFill>
                  <a:srgbClr val="C8942E"/>
                </a:solidFill>
                <a:latin typeface="Calibri"/>
              </a:rPr>
              <a:t>1.  Stop sending money.</a:t>
            </a:r>
          </a:p>
          <a:p>
            <a:pPr algn="l">
              <a:spcBef>
                <a:spcPts val="1600"/>
              </a:spcBef>
            </a:pPr>
            <a:r>
              <a:rPr sz="3400" b="0">
                <a:solidFill>
                  <a:srgbClr val="FFFFFF"/>
                </a:solidFill>
                <a:latin typeface="Calibri"/>
              </a:rPr>
              <a:t>2.  Call the bank — the number ON the card.</a:t>
            </a:r>
          </a:p>
          <a:p>
            <a:pPr algn="l">
              <a:spcBef>
                <a:spcPts val="1600"/>
              </a:spcBef>
            </a:pPr>
            <a:r>
              <a:rPr sz="3400" b="0">
                <a:solidFill>
                  <a:srgbClr val="FFFFFF"/>
                </a:solidFill>
                <a:latin typeface="Calibri"/>
              </a:rPr>
              <a:t>3.  Change your email password. Turn on two-factor.</a:t>
            </a:r>
          </a:p>
          <a:p>
            <a:pPr algn="l">
              <a:spcBef>
                <a:spcPts val="1600"/>
              </a:spcBef>
            </a:pPr>
            <a:r>
              <a:rPr sz="3400" b="1">
                <a:solidFill>
                  <a:srgbClr val="C8942E"/>
                </a:solidFill>
                <a:latin typeface="Calibri"/>
              </a:rPr>
              <a:t>4.  Report it:  ReportFraud.ftc.gov  and  ic3.gov</a:t>
            </a:r>
          </a:p>
          <a:p>
            <a:pPr algn="l">
              <a:spcBef>
                <a:spcPts val="1600"/>
              </a:spcBef>
            </a:pPr>
            <a:r>
              <a:rPr sz="3400" b="0">
                <a:solidFill>
                  <a:srgbClr val="FFFFFF"/>
                </a:solidFill>
                <a:latin typeface="Calibri"/>
              </a:rPr>
              <a:t>5.  Tell one trusted person.</a:t>
            </a:r>
          </a:p>
          <a:p>
            <a:pPr algn="l">
              <a:spcBef>
                <a:spcPts val="16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E85D4C"/>
                </a:solidFill>
                <a:latin typeface="Calibri"/>
              </a:rPr>
              <a:t>Speed matters. Silence is a guarantee of no chance.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LESSON 3  ·  50+TechBridge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9377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45936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8942E"/>
                </a:solidFill>
                <a:latin typeface="Calibri"/>
              </a:rPr>
              <a:t>Your homework — twenty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7295" cy="1508760"/>
          </a:xfrm>
          <a:prstGeom prst="rect">
            <a:avLst/>
          </a:prstGeom>
          <a:solidFill>
            <a:srgbClr val="16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77295" cy="3810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835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8942E"/>
                </a:solidFill>
                <a:latin typeface="Calibri"/>
              </a:rPr>
              <a:t>UNEXPECTED + HURRY + MONEY OR A CODE  =  HANG UP AND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1.  Put the fridge line above on the fridge.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2.  Send the family code word to the people who matter.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3.  Turn on email two-factor. Then the bank.</a:t>
            </a:r>
          </a:p>
          <a:p>
            <a:pPr algn="l">
              <a:spcBef>
                <a:spcPts val="16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4.  Make your email password unique and long.</a:t>
            </a:r>
          </a:p>
          <a:p>
            <a:pPr algn="l">
              <a:spcBef>
                <a:spcPts val="1600"/>
              </a:spcBef>
            </a:pPr>
            <a:r>
              <a:rPr sz="2600" b="1">
                <a:solidFill>
                  <a:srgbClr val="E85D4C"/>
                </a:solidFill>
                <a:latin typeface="Calibri"/>
              </a:rPr>
              <a:t>5.  If a scam happened — file both reports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DD6"/>
                </a:solidFill>
                <a:latin typeface="Calibri"/>
              </a:rPr>
              <a:t>Hang up.  Look up.  Call back.   —   Brian McKinney  ·  50+TechBridge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