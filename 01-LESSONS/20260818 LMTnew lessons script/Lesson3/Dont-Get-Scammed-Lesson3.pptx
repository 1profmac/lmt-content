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7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942E"/>
                </a:solidFill>
                <a:latin typeface="DM Sans"/>
              </a:rPr>
              <a:t>LESSON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DM Sans"/>
              </a:rPr>
              <a:t>Don't Get Scammed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CD6E0"/>
                </a:solidFill>
                <a:latin typeface="DM Sans"/>
              </a:rPr>
              <a:t>3 Skills That Keep Scammers Away From Your Money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931920"/>
            <a:ext cx="11091672" cy="36576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942E"/>
                </a:solidFill>
                <a:latin typeface="DM Sans"/>
              </a:rPr>
              <a:t>50+TechBridge  ·  Brian McKinney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DM Sans"/>
              </a:rPr>
              <a:t>learnmoretechnologies.com/start-free-lessons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DM Sans"/>
              </a:rPr>
              <a:t>You already did the brave part.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D6E0"/>
                </a:solidFill>
                <a:latin typeface="DM Sans"/>
              </a:rPr>
              <a:t>You asked a machine a real question. You stayed in charge of the answer.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1091672" cy="36576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DM Sans"/>
              </a:rPr>
              <a:t>This lesson is how you stay in charge when a stranger wants your fear.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49039"/>
            <a:ext cx="11247120" cy="14630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8404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8942E"/>
                </a:solidFill>
                <a:latin typeface="DM Sans"/>
              </a:rPr>
              <a:t>"Frightened people send money.  Clear people hang up."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7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6E0"/>
                </a:solidFill>
                <a:latin typeface="DM Sans"/>
              </a:rPr>
              <a:t>Three skills.  That is the whole class.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8942E"/>
                </a:solidFill>
                <a:latin typeface="DM Sans"/>
              </a:rPr>
              <a:t>50+TechBridge · Lesson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942E"/>
                </a:solidFill>
                <a:latin typeface="DM Sans"/>
              </a:rPr>
              <a:t>THE REAL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DM Sans"/>
              </a:rPr>
              <a:t>You are not the punchline.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36576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486400" cy="16459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8942E"/>
                </a:solidFill>
                <a:latin typeface="DM Sans"/>
              </a:rPr>
              <a:t>$2.4 Billion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DM Sans"/>
              </a:rPr>
              <a:t>reported to FTC by adults 60+  (2024)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486400" cy="16459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8942E"/>
                </a:solidFill>
                <a:latin typeface="DM Sans"/>
              </a:rPr>
              <a:t>~$5 Billion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517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DM Sans"/>
              </a:rPr>
              <a:t>reported to FBI Internet Crime Center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11247120" cy="1554480"/>
          </a:xfrm>
          <a:prstGeom prst="rect">
            <a:avLst/>
          </a:prstGeom>
          <a:solidFill>
            <a:srgbClr val="07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49039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CD6E0"/>
                </a:solidFill>
                <a:latin typeface="DM Sans"/>
              </a:rPr>
              <a:t>The line almost nobody reads out loud: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51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DM Sans"/>
              </a:rPr>
              <a:t>3 in 4 older adults who reported a scam lost NO money.  They spotted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8942E"/>
                </a:solidFill>
                <a:latin typeface="DM Sans"/>
              </a:rPr>
              <a:t>50+TechBridge · Lesson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8942E"/>
                </a:solidFill>
                <a:latin typeface="DM Sans"/>
              </a:rPr>
              <a:t>SKILL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DM Sans"/>
              </a:rPr>
              <a:t>Spot a Fake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11091672" cy="36576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CCD6E0"/>
                </a:solidFill>
                <a:latin typeface="DM Sans"/>
              </a:rPr>
              <a:t>Look at the costume, not the logo.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D6E0"/>
                </a:solidFill>
                <a:latin typeface="DM Sans"/>
              </a:rPr>
              <a:t>A fake wants you to believe the costume.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8942E"/>
                </a:solidFill>
                <a:latin typeface="DM Sans"/>
              </a:rPr>
              <a:t>50+TechBridge · Lesson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942E"/>
                </a:solidFill>
                <a:latin typeface="DM Sans"/>
              </a:rPr>
              <a:t>SKILL 1  ·  SPOT A FAKE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DM Sans"/>
              </a:rPr>
              <a:t>Four things to check — every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1091672" cy="36576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73152" cy="50292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190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942E"/>
                </a:solidFill>
                <a:latin typeface="DM Sans"/>
              </a:rPr>
              <a:t>THE SENDER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574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DM Sans"/>
              </a:rPr>
              <a:t>Would Amazon write from  email-secure-alert.com?  Hover and look.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07792"/>
            <a:ext cx="73152" cy="50292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8895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942E"/>
                </a:solidFill>
                <a:latin typeface="DM Sans"/>
              </a:rPr>
              <a:t>THE GREETING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278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DM Sans"/>
              </a:rPr>
              <a:t>"Dear Customer" from a bank that knows your name is a tell.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78224"/>
            <a:ext cx="73152" cy="50292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05993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942E"/>
                </a:solidFill>
                <a:latin typeface="DM Sans"/>
              </a:rPr>
              <a:t>THE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39826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DM Sans"/>
              </a:rPr>
              <a:t>A link. A phone number. A QR code. A download. A code they want you to read.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248656"/>
            <a:ext cx="73152" cy="50292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2303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942E"/>
                </a:solidFill>
                <a:latin typeface="DM Sans"/>
              </a:rPr>
              <a:t>THE SURPRISE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568696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DM Sans"/>
              </a:rPr>
              <a:t>You did not start this conversation. That matters more than the grammar.
AI fixed the spelling. 'No typos' is no longer your safety test.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8942E"/>
                </a:solidFill>
                <a:latin typeface="DM Sans"/>
              </a:rPr>
              <a:t>50+TechBridge · Lesson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942E"/>
                </a:solidFill>
                <a:latin typeface="DM Sans"/>
              </a:rPr>
              <a:t>SKILL 1  ·  COMMON COSTUMES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DM Sans"/>
              </a:rPr>
              <a:t>Treat these as a costume until YOU started the call.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1091672" cy="36576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120640" cy="7772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DM Sans"/>
              </a:rPr>
              <a:t>Your Bank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828800"/>
            <a:ext cx="5120640" cy="7772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1965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DM Sans"/>
              </a:rPr>
              <a:t>Medicare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5120640" cy="7772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971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DM Sans"/>
              </a:rPr>
              <a:t>Amazon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2834640"/>
            <a:ext cx="5120640" cy="7772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2971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DM Sans"/>
              </a:rPr>
              <a:t>Microsoft / Apple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120640" cy="7772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77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DM Sans"/>
              </a:rPr>
              <a:t>IRS or Social Security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3840480"/>
            <a:ext cx="5120640" cy="7772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3977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DM Sans"/>
              </a:rPr>
              <a:t>A Sheriff or Police Department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46320"/>
            <a:ext cx="5120640" cy="7772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9834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DM Sans"/>
              </a:rPr>
              <a:t>A Grandchild in Trouble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4846320"/>
            <a:ext cx="5120640" cy="7772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49834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DM Sans"/>
              </a:rPr>
              <a:t>Tech Support That Called You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806440"/>
            <a:ext cx="11247120" cy="685800"/>
          </a:xfrm>
          <a:prstGeom prst="rect">
            <a:avLst/>
          </a:prstGeom>
          <a:solidFill>
            <a:srgbClr val="07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8942E"/>
                </a:solidFill>
                <a:latin typeface="DM Sans"/>
              </a:rPr>
              <a:t>Hang up.  Look up the real number.  Call that number — not the one in the text.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8942E"/>
                </a:solidFill>
                <a:latin typeface="DM Sans"/>
              </a:rPr>
              <a:t>50+TechBridge · Lesson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8942E"/>
                </a:solidFill>
                <a:latin typeface="DM Sans"/>
              </a:rPr>
              <a:t>SKILL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DM Sans"/>
              </a:rPr>
              <a:t>Name the Pressure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11091672" cy="36576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CCD6E0"/>
                </a:solidFill>
                <a:latin typeface="DM Sans"/>
              </a:rPr>
              <a:t>Fakes work because of feelings — not because you cannot read.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8942E"/>
                </a:solidFill>
                <a:latin typeface="DM Sans"/>
              </a:rPr>
              <a:t>Learn the four levers.  Say them out loud.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8942E"/>
                </a:solidFill>
                <a:latin typeface="DM Sans"/>
              </a:rPr>
              <a:t>50+TechBridge · Lesson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942E"/>
                </a:solidFill>
                <a:latin typeface="DM Sans"/>
              </a:rPr>
              <a:t>SKILL 2  ·  THE 4 LEVERS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5394960" cy="23774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942E"/>
                </a:solidFill>
                <a:latin typeface="DM Sans"/>
              </a:rPr>
              <a:t>HURRY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DM Sans"/>
              </a:rPr>
              <a:t>20 minutes. A warrant. The refund expires.
If you are not allowed to think, you are not in a real official process.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960120"/>
            <a:ext cx="5394960" cy="23774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942E"/>
                </a:solidFill>
                <a:latin typeface="DM Sans"/>
              </a:rPr>
              <a:t>FEAR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DM Sans"/>
              </a:rPr>
              <a:t>Arrest. Deportation. A virus. A stolen identity they will help you fix.
Fear makes smart people obedient.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5394960" cy="23774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942E"/>
                </a:solidFill>
                <a:latin typeface="DM Sans"/>
              </a:rPr>
              <a:t>SECRECY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DM Sans"/>
              </a:rPr>
              <a:t>"Don't tell your wife. She would worry. Don't tell the bank teller."
A real emergency can stand a second adult.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566160"/>
            <a:ext cx="5394960" cy="23774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7033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942E"/>
                </a:solidFill>
                <a:latin typeface="DM Sans"/>
              </a:rPr>
              <a:t>AUTHORITY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2062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DM Sans"/>
              </a:rPr>
              <a:t>A badge number. A case number. A familiar logo.
Caller ID can be faked. The badge can be faked.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8942E"/>
                </a:solidFill>
                <a:latin typeface="DM Sans"/>
              </a:rPr>
              <a:t>50+TechBridge · Lesson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942E"/>
                </a:solidFill>
                <a:latin typeface="DM Sans"/>
              </a:rPr>
              <a:t>SKILL 2  ·  THE FIFTH LEVER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47120" cy="128016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E1C2F"/>
                </a:solidFill>
                <a:latin typeface="DM Sans"/>
              </a:rPr>
              <a:t>NEVER move money to protect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6E0"/>
                </a:solidFill>
                <a:latin typeface="DM Sans"/>
              </a:rPr>
              <a:t>Danger payment methods — if you hear any of these, stop and hang up: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  <a:latin typeface="DM Sans"/>
              </a:rPr>
              <a:t>✕  Gift cards (Walmart, Amazon, Google Play)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  <a:latin typeface="DM Sans"/>
              </a:rPr>
              <a:t>✕  Wire transfers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  <a:latin typeface="DM Sans"/>
              </a:rPr>
              <a:t>✕  Crypto / Bitcoin ATM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  <a:latin typeface="DM Sans"/>
              </a:rPr>
              <a:t>✕  A courier at your door collecting cash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  <a:latin typeface="DM Sans"/>
              </a:rPr>
              <a:t>✕  Remote access to your computer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solidFill>
            <a:srgbClr val="07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C8942E"/>
                </a:solidFill>
                <a:latin typeface="DM Sans"/>
              </a:rPr>
              <a:t>No legitimate tax office, bank, or grandchild-in-trouble story needs a Walmart gift card.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8942E"/>
                </a:solidFill>
                <a:latin typeface="DM Sans"/>
              </a:rPr>
              <a:t>50+TechBridge · Lesson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942E"/>
                </a:solidFill>
                <a:latin typeface="DM Sans"/>
              </a:rPr>
              <a:t>SKILL 2  ·  THE NEW COSTUME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A voice you love — cloned by 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36576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6E0"/>
                </a:solidFill>
                <a:latin typeface="DM Sans"/>
              </a:rPr>
              <a:t>AI-enabled scams (realistic voices and video) jumped ~20× from 2023 to 2025.
A familiar voice is no longer proof.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11247120" cy="23774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942E"/>
                </a:solidFill>
                <a:latin typeface="DM Sans"/>
              </a:rPr>
              <a:t>A 20th-century fix for a 21st-century trick: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M Sans"/>
              </a:rPr>
              <a:t>Pick a family code word.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6E0"/>
                </a:solidFill>
                <a:latin typeface="DM Sans"/>
              </a:rPr>
              <a:t>Known only to your people. Used when money or panic shows up.
A word you would never post on Facebook. Share it this week.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949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DM Sans"/>
              </a:rPr>
              <a:t>If a panicked voice asks for bail, tickets, or a gift card and cannot give the word — hang 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8942E"/>
                </a:solidFill>
                <a:latin typeface="DM Sans"/>
              </a:rPr>
              <a:t>50+TechBridge · Lesson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8942E"/>
                </a:solidFill>
                <a:latin typeface="DM Sans"/>
              </a:rPr>
              <a:t>SKILL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DM Sans"/>
              </a:rPr>
              <a:t>Passwords &amp;
the Second Lock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49039"/>
            <a:ext cx="11091672" cy="36576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CD6E0"/>
                </a:solidFill>
                <a:latin typeface="DM Sans"/>
              </a:rPr>
              <a:t>A password is a key.  Most people have one key and twenty doors.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8942E"/>
                </a:solidFill>
                <a:latin typeface="DM Sans"/>
              </a:rPr>
              <a:t>50+TechBridge · Lesson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942E"/>
                </a:solidFill>
                <a:latin typeface="DM Sans"/>
              </a:rPr>
              <a:t>SKILL 3  ·  BETTER PASSWORDS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M Sans"/>
              </a:rPr>
              <a:t>NIST (the people who write the grown-up rules) changed the advice.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1091672" cy="36576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247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  <a:latin typeface="DM Sans"/>
              </a:rPr>
              <a:t>→  LONGER is better — aim for 15 or more characters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  <a:latin typeface="DM Sans"/>
              </a:rPr>
              <a:t>→  A PHRASE beats a scrambled string:  maple-porch-radio-Thursday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  <a:latin typeface="DM Sans"/>
              </a:rPr>
              <a:t>→  You do NOT have to change it every 90 days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  <a:latin typeface="DM Sans"/>
              </a:rPr>
              <a:t>→  UNIQUE matters — email password cannot match bank password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  <a:latin typeface="DM Sans"/>
              </a:rPr>
              <a:t>→  Email is the skeleton key — if they get email, they reset everything else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29200"/>
            <a:ext cx="11247120" cy="155448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8942E"/>
                </a:solidFill>
                <a:latin typeface="DM Sans"/>
              </a:rPr>
              <a:t>Can't remember 20 phrases?  Two honest options: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DM Sans"/>
              </a:rPr>
              <a:t>1.  A password manager (vault app) — get help setting it up once.
2.  A small notebook in a drawer or lockbox at home. Not shameful. Better than one reused password.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8942E"/>
                </a:solidFill>
                <a:latin typeface="DM Sans"/>
              </a:rPr>
              <a:t>50+TechBridge · Lesson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942E"/>
                </a:solidFill>
                <a:latin typeface="DM Sans"/>
              </a:rPr>
              <a:t>SKILL 3  ·  THE SECOND 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DM Sans"/>
              </a:rPr>
              <a:t>Two-Factor Authentication (2FA)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6E0"/>
                </a:solidFill>
                <a:latin typeface="DM Sans"/>
              </a:rPr>
              <a:t>Password  +  something you have.  A thief with only the password should bounce.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1091672" cy="36576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  <a:latin typeface="DM Sans"/>
              </a:rPr>
              <a:t>→  Turn it on for EMAIL first — then your bank or credit union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  <a:latin typeface="DM Sans"/>
              </a:rPr>
              <a:t>→  Where to find it:  Settings → Security → Two-factor / 2-step / Multifactor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  <a:latin typeface="DM Sans"/>
              </a:rPr>
              <a:t>→  Any second factor is better than none  (CISA's own words)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  <a:latin typeface="DM Sans"/>
              </a:rPr>
              <a:t>→  An authenticator app or passkey is stronger than a text code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  <a:latin typeface="DM Sans"/>
              </a:rPr>
              <a:t>→  Text codes can be stolen — but still: turn it 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577840"/>
            <a:ext cx="11247120" cy="100584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6235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E1C2F"/>
                </a:solidFill>
                <a:latin typeface="DM Sans"/>
              </a:rPr>
              <a:t>NEVER read a code to anyone — not even someone who says they are the bank.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8942E"/>
                </a:solidFill>
                <a:latin typeface="DM Sans"/>
              </a:rPr>
              <a:t>50+TechBridge · Lesson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942E"/>
                </a:solidFill>
                <a:latin typeface="DM Sans"/>
              </a:rPr>
              <a:t>IF IT ALREADY HAPPENED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This is not a moral failure.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6E0"/>
                </a:solidFill>
                <a:latin typeface="DM Sans"/>
              </a:rPr>
              <a:t>Professionals ran a play on a human nervous system. You are still a competent person.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1091672" cy="36576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DM Sans"/>
              </a:rPr>
              <a:t>→  STOP sending money immediately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DM Sans"/>
              </a:rPr>
              <a:t>→  Call the bank — number on the back of your card — say wire / gift card / crypto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DM Sans"/>
              </a:rPr>
              <a:t>→  Change your email password and turn on 2FA right now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DM Sans"/>
              </a:rPr>
              <a:t>→  Report at  reportfraud.ftc.gov  and  ic3.gov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DM Sans"/>
              </a:rPr>
              <a:t>→  Tell one trusted person — speed matters, silence guarantees no recovery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DM Sans"/>
              </a:rPr>
              <a:t>→  If you gave a code or password — change it from a device you trust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DM Sans"/>
              </a:rPr>
              <a:t>→  Identity theft steps:  identitytheft.gov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8942E"/>
                </a:solidFill>
                <a:latin typeface="DM Sans"/>
              </a:rPr>
              <a:t>50+TechBridge · Lesson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942E"/>
                </a:solidFill>
                <a:latin typeface="DM Sans"/>
              </a:rPr>
              <a:t>YOUR HOMEWORK  ·  20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M Sans"/>
              </a:rPr>
              <a:t>Five things.  Do them this week.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91672" cy="36576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02920" cy="50292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282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E1C2F"/>
                </a:solidFill>
                <a:latin typeface="DM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DM Sans"/>
              </a:rPr>
              <a:t>Put the hang-up rule on the fridge: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9397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942E"/>
                </a:solidFill>
                <a:latin typeface="DM Sans"/>
              </a:rPr>
              <a:t>Unexpected + hurry + money or a code  =  hang up and verify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502920" cy="50292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9689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E1C2F"/>
                </a:solidFill>
                <a:latin typeface="DM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60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DM Sans"/>
              </a:rPr>
              <a:t>Send the family code word to the people who matter.  Not posted online.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18688"/>
            <a:ext cx="502920" cy="50292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5526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E1C2F"/>
                </a:solidFill>
                <a:latin typeface="DM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186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DM Sans"/>
              </a:rPr>
              <a:t>Turn on email two-factor authentication.  Then the bank.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77056"/>
            <a:ext cx="502920" cy="50292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136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E1C2F"/>
                </a:solidFill>
                <a:latin typeface="DM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7705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DM Sans"/>
              </a:rPr>
              <a:t>Set one unique long passphrase for email if it matches other sites.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35424"/>
            <a:ext cx="502920" cy="50292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E1C2F"/>
                </a:solidFill>
                <a:latin typeface="DM San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3542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DM Sans"/>
              </a:rPr>
              <a:t>If a scam already happened — file both reports today.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8942E"/>
                </a:solidFill>
                <a:latin typeface="DM Sans"/>
              </a:rPr>
              <a:t>50+TechBridge · Lesson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4846320"/>
            <a:ext cx="12191695" cy="2011680"/>
          </a:xfrm>
          <a:prstGeom prst="rect">
            <a:avLst/>
          </a:prstGeom>
          <a:solidFill>
            <a:srgbClr val="07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D6E0"/>
                </a:solidFill>
                <a:latin typeface="DM Sans"/>
              </a:rPr>
              <a:t>You now have the three-lesson arc we promised.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DM Sans"/>
              </a:rPr>
              <a:t>You can spot a costume.
You can name the pressure.
You can lock the door.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840480"/>
            <a:ext cx="11091672" cy="36576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977639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C8942E"/>
                </a:solidFill>
                <a:latin typeface="DM Sans"/>
              </a:rPr>
              <a:t>Hang up.  Look up.  Call 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3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  <a:latin typeface="DM Sans"/>
              </a:rPr>
              <a:t>Brian McKinney  ·  50+TechBridge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DM Sans"/>
              </a:rPr>
              <a:t>Free lessons:  learnmoretechnologies.com/start-free-lessons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DM Sans"/>
              </a:rPr>
              <a:t>Report a scam:  reportfraud.ftc.gov  ·  ic3.gov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8942E"/>
                </a:solidFill>
                <a:latin typeface="DM Sans"/>
              </a:rPr>
              <a:t>50+TechBridge · Lesson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