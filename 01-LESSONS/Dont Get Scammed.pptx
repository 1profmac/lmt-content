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8942E"/>
                </a:solidFill>
                <a:latin typeface="Calibri"/>
              </a:rPr>
              <a:t>LESSON 3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183112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Don't Get Scammed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118311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0" i="0">
                <a:solidFill>
                  <a:srgbClr val="C8942E"/>
                </a:solidFill>
                <a:latin typeface="Calibri"/>
              </a:rPr>
              <a:t>Three skills that keep you in 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 i="1">
                <a:solidFill>
                  <a:srgbClr val="C8CDD6"/>
                </a:solidFill>
                <a:latin typeface="Calibri"/>
              </a:rPr>
              <a:t>Frightened people send money.  Clear people hang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94960"/>
            <a:ext cx="111831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9AA3B0"/>
                </a:solidFill>
                <a:latin typeface="Calibri"/>
              </a:rPr>
              <a:t>Brian McKinney  ·  50+TechBridge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You already did the brave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800" b="0" i="0">
                <a:solidFill>
                  <a:srgbClr val="FFFFFF"/>
                </a:solidFill>
                <a:latin typeface="Calibri"/>
              </a:rPr>
              <a:t>You asked a machine a real question</a:t>
            </a:r>
          </a:p>
          <a:p>
            <a:pPr algn="l">
              <a:spcBef>
                <a:spcPts val="600"/>
              </a:spcBef>
            </a:pPr>
            <a:r>
              <a:rPr sz="2800" b="0" i="0">
                <a:solidFill>
                  <a:srgbClr val="FFFFFF"/>
                </a:solidFill>
                <a:latin typeface="Calibri"/>
              </a:rPr>
              <a:t>and stayed in charge of the answer.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600" b="0" i="0">
                <a:solidFill>
                  <a:srgbClr val="C8CDD6"/>
                </a:solidFill>
                <a:latin typeface="Calibri"/>
              </a:rPr>
              <a:t>This lesson is how you stay in charge</a:t>
            </a:r>
          </a:p>
          <a:p>
            <a:pPr algn="l">
              <a:spcBef>
                <a:spcPts val="600"/>
              </a:spcBef>
            </a:pPr>
            <a:r>
              <a:rPr sz="2600" b="0" i="0">
                <a:solidFill>
                  <a:srgbClr val="C8CDD6"/>
                </a:solidFill>
                <a:latin typeface="Calibri"/>
              </a:rPr>
              <a:t>when a stranger wants your fear.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600" b="1" i="0">
                <a:solidFill>
                  <a:srgbClr val="C8942E"/>
                </a:solidFill>
                <a:latin typeface="Calibri"/>
              </a:rPr>
              <a:t>We will not treat you like a child.</a:t>
            </a:r>
          </a:p>
          <a:p>
            <a:pPr algn="l">
              <a:spcBef>
                <a:spcPts val="6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We will treat you like someone who already has judgment —</a:t>
            </a:r>
          </a:p>
          <a:p>
            <a:pPr algn="l">
              <a:spcBef>
                <a:spcPts val="600"/>
              </a:spcBef>
            </a:pPr>
            <a:r>
              <a:rPr sz="2400" b="0" i="0">
                <a:solidFill>
                  <a:srgbClr val="FFFFFF"/>
                </a:solidFill>
                <a:latin typeface="Calibri"/>
              </a:rPr>
              <a:t>and who is being hunted by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Three skills. That is the whole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C894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Spot a Fake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Look at the costume,
not the logo.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C8942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Name the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Hurry. Fear.
Secrecy. Authority.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78308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C8942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Lock the Door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2044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A long passphrase
and a second 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You are not the punchline.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FTC  ·  adults 60+</a:t>
            </a:r>
          </a:p>
          <a:p>
            <a:pPr algn="ctr">
              <a:spcBef>
                <a:spcPts val="40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$2.4 billion</a:t>
            </a:r>
          </a:p>
          <a:p>
            <a:pPr algn="ctr">
              <a:spcBef>
                <a:spcPts val="400"/>
              </a:spcBef>
            </a:pPr>
            <a:r>
              <a:rPr sz="2000" b="0" i="0">
                <a:solidFill>
                  <a:srgbClr val="C8CDD6"/>
                </a:solidFill>
                <a:latin typeface="Calibri"/>
              </a:rPr>
              <a:t>reported lost to fraud in 2024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9AA3B0"/>
                </a:solidFill>
                <a:latin typeface="Calibri"/>
              </a:rPr>
              <a:t>about 4× what they reported in 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FBI  ·  internet crime center</a:t>
            </a:r>
          </a:p>
          <a:p>
            <a:pPr algn="ctr">
              <a:spcBef>
                <a:spcPts val="4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Nearly $5 billion</a:t>
            </a:r>
          </a:p>
          <a:p>
            <a:pPr algn="ctr">
              <a:spcBef>
                <a:spcPts val="400"/>
              </a:spcBef>
            </a:pPr>
            <a:r>
              <a:rPr sz="2000" b="0" i="0">
                <a:solidFill>
                  <a:srgbClr val="C8CDD6"/>
                </a:solidFill>
                <a:latin typeface="Calibri"/>
              </a:rPr>
              <a:t>lost by people over 60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9AA3B0"/>
                </a:solidFill>
                <a:latin typeface="Calibri"/>
              </a:rPr>
              <a:t>most complaints of any age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Those numbers are real. They are ugly.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C8942E"/>
                </a:solidFill>
                <a:latin typeface="Calibri"/>
              </a:rPr>
              <a:t>They are not a verdict on your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9AA3B0"/>
                </a:solidFill>
                <a:latin typeface="Calibri"/>
              </a:rPr>
              <a:t>Do not mix FTC and FBI totals. Different stacks of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The line almost nobody reads out 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 i="0">
                <a:solidFill>
                  <a:srgbClr val="4CB88A"/>
                </a:solidFill>
                <a:latin typeface="Calibri"/>
              </a:rPr>
              <a:t>About 3 in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older adults who reported a scam to the FTC lost no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C8942E"/>
                </a:solidFill>
                <a:latin typeface="Calibri"/>
              </a:rPr>
              <a:t>They spotted it. They saw it. They did not pay.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The dollars exploded because a smaller number of scams now take
life-changing amounts — $100,000 or more — through fake investments,
fake banks, fake government, and fake tech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Phone still takes the most money per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E85D4C"/>
                </a:solidFill>
                <a:latin typeface="Calibri"/>
              </a:rPr>
              <a:t>THE CALL</a:t>
            </a:r>
          </a:p>
          <a:p>
            <a:pPr algn="ctr">
              <a:spcBef>
                <a:spcPts val="4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About $2,200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median loss on a phone-started
fraud for older adults (FTC)</a:t>
            </a:r>
          </a:p>
          <a:p>
            <a:pPr algn="ctr">
              <a:spcBef>
                <a:spcPts val="4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If you are 80 and the phone rings,
that call is still the dangerous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THE FEED</a:t>
            </a:r>
          </a:p>
          <a:p>
            <a:pPr algn="ctr">
              <a:spcBef>
                <a:spcPts val="4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$2.1 billion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in fraud losses started on
social media (FTC 2025)</a:t>
            </a:r>
          </a:p>
          <a:p>
            <a:pPr algn="ctr">
              <a:spcBef>
                <a:spcPts val="4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Facebook beat text and email
as the starting point for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Social media starts more of the volume. The phone still takes the most per person.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SKILL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8311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Spot a Fake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1">
                <a:solidFill>
                  <a:srgbClr val="C8CDD6"/>
                </a:solidFill>
                <a:latin typeface="Calibri"/>
              </a:rPr>
              <a:t>A fake wants you to believe the costume.
Look at the costume, not the logo.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Four red flags to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2651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8942E"/>
                </a:solidFill>
                <a:latin typeface="Calibri"/>
              </a:rPr>
              <a:t>THE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57400"/>
            <a:ext cx="2578608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Would Amazon write from
email-secure-alert.com?
Hover or tap. Do not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508760"/>
            <a:ext cx="2651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8942E"/>
                </a:solidFill>
                <a:latin typeface="Calibri"/>
              </a:rPr>
              <a:t>THE GREETING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057400"/>
            <a:ext cx="2578608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“Dear Customer” from a bank
that knows your name
is a tell. Often.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08760"/>
            <a:ext cx="2651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8942E"/>
                </a:solidFill>
                <a:latin typeface="Calibri"/>
              </a:rP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57400"/>
            <a:ext cx="2578608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 link to verify. A QR code
you did not ask for. A code
that just arrived on your 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508760"/>
            <a:ext cx="2651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8942E"/>
                </a:solidFill>
                <a:latin typeface="Calibri"/>
              </a:rPr>
              <a:t>THE SURPRISE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057400"/>
            <a:ext cx="2578608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You did not start this
conversation. That matters
more than the grammar.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E85D4C"/>
                </a:solidFill>
                <a:latin typeface="Calibri"/>
              </a:rPr>
              <a:t>Warning: “No typos” is no longer your safety test. AI fixed the spelling. That test is dead.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What real agencies actually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C8942E"/>
                </a:solidFill>
                <a:latin typeface="Calibri"/>
              </a:rPr>
              <a:t>Social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72768"/>
            <a:ext cx="7680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does not suspend your number because you missed a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C8942E"/>
                </a:solidFill>
                <a:latin typeface="Calibri"/>
              </a:rPr>
              <a:t>The 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24328"/>
            <a:ext cx="7680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does not demand gift cards.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7472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C8942E"/>
                </a:solidFill>
                <a:latin typeface="Calibri"/>
              </a:rPr>
              <a:t>The FTC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75888"/>
            <a:ext cx="7680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will never threaten you, tell you to move money, or send you to a Bitcoin ATM.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C8CDD6"/>
                </a:solidFill>
                <a:latin typeface="Calibri"/>
              </a:rPr>
              <a:t>Bank  ·  Medicare  ·  Amazon  ·  Microsoft  ·  Apple  ·  Sheriff  ·  Grandchild  ·  Tech support that called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C8942E"/>
                </a:solidFill>
                <a:latin typeface="Calibri"/>
              </a:rPr>
              <a:t>Treat every one as a costume until YOU started the call on a number you already had.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How to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C894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86000"/>
            <a:ext cx="329184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8942E"/>
                </a:solidFill>
                <a:latin typeface="Calibri"/>
              </a:rPr>
              <a:t>HANG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C8942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86000"/>
            <a:ext cx="329184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Look up the number on a statement,
the back of the card, or the official
website you type yourself.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611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C894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329184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8942E"/>
                </a:solidFill>
                <a:latin typeface="Calibri"/>
              </a:rPr>
              <a:t>CALL THAT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85D4C"/>
                </a:solidFill>
                <a:latin typeface="Calibri"/>
              </a:rPr>
              <a:t>Never call the number in the text. That number is the costume’s sleeve.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20640"/>
            <a:ext cx="111831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1">
                <a:solidFill>
                  <a:srgbClr val="C8CDD6"/>
                </a:solidFill>
                <a:latin typeface="Calibri"/>
              </a:rPr>
              <a:t>This is the Federal Trade Commission’s advice. Hang up. Look up. Call 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The newest costume is your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FTC 2025</a:t>
            </a:r>
          </a:p>
          <a:p>
            <a:pPr algn="ctr">
              <a:spcBef>
                <a:spcPts val="4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$2.1 billion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lost — started on social media</a:t>
            </a:r>
          </a:p>
          <a:p>
            <a:pPr algn="ctr">
              <a:spcBef>
                <a:spcPts val="400"/>
              </a:spcBef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Facebook beat text and email
as the starting point for fraud volume.</a:t>
            </a:r>
          </a:p>
          <a:p>
            <a:pPr algn="ctr">
              <a:spcBef>
                <a:spcPts val="400"/>
              </a:spcBef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I am not telling you to close your accounts.
I am telling you the costume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Before you click anything in your feed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Who started this contact?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Does this store or person have a real history?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Is there urgency or a prize?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C8CDD6"/>
                </a:solidFill>
                <a:latin typeface="Calibri"/>
              </a:rPr>
              <a:t>Fake ads. Fake profiles. Taken-over DMs.
Fake giveaways.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Type the real site yourself.
Call the number you already have.
Do not click the link in the post.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SKILL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8311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Name the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1">
                <a:solidFill>
                  <a:srgbClr val="C8CDD6"/>
                </a:solidFill>
                <a:latin typeface="Calibri"/>
              </a:rPr>
              <a:t>Fakes work because of feelings, not because you cannot read.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The four levers. Say them out 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85D4C"/>
                </a:solidFill>
                <a:latin typeface="Calibri"/>
              </a:rPr>
              <a:t>HURRY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194560"/>
            <a:ext cx="2542032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Twenty minutes. A warrant.
The refund expires.
If you are not allowed to think,
you are not in a real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5544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85D4C"/>
                </a:solidFill>
                <a:latin typeface="Calibri"/>
              </a:rPr>
              <a:t>FEAR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194560"/>
            <a:ext cx="2542032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Arrest. Deportation. A virus.
A stolen identity they will “fix.”
Fear makes smart people obedient.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544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85D4C"/>
                </a:solidFill>
                <a:latin typeface="Calibri"/>
              </a:rPr>
              <a:t>SECRECY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194560"/>
            <a:ext cx="2542032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Don’t tell your wife.
She would worry.
Isolation is the scam.
A real emergency can stand a second adult.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37160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5544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85D4C"/>
                </a:solidFill>
                <a:latin typeface="Calibri"/>
              </a:rPr>
              <a:t>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194560"/>
            <a:ext cx="2542032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 badge. A case number.
Caller ID that says IRS.
Caller ID is a costume.
They can fake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The fifth lever. Memorize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E85D4C"/>
                </a:solidFill>
                <a:latin typeface="Calibri"/>
              </a:rPr>
              <a:t>Never move money to protect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Someone says your account is compromised. To keep the money “safe,”
you must wire it, buy gold, feed a crypto ATM, or hand cash to a courier.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That money is not going into a vault with your name on it. It is going to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49039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402336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Gift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3749039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402336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Wire transfers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8" y="3749039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402336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Crypto / Bitcoin ATM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4071" y="3749039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5" y="402336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Courier at the door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74936" y="3749039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402336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Remote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11183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C8942E"/>
                </a:solidFill>
                <a:latin typeface="Calibri"/>
              </a:rPr>
              <a:t>No legitimate tax office, bank, or grandchild-in-trouble story needs a Walmart gift card.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If you did not call them, they do not get to drive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83112" cy="20116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TECH SUPPORT</a:t>
            </a:r>
          </a:p>
          <a:p>
            <a:pPr algn="l">
              <a:spcBef>
                <a:spcPts val="400"/>
              </a:spcBef>
            </a:pPr>
            <a:r>
              <a:rPr sz="2200" b="0" i="0">
                <a:solidFill>
                  <a:srgbClr val="FFFFFF"/>
                </a:solidFill>
                <a:latin typeface="Calibri"/>
              </a:rPr>
              <a:t>A pop-up says your computer is infected. A polite person offers to take over the screen.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Older adults are five times more likely than younger adults to report losing money on that scam (FTC).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66160"/>
            <a:ext cx="11183112" cy="1965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AARP still sees more impostors posing as companies and agencies than as family.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C8CDD6"/>
                </a:solidFill>
                <a:latin typeface="Calibri"/>
              </a:rPr>
              <a:t>Do not only guard the grandchild story. Guard the Amazon + bank + sheriff pile-up too.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They will transfer you from one costume to the next in a single call.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The new costume — a voice you love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E85D4C"/>
                </a:solidFill>
                <a:latin typeface="Calibri"/>
              </a:rPr>
              <a:t>A familiar voice is no longer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C8CDD6"/>
                </a:solidFill>
                <a:latin typeface="Calibri"/>
              </a:rPr>
              <a:t>AARP: 8 or 9 in 10 adults 50+ worry about cloned voices.
AI-flagged scams jumped about 20× from 2023 to 2025.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017520"/>
            <a:ext cx="9601200" cy="24688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4CB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21st-century trick.  20th-century fix.</a:t>
            </a:r>
          </a:p>
          <a:p>
            <a:pPr algn="ctr">
              <a:spcBef>
                <a:spcPts val="400"/>
              </a:spcBef>
            </a:pPr>
            <a:r>
              <a:rPr sz="3200" b="1" i="0">
                <a:solidFill>
                  <a:srgbClr val="4CB88A"/>
                </a:solidFill>
                <a:latin typeface="Calibri"/>
              </a:rPr>
              <a:t>Pick a family code word.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Known only to your people. Used when money or panic shows up.</a:t>
            </a:r>
          </a:p>
          <a:p>
            <a:pPr algn="ctr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If they don’t know it — hang up. Then call the number in your phone.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SKILL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831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Passwords &amp; the Second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1">
                <a:solidFill>
                  <a:srgbClr val="C8CDD6"/>
                </a:solidFill>
                <a:latin typeface="Calibri"/>
              </a:rPr>
              <a:t>A password is a key. Most people have one key and twenty doors.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NIST’s updated password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8942E"/>
                </a:solidFill>
                <a:latin typeface="Calibri"/>
              </a:rPr>
              <a:t>LONGER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Aim for 15 or more characters.
A phrase beats a scrambled string.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7160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554480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8942E"/>
                </a:solidFill>
                <a:latin typeface="Calibri"/>
              </a:rPr>
              <a:t>KINDER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05740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maple-porch-radio-Thursday
is stronger than P@ssw0rd!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8942E"/>
                </a:solidFill>
                <a:latin typeface="Calibri"/>
              </a:rPr>
              <a:t>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Email cannot match the bank.
Email is the skeleton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2044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703320"/>
            <a:ext cx="5120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8942E"/>
                </a:solidFill>
                <a:latin typeface="Calibri"/>
              </a:rPr>
              <a:t>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20624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You do not have to change it
every 90 days.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If you cannot remember twenty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OPTION 1</a:t>
            </a:r>
          </a:p>
          <a:p>
            <a:pPr algn="ctr">
              <a:spcBef>
                <a:spcPts val="40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password manager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A vault app — if you have someone
who can sit with you once to set it up.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Protect that vault with a long phrase
and a second 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17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OPTION 2</a:t>
            </a:r>
          </a:p>
          <a:p>
            <a:pPr algn="ctr">
              <a:spcBef>
                <a:spcPts val="40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small notebook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In a drawer or a lockbox at home.
Not a sticky note on the monitor.
Not a photo in an unlocked camera roll.</a:t>
            </a:r>
          </a:p>
          <a:p>
            <a:pPr algn="ctr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A hidden notebook beats one reused
password on the internet.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Turn on the second lock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4CB88A"/>
                </a:solidFill>
                <a:latin typeface="Calibri"/>
              </a:rPr>
              <a:t>Two-factor authentication  =  password  +  something you have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WHERE</a:t>
            </a:r>
          </a:p>
          <a:p>
            <a:pPr algn="ctr">
              <a:spcBef>
                <a:spcPts val="40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Settings  →  Security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Look for Two-factor,
2-step verification, or Multifactor.</a:t>
            </a:r>
          </a:p>
          <a:p>
            <a:pPr algn="ctr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The words change. The idea does not.</a:t>
            </a:r>
          </a:p>
          <a:p>
            <a:pPr algn="ctr">
              <a:spcBef>
                <a:spcPts val="400"/>
              </a:spcBef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2200" b="1" i="0">
                <a:solidFill>
                  <a:srgbClr val="4CB88A"/>
                </a:solidFill>
                <a:latin typeface="Calibri"/>
              </a:rPr>
              <a:t>Email first. Then the 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spcBef>
                <a:spcPts val="400"/>
              </a:spcBef>
            </a:pPr>
            <a:r>
              <a:rPr sz="1600" b="1" i="0">
                <a:solidFill>
                  <a:srgbClr val="C8942E"/>
                </a:solidFill>
                <a:latin typeface="Calibri"/>
              </a:rPr>
              <a:t>HOW STRONG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CISA: any second factor
is better than none.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C8CDD6"/>
                </a:solidFill>
                <a:latin typeface="Calibri"/>
              </a:rPr>
              <a:t>An authenticator app or a passkey
is stronger than a text message.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Text messages can be stolen.</a:t>
            </a:r>
          </a:p>
          <a:p>
            <a:pPr algn="ctr">
              <a:spcBef>
                <a:spcPts val="400"/>
              </a:spcBef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800" b="1" i="0">
                <a:solidFill>
                  <a:srgbClr val="C8942E"/>
                </a:solidFill>
                <a:latin typeface="Calibri"/>
              </a:rPr>
              <a:t>Perfect is the enemy of a locked door.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Never read a code to anyone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The code that just arrived is a second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94560"/>
            <a:ext cx="9784080" cy="228600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8100">
            <a:solidFill>
              <a:srgbClr val="E85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94183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Anyone who calls or texts and asks you to read it
is a scammer — even if they already know your name,
even if they say they are the bank.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C8942E"/>
                </a:solidFill>
                <a:latin typeface="Calibri"/>
              </a:rPr>
              <a:t>You type the code into the site YOU opened. You never speak it to a stranger.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If it already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1">
                <a:solidFill>
                  <a:srgbClr val="4CB88A"/>
                </a:solidFill>
                <a:latin typeface="Calibri"/>
              </a:rPr>
              <a:t>This is not a moral failure. You are still a competent person.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40080" cy="566928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640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56232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Stop sending money.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96312"/>
            <a:ext cx="640080" cy="566928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640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69464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Call the bank — the number on the card. Say wire, gift card, or crypto ATM.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9544"/>
            <a:ext cx="640080" cy="566928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640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82696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Change your email password and turn on two-factor.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22776"/>
            <a:ext cx="640080" cy="566928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68496"/>
            <a:ext cx="640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95928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Report it: ReportFraud.ftc.gov  and  ic3.gov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36008"/>
            <a:ext cx="640080" cy="566928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81728"/>
            <a:ext cx="6400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09160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Tell one trusted person.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1118311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9AA3B0"/>
                </a:solidFill>
                <a:latin typeface="Calibri"/>
              </a:rPr>
              <a:t>Speed matters. Recovery is not a promise. Silence is a guarantee of no chance.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8942E"/>
                </a:solidFill>
                <a:latin typeface="Calibri"/>
              </a:rPr>
              <a:t>Your homework — twenty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53312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Put the hang-up rule on the fridge.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0552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Send the family code word to the people who matter. Not posted online.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640080" cy="594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59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07791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Turn on email two-factor. Then the bank.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79"/>
            <a:ext cx="640080" cy="594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599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85031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Set one unique long phrase for email if it still matches other sites.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640080" cy="59436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1905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8942E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62272"/>
            <a:ext cx="9875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If a scam already happened — file both reports today.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11183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1">
                <a:solidFill>
                  <a:srgbClr val="C8942E"/>
                </a:solidFill>
                <a:latin typeface="Calibri"/>
              </a:rPr>
              <a:t>If you do nothing else: the fridge line and the code word.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50+TechBridge  ·  Brian McKinney  ·  Lesson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31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C8942E"/>
                </a:solidFill>
                <a:latin typeface="Calibri"/>
              </a:rPr>
              <a:t>THE FRIDGE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10515600" cy="329184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381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0149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UNEXPECTED  +  HURRY  +  MONEY OR A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10149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C8942E"/>
                </a:solidFill>
                <a:latin typeface="Calibri"/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0149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C8942E"/>
                </a:solidFill>
                <a:latin typeface="Calibri"/>
              </a:rPr>
              <a:t>HANG UP AND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40680"/>
            <a:ext cx="111831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 i="1">
                <a:solidFill>
                  <a:srgbClr val="C8CDD6"/>
                </a:solidFill>
                <a:latin typeface="Calibri"/>
              </a:rPr>
              <a:t>Hang up.  Look up.  Call back.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8942E"/>
                </a:solidFill>
                <a:latin typeface="Calibri"/>
              </a:rPr>
              <a:t>DIGITAL PIONEER  |  LESSON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3112" cy="44450"/>
          </a:xfrm>
          <a:prstGeom prst="rect">
            <a:avLst/>
          </a:prstGeom>
          <a:solidFill>
            <a:srgbClr val="C89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3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C8942E"/>
                </a:solidFill>
                <a:latin typeface="Calibri"/>
              </a:rPr>
              <a:t>The series is free. Nobody here will ask you for a gift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83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8942E"/>
                </a:solidFill>
                <a:latin typeface="Calibri"/>
              </a:rPr>
              <a:t>LESSON 3  |  50+TECHBRIDGE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8311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Hang up. Look up. Call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118311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1">
                <a:solidFill>
                  <a:srgbClr val="C8CDD6"/>
                </a:solidFill>
                <a:latin typeface="Calibri"/>
              </a:rPr>
              <a:t>You can spot a costume. Name the pressure. Lock the door.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108960"/>
            <a:ext cx="9235440" cy="2240280"/>
          </a:xfrm>
          <a:prstGeom prst="roundRect">
            <a:avLst>
              <a:gd name="adj" fmla="val 8000"/>
            </a:avLst>
          </a:prstGeom>
          <a:solidFill>
            <a:srgbClr val="162C45"/>
          </a:solidFill>
          <a:ln w="25400">
            <a:solidFill>
              <a:srgbClr val="C89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246120"/>
            <a:ext cx="8869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C8942E"/>
                </a:solidFill>
                <a:latin typeface="Calibri"/>
              </a:rPr>
              <a:t>To report a scam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8869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ReportFraud.ftc.gov     ·     ic3.gov
833-FRAUD-11     ·     877-908-3360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663440"/>
            <a:ext cx="8869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C8CDD6"/>
                </a:solidFill>
                <a:latin typeface="Calibri"/>
              </a:rPr>
              <a:t>learnmoretechnologies.com/start-free-lesson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32120"/>
            <a:ext cx="111831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9AA3B0"/>
                </a:solidFill>
                <a:latin typeface="Calibri"/>
              </a:rPr>
              <a:t>I’m Brian McKinney.  I’ll see you in the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